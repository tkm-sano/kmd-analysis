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80" r:id="rId6"/>
    <p:sldId id="261" r:id="rId7"/>
    <p:sldId id="264" r:id="rId8"/>
    <p:sldId id="281" r:id="rId9"/>
    <p:sldId id="266" r:id="rId10"/>
    <p:sldId id="267" r:id="rId11"/>
    <p:sldId id="269" r:id="rId12"/>
    <p:sldId id="276" r:id="rId13"/>
    <p:sldId id="270" r:id="rId14"/>
    <p:sldId id="271" r:id="rId15"/>
    <p:sldId id="272" r:id="rId16"/>
    <p:sldId id="273" r:id="rId17"/>
    <p:sldId id="282" r:id="rId18"/>
    <p:sldId id="283" r:id="rId19"/>
    <p:sldId id="284" r:id="rId20"/>
    <p:sldId id="285" r:id="rId21"/>
    <p:sldId id="286" r:id="rId22"/>
    <p:sldId id="287" r:id="rId2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08"/>
    <p:restoredTop sz="94689"/>
  </p:normalViewPr>
  <p:slideViewPr>
    <p:cSldViewPr snapToGrid="0">
      <p:cViewPr varScale="1">
        <p:scale>
          <a:sx n="76" d="100"/>
          <a:sy n="76" d="100"/>
        </p:scale>
        <p:origin x="200" y="1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93718-CCF5-07E6-BDAD-913DFB17F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9FDEA-5D5A-2867-29A9-D4423512A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00F7F8-3EB6-9321-5997-28838E0A1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E0627-9372-2D4B-2D5C-8F96F169B7D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9864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1B569-3783-F175-1FC9-8C8A4EF5F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715A2-4EE2-FBD3-859D-299F25361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54AC77-11F5-233F-2F51-8FA2E63FB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831C3-AA2B-583D-3BEA-821588D0975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4978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5C4BD-3926-D7A1-B825-2B729726A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020389-2E87-DCB4-8C0C-C9B14A718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912FD-21E5-15B2-5D48-EBB850C85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9B0EE-0B50-A1BF-DB8C-40FF96BD719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86328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54480" y="2148840"/>
            <a:ext cx="91440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000" b="1" i="0">
                <a:solidFill>
                  <a:srgbClr val="333333"/>
                </a:solidFill>
                <a:latin typeface="Noto Sans JP"/>
              </a:rPr>
              <a:t>Toward Evaluating Problem Scale in Quantum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2542032"/>
            <a:ext cx="914400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000" b="0" i="1">
                <a:solidFill>
                  <a:srgbClr val="333333"/>
                </a:solidFill>
                <a:latin typeface="Noto Sans JP"/>
              </a:rPr>
              <a:t>Focusing on Operational Constraints in Transportation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3657600"/>
            <a:ext cx="338328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000" b="0" i="0" dirty="0">
                <a:solidFill>
                  <a:srgbClr val="333333"/>
                </a:solidFill>
                <a:latin typeface="Noto Sans JP"/>
              </a:rPr>
              <a:t>82535190 Takuma Sano</a:t>
            </a:r>
          </a:p>
        </p:txBody>
      </p:sp>
    </p:spTree>
    <p:extLst>
      <p:ext uri="{BB962C8B-B14F-4D97-AF65-F5344CB8AC3E}">
        <p14:creationId xmlns:p14="http://schemas.microsoft.com/office/powerpoint/2010/main" val="783185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200" b="1" i="0">
                <a:solidFill>
                  <a:srgbClr val="333333"/>
                </a:solidFill>
                <a:latin typeface="Noto Sans JP"/>
              </a:rPr>
              <a:t>Why Technical Performance Alone Is Not Enough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0972800" cy="32004"/>
          </a:xfrm>
          <a:prstGeom prst="rect">
            <a:avLst/>
          </a:prstGeom>
          <a:solidFill>
            <a:srgbClr val="007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50392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0" i="0">
                <a:solidFill>
                  <a:srgbClr val="333333"/>
                </a:solidFill>
                <a:latin typeface="Noto Sans JP"/>
              </a:rPr>
              <a:t>Evaluating quantum technologies for social implementation requires attention to technical capability, application conditions, and social decision context.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6592" y="1842516"/>
            <a:ext cx="3749039" cy="347472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Traditional View: Linear Progress</a:t>
            </a:r>
          </a:p>
        </p:txBody>
      </p:sp>
      <p:sp>
        <p:nvSpPr>
          <p:cNvPr id="6" name="Oval 5"/>
          <p:cNvSpPr/>
          <p:nvPr/>
        </p:nvSpPr>
        <p:spPr>
          <a:xfrm>
            <a:off x="1689512" y="2619756"/>
            <a:ext cx="502920" cy="502920"/>
          </a:xfrm>
          <a:prstGeom prst="ellipse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JP"/>
              </a:rPr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3289712" y="2619756"/>
            <a:ext cx="502920" cy="502920"/>
          </a:xfrm>
          <a:prstGeom prst="ellipse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JP"/>
              </a:rPr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4478432" y="2619756"/>
            <a:ext cx="502920" cy="502920"/>
          </a:xfrm>
          <a:prstGeom prst="ellipse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2283872" y="2766060"/>
            <a:ext cx="731520" cy="164592"/>
          </a:xfrm>
          <a:prstGeom prst="rightArrow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3865784" y="2766060"/>
            <a:ext cx="457200" cy="164592"/>
          </a:xfrm>
          <a:prstGeom prst="rightArrow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3752" y="3396996"/>
            <a:ext cx="338328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0" i="0" dirty="0">
                <a:solidFill>
                  <a:srgbClr val="4D4D4D"/>
                </a:solidFill>
                <a:latin typeface="Noto Sans JP"/>
              </a:rPr>
              <a:t>Technical progress is often represented as a simple transition from A to B.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557424" y="2724912"/>
            <a:ext cx="640080" cy="411480"/>
          </a:xfrm>
          <a:prstGeom prst="rightArrow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8492" y="3235322"/>
            <a:ext cx="1554480" cy="48628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1" i="0" dirty="0">
                <a:solidFill>
                  <a:srgbClr val="007E8F"/>
                </a:solidFill>
                <a:latin typeface="Noto Sans JP"/>
              </a:rPr>
              <a:t>Reframing</a:t>
            </a:r>
          </a:p>
          <a:p>
            <a:pPr algn="ctr"/>
            <a:r>
              <a:rPr sz="1400" b="1" i="0" dirty="0">
                <a:solidFill>
                  <a:srgbClr val="007E8F"/>
                </a:solidFill>
                <a:latin typeface="Noto Sans JP"/>
              </a:rPr>
              <a:t>the perspective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38381" y="1842516"/>
            <a:ext cx="4572000" cy="347472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Noto Sans JP"/>
              </a:rPr>
              <a:t>Emerging Perspective: Diffusive Growth</a:t>
            </a:r>
          </a:p>
        </p:txBody>
      </p:sp>
      <p:sp>
        <p:nvSpPr>
          <p:cNvPr id="15" name="Oval 14"/>
          <p:cNvSpPr/>
          <p:nvPr/>
        </p:nvSpPr>
        <p:spPr>
          <a:xfrm>
            <a:off x="6764432" y="2848356"/>
            <a:ext cx="502920" cy="502920"/>
          </a:xfrm>
          <a:prstGeom prst="ellipse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JP"/>
              </a:rPr>
              <a:t>A</a:t>
            </a:r>
          </a:p>
        </p:txBody>
      </p:sp>
      <p:sp>
        <p:nvSpPr>
          <p:cNvPr id="16" name="Oval 15"/>
          <p:cNvSpPr/>
          <p:nvPr/>
        </p:nvSpPr>
        <p:spPr>
          <a:xfrm>
            <a:off x="7907432" y="2756916"/>
            <a:ext cx="502920" cy="502920"/>
          </a:xfrm>
          <a:prstGeom prst="ellipse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01692" y="2523214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 i="0">
                <a:solidFill>
                  <a:srgbClr val="4D4D4D"/>
                </a:solidFill>
                <a:latin typeface="Noto Sans JP"/>
              </a:rPr>
              <a:t>First-order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7267352" y="3003804"/>
            <a:ext cx="640080" cy="91440"/>
          </a:xfrm>
          <a:prstGeom prst="line">
            <a:avLst/>
          </a:prstGeom>
          <a:ln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907432" y="3671316"/>
            <a:ext cx="502920" cy="502920"/>
          </a:xfrm>
          <a:prstGeom prst="ellipse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7267352" y="3095244"/>
            <a:ext cx="640080" cy="822960"/>
          </a:xfrm>
          <a:prstGeom prst="line">
            <a:avLst/>
          </a:prstGeom>
          <a:ln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233312" y="2574036"/>
            <a:ext cx="411480" cy="411480"/>
          </a:xfrm>
          <a:prstGeom prst="ellipse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233312" y="3214116"/>
            <a:ext cx="411480" cy="411480"/>
          </a:xfrm>
          <a:prstGeom prst="ellipse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33312" y="3854196"/>
            <a:ext cx="411480" cy="411480"/>
          </a:xfrm>
          <a:prstGeom prst="ellipse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422032" y="2659100"/>
            <a:ext cx="320040" cy="320040"/>
          </a:xfrm>
          <a:prstGeom prst="ellipse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422032" y="3299180"/>
            <a:ext cx="320040" cy="320040"/>
          </a:xfrm>
          <a:prstGeom prst="ellipse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422032" y="3939260"/>
            <a:ext cx="320040" cy="320040"/>
          </a:xfrm>
          <a:prstGeom prst="ellipse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58992" y="2278240"/>
            <a:ext cx="109728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 i="0">
                <a:solidFill>
                  <a:srgbClr val="4D4D4D"/>
                </a:solidFill>
                <a:latin typeface="Noto Sans JP"/>
              </a:rPr>
              <a:t>Second-order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6272" y="2384780"/>
            <a:ext cx="109728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 i="0" dirty="0">
                <a:solidFill>
                  <a:srgbClr val="4D4D4D"/>
                </a:solidFill>
                <a:latin typeface="Noto Sans JP"/>
              </a:rPr>
              <a:t>Surrounding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1" y="4860036"/>
            <a:ext cx="3017520" cy="329184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Technical Capability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1" y="5225796"/>
            <a:ext cx="30175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Noto Sans JP"/>
              </a:rPr>
              <a:t>What can the technology execute?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9161" y="4860036"/>
            <a:ext cx="3017520" cy="329184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Application Conditions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1" y="5225796"/>
            <a:ext cx="30175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Noto Sans JP"/>
              </a:rPr>
              <a:t>What must be represented and satisfied?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4860036"/>
            <a:ext cx="3017520" cy="329184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Social Decision Context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58200" y="5225796"/>
            <a:ext cx="30175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 i="0" dirty="0">
                <a:solidFill>
                  <a:srgbClr val="333333"/>
                </a:solidFill>
                <a:latin typeface="Noto Sans JP"/>
              </a:rPr>
              <a:t>Under what conditions should the application proceed?</a:t>
            </a:r>
          </a:p>
        </p:txBody>
      </p:sp>
      <p:cxnSp>
        <p:nvCxnSpPr>
          <p:cNvPr id="35" name="Connector 17">
            <a:extLst>
              <a:ext uri="{FF2B5EF4-FFF2-40B4-BE49-F238E27FC236}">
                <a16:creationId xmlns:a16="http://schemas.microsoft.com/office/drawing/2014/main" id="{4E6EEDF2-96C0-C672-5F69-66EF8846A538}"/>
              </a:ext>
            </a:extLst>
          </p:cNvPr>
          <p:cNvCxnSpPr>
            <a:cxnSpLocks/>
            <a:stCxn id="16" idx="6"/>
            <a:endCxn id="21" idx="2"/>
          </p:cNvCxnSpPr>
          <p:nvPr/>
        </p:nvCxnSpPr>
        <p:spPr>
          <a:xfrm flipV="1">
            <a:off x="8410352" y="2779776"/>
            <a:ext cx="822960" cy="228600"/>
          </a:xfrm>
          <a:prstGeom prst="line">
            <a:avLst/>
          </a:prstGeom>
          <a:ln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17">
            <a:extLst>
              <a:ext uri="{FF2B5EF4-FFF2-40B4-BE49-F238E27FC236}">
                <a16:creationId xmlns:a16="http://schemas.microsoft.com/office/drawing/2014/main" id="{E5207531-EF77-5394-5058-109625A63D37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8273192" y="3035808"/>
            <a:ext cx="960120" cy="384048"/>
          </a:xfrm>
          <a:prstGeom prst="line">
            <a:avLst/>
          </a:prstGeom>
          <a:ln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17">
            <a:extLst>
              <a:ext uri="{FF2B5EF4-FFF2-40B4-BE49-F238E27FC236}">
                <a16:creationId xmlns:a16="http://schemas.microsoft.com/office/drawing/2014/main" id="{9FE1A6A0-31D4-A80A-352C-791D84CE5F37}"/>
              </a:ext>
            </a:extLst>
          </p:cNvPr>
          <p:cNvCxnSpPr>
            <a:cxnSpLocks/>
            <a:stCxn id="19" idx="6"/>
            <a:endCxn id="22" idx="2"/>
          </p:cNvCxnSpPr>
          <p:nvPr/>
        </p:nvCxnSpPr>
        <p:spPr>
          <a:xfrm flipV="1">
            <a:off x="8410352" y="3419856"/>
            <a:ext cx="822960" cy="502920"/>
          </a:xfrm>
          <a:prstGeom prst="line">
            <a:avLst/>
          </a:prstGeom>
          <a:ln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17">
            <a:extLst>
              <a:ext uri="{FF2B5EF4-FFF2-40B4-BE49-F238E27FC236}">
                <a16:creationId xmlns:a16="http://schemas.microsoft.com/office/drawing/2014/main" id="{C7909363-83A5-AB3A-C5DC-0034ED84C18D}"/>
              </a:ext>
            </a:extLst>
          </p:cNvPr>
          <p:cNvCxnSpPr>
            <a:cxnSpLocks/>
            <a:stCxn id="19" idx="6"/>
            <a:endCxn id="23" idx="2"/>
          </p:cNvCxnSpPr>
          <p:nvPr/>
        </p:nvCxnSpPr>
        <p:spPr>
          <a:xfrm>
            <a:off x="8410352" y="3922776"/>
            <a:ext cx="822960" cy="137160"/>
          </a:xfrm>
          <a:prstGeom prst="line">
            <a:avLst/>
          </a:prstGeom>
          <a:ln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17">
            <a:extLst>
              <a:ext uri="{FF2B5EF4-FFF2-40B4-BE49-F238E27FC236}">
                <a16:creationId xmlns:a16="http://schemas.microsoft.com/office/drawing/2014/main" id="{E98AD482-5150-BD3F-6594-E77CDB97F85D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9644792" y="2819120"/>
            <a:ext cx="777240" cy="45720"/>
          </a:xfrm>
          <a:prstGeom prst="line">
            <a:avLst/>
          </a:prstGeom>
          <a:ln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17">
            <a:extLst>
              <a:ext uri="{FF2B5EF4-FFF2-40B4-BE49-F238E27FC236}">
                <a16:creationId xmlns:a16="http://schemas.microsoft.com/office/drawing/2014/main" id="{A66B75DD-48DC-F56D-8F0E-F74628BA562F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9644792" y="2864840"/>
            <a:ext cx="777240" cy="594360"/>
          </a:xfrm>
          <a:prstGeom prst="line">
            <a:avLst/>
          </a:prstGeom>
          <a:ln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17">
            <a:extLst>
              <a:ext uri="{FF2B5EF4-FFF2-40B4-BE49-F238E27FC236}">
                <a16:creationId xmlns:a16="http://schemas.microsoft.com/office/drawing/2014/main" id="{BE4F30A2-8186-4088-F52C-C0D914D924AD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9644792" y="3459200"/>
            <a:ext cx="777240" cy="45720"/>
          </a:xfrm>
          <a:prstGeom prst="line">
            <a:avLst/>
          </a:prstGeom>
          <a:ln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17">
            <a:extLst>
              <a:ext uri="{FF2B5EF4-FFF2-40B4-BE49-F238E27FC236}">
                <a16:creationId xmlns:a16="http://schemas.microsoft.com/office/drawing/2014/main" id="{895B3A4D-D3CC-E233-F2A0-F729797AE1E4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9644792" y="4099280"/>
            <a:ext cx="777240" cy="0"/>
          </a:xfrm>
          <a:prstGeom prst="line">
            <a:avLst/>
          </a:prstGeom>
          <a:ln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17">
            <a:extLst>
              <a:ext uri="{FF2B5EF4-FFF2-40B4-BE49-F238E27FC236}">
                <a16:creationId xmlns:a16="http://schemas.microsoft.com/office/drawing/2014/main" id="{8C8AF90D-8701-039A-0F3E-C0C04B58546F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9644792" y="3504920"/>
            <a:ext cx="777240" cy="594360"/>
          </a:xfrm>
          <a:prstGeom prst="line">
            <a:avLst/>
          </a:prstGeom>
          <a:ln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205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200" b="1" i="0">
                <a:solidFill>
                  <a:srgbClr val="333333"/>
                </a:solidFill>
                <a:latin typeface="Noto Sans JP"/>
              </a:rPr>
              <a:t>Why Transportation Is the Initial Application Domain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0972800" cy="32004"/>
          </a:xfrm>
          <a:prstGeom prst="rect">
            <a:avLst/>
          </a:prstGeom>
          <a:solidFill>
            <a:srgbClr val="007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50392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0" i="0" dirty="0">
                <a:solidFill>
                  <a:srgbClr val="333333"/>
                </a:solidFill>
                <a:latin typeface="Noto Sans JP"/>
              </a:rPr>
              <a:t>Transportation was selected because computational problems and operational requirements can be defined at multiple levels of realism.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57570"/>
            <a:ext cx="4754880" cy="384048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Near-Term Analytical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7066"/>
            <a:ext cx="4933507" cy="171405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Problem instances can be explicitly defined</a:t>
            </a:r>
          </a:p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Operational constraints can be enumerated and tested</a:t>
            </a:r>
          </a:p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Classical baselines and public data are available</a:t>
            </a:r>
          </a:p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Application-technology gaps can be examined concretely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0" y="1657570"/>
            <a:ext cx="4754880" cy="384048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Broader Technology Interactions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114769"/>
            <a:ext cx="4480560" cy="171405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Batteries and charging systems</a:t>
            </a:r>
          </a:p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Materials discovery for transport technologies</a:t>
            </a:r>
          </a:p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Vehicle technologies and operating conditions</a:t>
            </a:r>
          </a:p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Transport infrastructure and service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5074920"/>
            <a:ext cx="102412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600" b="1" i="0" dirty="0">
                <a:solidFill>
                  <a:srgbClr val="007E8F"/>
                </a:solidFill>
                <a:latin typeface="Noto Sans JP"/>
              </a:rPr>
              <a:t>Transportation provides a concrete domain for connecting application requirements with quantum-resource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52252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200" b="1" i="0">
                <a:solidFill>
                  <a:srgbClr val="333333"/>
                </a:solidFill>
                <a:latin typeface="Noto Sans JP"/>
              </a:rPr>
              <a:t>Research Question and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0972800" cy="32004"/>
          </a:xfrm>
          <a:prstGeom prst="rect">
            <a:avLst/>
          </a:prstGeom>
          <a:solidFill>
            <a:srgbClr val="007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899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800" b="1" i="0" dirty="0">
                <a:solidFill>
                  <a:srgbClr val="333333"/>
                </a:solidFill>
                <a:latin typeface="Noto Sans JP"/>
              </a:rPr>
              <a:t>How should transport-specific problem-instance scale and operational requirements be defined so that reported quantum-resource requirements can be meaningfully interpreted?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31720"/>
            <a:ext cx="4937760" cy="347472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Current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743200"/>
            <a:ext cx="4937759" cy="3437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Define transport-specific problem instances and operational constraints</a:t>
            </a:r>
          </a:p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Review formulations, encodings, circuit widths, and evaluation modalities</a:t>
            </a:r>
          </a:p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Compare application requirements with current quantum-routing evidence</a:t>
            </a:r>
          </a:p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Conduct an exploratory EVRP-side analysis to identify modeling 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331720"/>
            <a:ext cx="4937760" cy="347472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Next-Step Question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2743200"/>
            <a:ext cx="466344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600" b="1" i="0" dirty="0">
                <a:solidFill>
                  <a:srgbClr val="333333"/>
                </a:solidFill>
                <a:latin typeface="Noto Sans JP"/>
              </a:rPr>
              <a:t>How do these application requirements translate into formulation-specific quantum-resource requirements?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3977639"/>
            <a:ext cx="4663440" cy="70173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0" i="0" dirty="0">
                <a:solidFill>
                  <a:srgbClr val="4D4D4D"/>
                </a:solidFill>
                <a:latin typeface="Noto Sans JP"/>
              </a:rPr>
              <a:t>This separation keeps the present WIP focused on defining application requirements before claiming a resource estimate or quantum utility.</a:t>
            </a:r>
          </a:p>
        </p:txBody>
      </p:sp>
    </p:spTree>
    <p:extLst>
      <p:ext uri="{BB962C8B-B14F-4D97-AF65-F5344CB8AC3E}">
        <p14:creationId xmlns:p14="http://schemas.microsoft.com/office/powerpoint/2010/main" val="3690481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3F90C-CF75-5494-BA84-EAF8F6699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200" b="1" i="0">
                <a:solidFill>
                  <a:srgbClr val="333333"/>
                </a:solidFill>
                <a:latin typeface="Noto Sans JP"/>
              </a:rPr>
              <a:t>Core Logic of the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0972800" cy="32004"/>
          </a:xfrm>
          <a:prstGeom prst="rect">
            <a:avLst/>
          </a:prstGeom>
          <a:solidFill>
            <a:srgbClr val="007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50392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0" i="0" dirty="0">
                <a:solidFill>
                  <a:srgbClr val="333333"/>
                </a:solidFill>
                <a:latin typeface="Noto Sans JP"/>
              </a:rPr>
              <a:t>Quantum-resource estimates become meaningful only after the application requirements and their mathematical representation have been defined.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2116895"/>
            <a:ext cx="2057400" cy="481957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JP"/>
              </a:rPr>
              <a:t>Application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602412"/>
            <a:ext cx="2057400" cy="1161745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0" i="0" dirty="0">
                <a:solidFill>
                  <a:srgbClr val="333333"/>
                </a:solidFill>
                <a:latin typeface="Noto Sans JP"/>
              </a:rPr>
              <a:t>Problem-instance scale</a:t>
            </a:r>
          </a:p>
          <a:p>
            <a:pPr algn="ctr"/>
            <a:r>
              <a:rPr sz="1400" b="0" i="0" dirty="0">
                <a:solidFill>
                  <a:srgbClr val="333333"/>
                </a:solidFill>
                <a:latin typeface="Noto Sans JP"/>
              </a:rPr>
              <a:t>Operational constraints</a:t>
            </a:r>
          </a:p>
          <a:p>
            <a:pPr algn="ctr"/>
            <a:r>
              <a:rPr sz="1400" b="0" i="0" dirty="0">
                <a:solidFill>
                  <a:srgbClr val="333333"/>
                </a:solidFill>
                <a:latin typeface="Noto Sans JP"/>
              </a:rPr>
              <a:t>Required outputs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14600" y="2953512"/>
            <a:ext cx="320040" cy="201168"/>
          </a:xfrm>
          <a:prstGeom prst="rightArrow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Rectangle 7"/>
          <p:cNvSpPr/>
          <p:nvPr/>
        </p:nvSpPr>
        <p:spPr>
          <a:xfrm>
            <a:off x="2697480" y="2116895"/>
            <a:ext cx="2057400" cy="481957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JP"/>
              </a:rPr>
              <a:t>Mathematical Representation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2602412"/>
            <a:ext cx="2057400" cy="1161745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0" i="0" dirty="0">
                <a:solidFill>
                  <a:srgbClr val="333333"/>
                </a:solidFill>
                <a:latin typeface="Noto Sans JP"/>
              </a:rPr>
              <a:t>Decision variables</a:t>
            </a:r>
          </a:p>
          <a:p>
            <a:pPr algn="ctr"/>
            <a:r>
              <a:rPr sz="1400" b="0" i="0" dirty="0">
                <a:solidFill>
                  <a:srgbClr val="333333"/>
                </a:solidFill>
                <a:latin typeface="Noto Sans JP"/>
              </a:rPr>
              <a:t>Constraint terms</a:t>
            </a:r>
          </a:p>
          <a:p>
            <a:pPr algn="ctr"/>
            <a:r>
              <a:rPr sz="1400" b="0" i="0" dirty="0">
                <a:solidFill>
                  <a:srgbClr val="333333"/>
                </a:solidFill>
                <a:latin typeface="Noto Sans JP"/>
              </a:rPr>
              <a:t>Auxiliary variables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00599" y="2953512"/>
            <a:ext cx="320040" cy="201168"/>
          </a:xfrm>
          <a:prstGeom prst="rightArrow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ectangle 10"/>
          <p:cNvSpPr/>
          <p:nvPr/>
        </p:nvSpPr>
        <p:spPr>
          <a:xfrm>
            <a:off x="4983480" y="2116895"/>
            <a:ext cx="2057400" cy="481957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JP"/>
              </a:rPr>
              <a:t>Quantum Formulation and Encoding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80" y="2602412"/>
            <a:ext cx="2057400" cy="1161745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0" i="0" dirty="0">
                <a:solidFill>
                  <a:srgbClr val="333333"/>
                </a:solidFill>
                <a:latin typeface="Noto Sans JP"/>
              </a:rPr>
              <a:t>Problem-to-circuit mapping</a:t>
            </a:r>
          </a:p>
          <a:p>
            <a:pPr algn="ctr"/>
            <a:r>
              <a:rPr sz="1400" b="0" i="0" dirty="0">
                <a:solidFill>
                  <a:srgbClr val="333333"/>
                </a:solidFill>
                <a:latin typeface="Noto Sans JP"/>
              </a:rPr>
              <a:t>Encoding choices</a:t>
            </a:r>
          </a:p>
          <a:p>
            <a:pPr algn="ctr"/>
            <a:r>
              <a:rPr sz="1400" b="0" i="0" dirty="0">
                <a:solidFill>
                  <a:srgbClr val="333333"/>
                </a:solidFill>
                <a:latin typeface="Noto Sans JP"/>
              </a:rPr>
              <a:t>Compilation assumptions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86599" y="2953512"/>
            <a:ext cx="320040" cy="201168"/>
          </a:xfrm>
          <a:prstGeom prst="rightArrow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Rectangle 13"/>
          <p:cNvSpPr/>
          <p:nvPr/>
        </p:nvSpPr>
        <p:spPr>
          <a:xfrm>
            <a:off x="7269480" y="2116895"/>
            <a:ext cx="2057400" cy="481957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JP"/>
              </a:rPr>
              <a:t>Quantum-Resource Requirements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2602412"/>
            <a:ext cx="2057400" cy="1161745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Noto Sans JP"/>
              </a:rPr>
              <a:t>Circuit width</a:t>
            </a:r>
          </a:p>
          <a:p>
            <a:pPr algn="ctr"/>
            <a:r>
              <a:rPr sz="1400" b="0" i="0">
                <a:solidFill>
                  <a:srgbClr val="333333"/>
                </a:solidFill>
                <a:latin typeface="Noto Sans JP"/>
              </a:rPr>
              <a:t>Circuit depth</a:t>
            </a:r>
          </a:p>
          <a:p>
            <a:pPr algn="ctr"/>
            <a:r>
              <a:rPr sz="1400" b="0" i="0">
                <a:solidFill>
                  <a:srgbClr val="333333"/>
                </a:solidFill>
                <a:latin typeface="Noto Sans JP"/>
              </a:rPr>
              <a:t>Gate count / connectivity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72600" y="2953512"/>
            <a:ext cx="320040" cy="201168"/>
          </a:xfrm>
          <a:prstGeom prst="rightArrow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ectangle 16"/>
          <p:cNvSpPr/>
          <p:nvPr/>
        </p:nvSpPr>
        <p:spPr>
          <a:xfrm>
            <a:off x="9555480" y="2116895"/>
            <a:ext cx="2057400" cy="481957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JP"/>
              </a:rPr>
              <a:t>Feasible Technology Stage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55480" y="2602412"/>
            <a:ext cx="2057400" cy="1161745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0" i="0">
                <a:solidFill>
                  <a:srgbClr val="333333"/>
                </a:solidFill>
                <a:latin typeface="Noto Sans JP"/>
              </a:rPr>
              <a:t>Simulation</a:t>
            </a:r>
          </a:p>
          <a:p>
            <a:pPr algn="ctr"/>
            <a:r>
              <a:rPr sz="1400" b="0" i="0">
                <a:solidFill>
                  <a:srgbClr val="333333"/>
                </a:solidFill>
                <a:latin typeface="Noto Sans JP"/>
              </a:rPr>
              <a:t>Hardware execution</a:t>
            </a:r>
          </a:p>
          <a:p>
            <a:pPr algn="ctr"/>
            <a:r>
              <a:rPr sz="1400" b="0" i="0">
                <a:solidFill>
                  <a:srgbClr val="333333"/>
                </a:solidFill>
                <a:latin typeface="Noto Sans JP"/>
              </a:rPr>
              <a:t>Resource estimation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5364480"/>
            <a:ext cx="9875520" cy="62484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600" b="1" i="0" dirty="0">
                <a:solidFill>
                  <a:srgbClr val="007E8F"/>
                </a:solidFill>
                <a:latin typeface="Noto Sans JP"/>
              </a:rPr>
              <a:t>Application requirements determine what must be represented; what must be represented determines formulation, encoding, and resource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3360549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200" b="1" i="0">
                <a:solidFill>
                  <a:srgbClr val="333333"/>
                </a:solidFill>
                <a:latin typeface="Noto Sans JP"/>
              </a:rPr>
              <a:t>Literature Review: What Was Examined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0972800" cy="32004"/>
          </a:xfrm>
          <a:prstGeom prst="rect">
            <a:avLst/>
          </a:prstGeom>
          <a:solidFill>
            <a:srgbClr val="007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50392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0" i="0">
                <a:solidFill>
                  <a:srgbClr val="333333"/>
                </a:solidFill>
                <a:latin typeface="Noto Sans JP"/>
              </a:rPr>
              <a:t>This study adapts application-oriented benchmarking concepts to a literature-based comparison rather than executing a standardized benchmark suite.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789" y="1888236"/>
            <a:ext cx="4937760" cy="365760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Reviewed Evidence in This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1669" y="2345436"/>
            <a:ext cx="4572000" cy="30067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Transport problem class</a:t>
            </a:r>
          </a:p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Reported problem-instance scale</a:t>
            </a:r>
          </a:p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Mathematical formulation</a:t>
            </a:r>
          </a:p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Quantum encoding</a:t>
            </a:r>
          </a:p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Reported circuit width</a:t>
            </a:r>
          </a:p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Evaluation modality</a:t>
            </a:r>
          </a:p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Alignment with transport application 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55229" y="1888236"/>
            <a:ext cx="4937760" cy="365760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Application-Oriented Benchmarking Perspective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109" y="2345436"/>
            <a:ext cx="4572000" cy="214494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Feasible problem size</a:t>
            </a:r>
          </a:p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Application-derived circuit</a:t>
            </a:r>
          </a:p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Circuit width and depth</a:t>
            </a:r>
          </a:p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Solution quality</a:t>
            </a:r>
          </a:p>
          <a:p>
            <a:pPr>
              <a:lnSpc>
                <a:spcPct val="200000"/>
              </a:lnSpc>
            </a:pPr>
            <a:r>
              <a:rPr sz="1400" b="0" i="0" dirty="0">
                <a:solidFill>
                  <a:srgbClr val="333333"/>
                </a:solidFill>
                <a:latin typeface="Noto Sans JP"/>
              </a:rPr>
              <a:t>• Execution time and resource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2520" y="5588726"/>
            <a:ext cx="99669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600" b="1" i="0" dirty="0">
                <a:solidFill>
                  <a:srgbClr val="007E8F"/>
                </a:solidFill>
                <a:latin typeface="Noto Sans JP"/>
              </a:rPr>
              <a:t>Adaptation: use reported evidence from quantum-routing studies to compare how application requirements are represented, rather than running a new standardized benchmark suite.</a:t>
            </a:r>
          </a:p>
        </p:txBody>
      </p:sp>
    </p:spTree>
    <p:extLst>
      <p:ext uri="{BB962C8B-B14F-4D97-AF65-F5344CB8AC3E}">
        <p14:creationId xmlns:p14="http://schemas.microsoft.com/office/powerpoint/2010/main" val="819484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200" b="1" i="0">
                <a:solidFill>
                  <a:srgbClr val="333333"/>
                </a:solidFill>
                <a:latin typeface="Noto Sans JP"/>
              </a:rPr>
              <a:t>Key Finding 1: Circuit Width Cannot Be Interpreted from Scale Alone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0972800" cy="32004"/>
          </a:xfrm>
          <a:prstGeom prst="rect">
            <a:avLst/>
          </a:prstGeom>
          <a:solidFill>
            <a:srgbClr val="007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50392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0" i="0" dirty="0">
                <a:solidFill>
                  <a:srgbClr val="333333"/>
                </a:solidFill>
                <a:latin typeface="Noto Sans JP"/>
              </a:rPr>
              <a:t>Similar problem-instance scales may require very different circuit widths depending on formulation, encoding, and evaluation modality.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535539"/>
            <a:ext cx="10972800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 i="0" dirty="0">
                <a:solidFill>
                  <a:srgbClr val="4D4D4D"/>
                </a:solidFill>
                <a:latin typeface="Noto Sans JP"/>
              </a:rPr>
              <a:t>Note: Reported qubit count indicates circuit width, not total computational cost. Practical execution also depends on circuit depth, gate count, connectivity, noise, and compilation overhead.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5783" y="2266406"/>
            <a:ext cx="1737360" cy="256032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850" b="1" i="0">
                <a:solidFill>
                  <a:srgbClr val="007E8F"/>
                </a:solidFill>
                <a:latin typeface="Noto Sans JP"/>
              </a:rPr>
              <a:t>Formulation / Simulation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0303" y="2266406"/>
            <a:ext cx="14173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850" b="1" i="0">
                <a:solidFill>
                  <a:srgbClr val="666666"/>
                </a:solidFill>
                <a:latin typeface="Noto Sans JP"/>
              </a:rPr>
              <a:t>Resource Estimation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282833" y="2582744"/>
            <a:ext cx="4480560" cy="4389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1050" b="0" i="0" dirty="0">
                <a:solidFill>
                  <a:srgbClr val="333333"/>
                </a:solidFill>
                <a:latin typeface="Noto Sans JP"/>
              </a:rPr>
              <a:t>Leonidas et al. (2023)</a:t>
            </a:r>
          </a:p>
          <a:p>
            <a:pPr algn="r"/>
            <a:r>
              <a:rPr sz="1050" b="0" i="0" dirty="0">
                <a:solidFill>
                  <a:srgbClr val="333333"/>
                </a:solidFill>
                <a:latin typeface="Noto Sans JP"/>
              </a:rPr>
              <a:t>Time-window routing</a:t>
            </a:r>
          </a:p>
          <a:p>
            <a:pPr algn="r"/>
            <a:r>
              <a:rPr sz="1050" b="0" i="0" dirty="0">
                <a:solidFill>
                  <a:srgbClr val="333333"/>
                </a:solidFill>
                <a:latin typeface="Noto Sans JP"/>
              </a:rPr>
              <a:t>minimal formulation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1223" y="2632166"/>
            <a:ext cx="1442716" cy="301752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7091" y="2613878"/>
            <a:ext cx="12801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50" b="1" i="0">
                <a:solidFill>
                  <a:srgbClr val="333333"/>
                </a:solidFill>
                <a:latin typeface="Noto Sans JP"/>
              </a:rPr>
              <a:t>128 qubits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82833" y="3295106"/>
            <a:ext cx="4480560" cy="4389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1050" b="0" i="0">
                <a:solidFill>
                  <a:srgbClr val="333333"/>
                </a:solidFill>
                <a:latin typeface="Noto Sans JP"/>
              </a:rPr>
              <a:t>Leonidas et al. (2023)</a:t>
            </a:r>
          </a:p>
          <a:p>
            <a:pPr algn="r"/>
            <a:r>
              <a:rPr sz="1050" b="0" i="0">
                <a:solidFill>
                  <a:srgbClr val="333333"/>
                </a:solidFill>
                <a:latin typeface="Noto Sans JP"/>
              </a:rPr>
              <a:t>Time-window routing</a:t>
            </a:r>
          </a:p>
          <a:p>
            <a:pPr algn="r"/>
            <a:r>
              <a:rPr sz="1050" b="0" i="0">
                <a:solidFill>
                  <a:srgbClr val="333333"/>
                </a:solidFill>
                <a:latin typeface="Noto Sans JP"/>
              </a:rPr>
              <a:t>full formulation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1223" y="3363686"/>
            <a:ext cx="1834964" cy="301752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49339" y="3345398"/>
            <a:ext cx="12801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50" b="1" i="0">
                <a:solidFill>
                  <a:srgbClr val="333333"/>
                </a:solidFill>
                <a:latin typeface="Noto Sans JP"/>
              </a:rPr>
              <a:t>256 qubits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282833" y="4058630"/>
            <a:ext cx="4480560" cy="4389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1050" b="0" i="0" dirty="0">
                <a:solidFill>
                  <a:srgbClr val="333333"/>
                </a:solidFill>
                <a:latin typeface="Noto Sans JP"/>
              </a:rPr>
              <a:t>Onah &amp; Michielsen (2025)</a:t>
            </a:r>
          </a:p>
          <a:p>
            <a:pPr algn="r"/>
            <a:r>
              <a:rPr sz="1050" b="0" i="0" dirty="0">
                <a:solidFill>
                  <a:srgbClr val="333333"/>
                </a:solidFill>
                <a:latin typeface="Noto Sans JP"/>
              </a:rPr>
              <a:t>Capacitated routing benchmark</a:t>
            </a:r>
          </a:p>
          <a:p>
            <a:pPr algn="r"/>
            <a:r>
              <a:rPr sz="1050" b="0" i="0" dirty="0">
                <a:solidFill>
                  <a:srgbClr val="333333"/>
                </a:solidFill>
                <a:latin typeface="Noto Sans JP"/>
              </a:rPr>
              <a:t>higher-order binary terms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1223" y="4095206"/>
            <a:ext cx="3627482" cy="301752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1857" y="4076918"/>
            <a:ext cx="12801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50" b="1" i="0">
                <a:solidFill>
                  <a:srgbClr val="333333"/>
                </a:solidFill>
                <a:latin typeface="Noto Sans JP"/>
              </a:rPr>
              <a:t>6,080 qubits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282833" y="4790150"/>
            <a:ext cx="4480560" cy="4389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1050" b="0" i="0" dirty="0">
                <a:solidFill>
                  <a:srgbClr val="333333"/>
                </a:solidFill>
                <a:latin typeface="Noto Sans JP"/>
              </a:rPr>
              <a:t>Onah &amp; Michielsen (2025)</a:t>
            </a:r>
          </a:p>
          <a:p>
            <a:pPr algn="r"/>
            <a:r>
              <a:rPr sz="1050" b="0" i="0" dirty="0">
                <a:solidFill>
                  <a:srgbClr val="333333"/>
                </a:solidFill>
                <a:latin typeface="Noto Sans JP"/>
              </a:rPr>
              <a:t>Capacitated routing benchmark</a:t>
            </a:r>
          </a:p>
          <a:p>
            <a:pPr algn="r"/>
            <a:r>
              <a:rPr sz="1050" b="0" i="0" dirty="0">
                <a:solidFill>
                  <a:srgbClr val="333333"/>
                </a:solidFill>
                <a:latin typeface="Noto Sans JP"/>
              </a:rPr>
              <a:t>quadratic binary terms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1223" y="4826726"/>
            <a:ext cx="4120417" cy="301752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34792" y="4808438"/>
            <a:ext cx="12801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50" b="1" i="0">
                <a:solidFill>
                  <a:srgbClr val="333333"/>
                </a:solidFill>
                <a:latin typeface="Noto Sans JP"/>
              </a:rPr>
              <a:t>14,528 qubits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41223" y="5558246"/>
            <a:ext cx="5212080" cy="0"/>
          </a:xfrm>
          <a:prstGeom prst="line">
            <a:avLst/>
          </a:prstGeom>
          <a:ln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41223" y="5558246"/>
            <a:ext cx="0" cy="100584"/>
          </a:xfrm>
          <a:prstGeom prst="line">
            <a:avLst/>
          </a:prstGeom>
          <a:ln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2623" y="5677118"/>
            <a:ext cx="4572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  <a:latin typeface="Noto Sans JP"/>
              </a:rPr>
              <a:t>10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44243" y="5558246"/>
            <a:ext cx="0" cy="100584"/>
          </a:xfrm>
          <a:prstGeom prst="line">
            <a:avLst/>
          </a:prstGeom>
          <a:ln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15643" y="5677118"/>
            <a:ext cx="4572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  <a:latin typeface="Noto Sans JP"/>
              </a:rPr>
              <a:t>100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47263" y="5558246"/>
            <a:ext cx="0" cy="100584"/>
          </a:xfrm>
          <a:prstGeom prst="line">
            <a:avLst/>
          </a:prstGeom>
          <a:ln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718663" y="5677118"/>
            <a:ext cx="4572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  <a:latin typeface="Noto Sans JP"/>
              </a:rPr>
              <a:t>1,000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50283" y="5558246"/>
            <a:ext cx="0" cy="100584"/>
          </a:xfrm>
          <a:prstGeom prst="line">
            <a:avLst/>
          </a:prstGeom>
          <a:ln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021683" y="5677118"/>
            <a:ext cx="4572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  <a:latin typeface="Noto Sans JP"/>
              </a:rPr>
              <a:t>10,000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553303" y="5558246"/>
            <a:ext cx="0" cy="100584"/>
          </a:xfrm>
          <a:prstGeom prst="line">
            <a:avLst/>
          </a:prstGeom>
          <a:ln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324703" y="5677118"/>
            <a:ext cx="4572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  <a:latin typeface="Noto Sans JP"/>
              </a:rPr>
              <a:t>100,000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1223" y="6015446"/>
            <a:ext cx="521208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 i="0">
                <a:solidFill>
                  <a:srgbClr val="333333"/>
                </a:solidFill>
                <a:latin typeface="Noto Sans JP"/>
              </a:rPr>
              <a:t>Reported Circuit Width (Qubits, Log Scale)</a:t>
            </a:r>
          </a:p>
        </p:txBody>
      </p:sp>
      <p:cxnSp>
        <p:nvCxnSpPr>
          <p:cNvPr id="32" name="Connector 19">
            <a:extLst>
              <a:ext uri="{FF2B5EF4-FFF2-40B4-BE49-F238E27FC236}">
                <a16:creationId xmlns:a16="http://schemas.microsoft.com/office/drawing/2014/main" id="{24B67620-63F5-87DA-E4FD-1623390A43A6}"/>
              </a:ext>
            </a:extLst>
          </p:cNvPr>
          <p:cNvCxnSpPr>
            <a:cxnSpLocks/>
          </p:cNvCxnSpPr>
          <p:nvPr/>
        </p:nvCxnSpPr>
        <p:spPr>
          <a:xfrm flipV="1">
            <a:off x="4334946" y="2613878"/>
            <a:ext cx="6276" cy="2944368"/>
          </a:xfrm>
          <a:prstGeom prst="line">
            <a:avLst/>
          </a:prstGeom>
          <a:ln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11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E1057-0BC4-2923-CC11-6289D56B0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200" b="1" i="0">
                <a:solidFill>
                  <a:srgbClr val="333333"/>
                </a:solidFill>
                <a:latin typeface="Noto Sans JP"/>
              </a:rPr>
              <a:t>Key Finding 2: Three Types of Application-Technology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0972800" cy="32004"/>
          </a:xfrm>
          <a:prstGeom prst="rect">
            <a:avLst/>
          </a:prstGeom>
          <a:solidFill>
            <a:srgbClr val="007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50392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0" i="0" dirty="0">
                <a:solidFill>
                  <a:srgbClr val="333333"/>
                </a:solidFill>
                <a:latin typeface="Noto Sans JP"/>
              </a:rPr>
              <a:t>The gap between current quantum-routing studies and social implementation is not only a scale gap, but also a representation gap and an evidence gap.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73352"/>
            <a:ext cx="3246120" cy="384048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Scale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84832"/>
            <a:ext cx="324612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l"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Customers</a:t>
            </a:r>
          </a:p>
          <a:p>
            <a:pPr algn="l"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Vehicles</a:t>
            </a:r>
          </a:p>
          <a:p>
            <a:pPr algn="l"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Depots</a:t>
            </a:r>
          </a:p>
          <a:p>
            <a:pPr algn="l"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Geographic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673352"/>
            <a:ext cx="3246120" cy="384048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Representation Gap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2084832"/>
            <a:ext cx="324612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l"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Payload</a:t>
            </a:r>
          </a:p>
          <a:p>
            <a:pPr algn="l"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Operating time</a:t>
            </a:r>
          </a:p>
          <a:p>
            <a:pPr algn="l"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Range</a:t>
            </a:r>
          </a:p>
          <a:p>
            <a:pPr algn="l"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S</a:t>
            </a:r>
            <a:r>
              <a:rPr lang="en-US" sz="1200" b="0" i="0" dirty="0">
                <a:solidFill>
                  <a:srgbClr val="333333"/>
                </a:solidFill>
                <a:latin typeface="Noto Sans JP"/>
              </a:rPr>
              <a:t>tate of Charge</a:t>
            </a:r>
            <a:endParaRPr sz="1200" b="0" i="0" dirty="0">
              <a:solidFill>
                <a:srgbClr val="333333"/>
              </a:solidFill>
              <a:latin typeface="Noto Sans JP"/>
            </a:endParaRPr>
          </a:p>
          <a:p>
            <a:pPr algn="l"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Charging</a:t>
            </a:r>
          </a:p>
          <a:p>
            <a:pPr algn="l"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Fleet heterogeneity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673352"/>
            <a:ext cx="3246120" cy="384048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Evidence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084832"/>
            <a:ext cx="324612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l"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Formulation only</a:t>
            </a:r>
          </a:p>
          <a:p>
            <a:pPr algn="l"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Classical simulation</a:t>
            </a:r>
          </a:p>
          <a:p>
            <a:pPr algn="l"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Quantum simulation</a:t>
            </a:r>
          </a:p>
          <a:p>
            <a:pPr algn="l"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Hardware execution</a:t>
            </a:r>
          </a:p>
          <a:p>
            <a:pPr algn="l"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Resource estimation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5074920"/>
            <a:ext cx="100584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600" b="1" i="0" dirty="0">
                <a:solidFill>
                  <a:srgbClr val="007E8F"/>
                </a:solidFill>
                <a:latin typeface="Noto Sans JP"/>
              </a:rPr>
              <a:t>Implication: quantum-resource comparisons should report not only problem scale, but also which requirements are represented and how the result was validated or estimated.</a:t>
            </a:r>
          </a:p>
        </p:txBody>
      </p:sp>
    </p:spTree>
    <p:extLst>
      <p:ext uri="{BB962C8B-B14F-4D97-AF65-F5344CB8AC3E}">
        <p14:creationId xmlns:p14="http://schemas.microsoft.com/office/powerpoint/2010/main" val="3400164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200" b="1" i="0">
                <a:solidFill>
                  <a:srgbClr val="333333"/>
                </a:solidFill>
                <a:latin typeface="Noto Sans JP"/>
              </a:rPr>
              <a:t>Application-Side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0972800" cy="32004"/>
          </a:xfrm>
          <a:prstGeom prst="rect">
            <a:avLst/>
          </a:prstGeom>
          <a:solidFill>
            <a:srgbClr val="007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50392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0" i="0" dirty="0">
                <a:solidFill>
                  <a:srgbClr val="333333"/>
                </a:solidFill>
                <a:latin typeface="Noto Sans JP"/>
              </a:rPr>
              <a:t>A larger instance is not necessarily more representative; application relevance depends on both problem-instance scale and operational-constraint coverage.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10511"/>
            <a:ext cx="3474720" cy="347472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Problem-Instance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67711"/>
            <a:ext cx="3200400" cy="147713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Customers or delivery locations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Vehicles and depots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Route candidates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Geographic coverage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810511"/>
            <a:ext cx="3474720" cy="347472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Operational-Constraint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267711"/>
            <a:ext cx="3200400" cy="258513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Payload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Operating and service time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Travel distance and range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Time windows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S</a:t>
            </a:r>
            <a:r>
              <a:rPr lang="en-US" sz="1200" b="0" i="0" dirty="0">
                <a:solidFill>
                  <a:srgbClr val="333333"/>
                </a:solidFill>
                <a:latin typeface="Noto Sans JP"/>
              </a:rPr>
              <a:t>tate of Charge</a:t>
            </a:r>
            <a:endParaRPr sz="1200" b="0" i="0" dirty="0">
              <a:solidFill>
                <a:srgbClr val="333333"/>
              </a:solidFill>
              <a:latin typeface="Noto Sans JP"/>
            </a:endParaRP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Charging access and duration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Fleet heterogeneity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49640" y="4526280"/>
            <a:ext cx="2743200" cy="0"/>
          </a:xfrm>
          <a:prstGeom prst="line">
            <a:avLst/>
          </a:prstGeom>
          <a:ln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549640" y="1600200"/>
            <a:ext cx="0" cy="2926080"/>
          </a:xfrm>
          <a:prstGeom prst="line">
            <a:avLst/>
          </a:prstGeom>
          <a:ln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32519" y="4663440"/>
            <a:ext cx="256032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950" b="1" i="0">
                <a:solidFill>
                  <a:srgbClr val="333333"/>
                </a:solidFill>
                <a:latin typeface="Noto Sans JP"/>
              </a:rPr>
              <a:t>Problem-Instance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533" y="2921405"/>
            <a:ext cx="877813" cy="49398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950" b="1" i="0" dirty="0">
                <a:solidFill>
                  <a:srgbClr val="333333"/>
                </a:solidFill>
                <a:latin typeface="Noto Sans JP"/>
              </a:rPr>
              <a:t>Operational-</a:t>
            </a:r>
          </a:p>
          <a:p>
            <a:pPr algn="ctr"/>
            <a:r>
              <a:rPr sz="950" b="1" i="0" dirty="0">
                <a:solidFill>
                  <a:srgbClr val="333333"/>
                </a:solidFill>
                <a:latin typeface="Noto Sans JP"/>
              </a:rPr>
              <a:t>Constraint</a:t>
            </a:r>
          </a:p>
          <a:p>
            <a:pPr algn="ctr"/>
            <a:r>
              <a:rPr sz="950" b="1" i="0" dirty="0">
                <a:solidFill>
                  <a:srgbClr val="333333"/>
                </a:solidFill>
                <a:latin typeface="Noto Sans JP"/>
              </a:rPr>
              <a:t>Coverage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3520440"/>
            <a:ext cx="11430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0" i="0">
                <a:solidFill>
                  <a:srgbClr val="333333"/>
                </a:solidFill>
                <a:latin typeface="Noto Sans JP"/>
              </a:rPr>
              <a:t>Toy</a:t>
            </a:r>
          </a:p>
          <a:p>
            <a:pPr algn="ctr"/>
            <a:r>
              <a:rPr sz="900" b="0" i="0">
                <a:solidFill>
                  <a:srgbClr val="333333"/>
                </a:solidFill>
                <a:latin typeface="Noto Sans JP"/>
              </a:rPr>
              <a:t>Instance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1920240"/>
            <a:ext cx="1325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850" b="0" i="0">
                <a:solidFill>
                  <a:srgbClr val="333333"/>
                </a:solidFill>
                <a:latin typeface="Noto Sans JP"/>
              </a:rPr>
              <a:t>Small Instance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Noto Sans JP"/>
              </a:rPr>
              <a:t>Rich Constraints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3520440"/>
            <a:ext cx="1234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850" b="0" i="0">
                <a:solidFill>
                  <a:srgbClr val="333333"/>
                </a:solidFill>
                <a:latin typeface="Noto Sans JP"/>
              </a:rPr>
              <a:t>Large Instance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Noto Sans JP"/>
              </a:rPr>
              <a:t>Basic Constraints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22408" y="1920240"/>
            <a:ext cx="1417320" cy="594360"/>
          </a:xfrm>
          <a:prstGeom prst="round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Noto Sans JP"/>
              </a:rPr>
              <a:t>Operationally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Noto Sans JP"/>
              </a:rPr>
              <a:t>Representative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Noto Sans JP"/>
              </a:rPr>
              <a:t>Requirements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5074920"/>
            <a:ext cx="98755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600" b="1" i="0" dirty="0">
                <a:solidFill>
                  <a:srgbClr val="007E8F"/>
                </a:solidFill>
                <a:latin typeface="Noto Sans JP"/>
              </a:rPr>
              <a:t>Application-side definition = Problem-instance scale × Required operational constraints. This definition is the basis for interpreting formulations, circuit widths, and resource estimates.</a:t>
            </a:r>
          </a:p>
        </p:txBody>
      </p:sp>
    </p:spTree>
    <p:extLst>
      <p:ext uri="{BB962C8B-B14F-4D97-AF65-F5344CB8AC3E}">
        <p14:creationId xmlns:p14="http://schemas.microsoft.com/office/powerpoint/2010/main" val="1755535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200" b="1" i="0">
                <a:solidFill>
                  <a:srgbClr val="333333"/>
                </a:solidFill>
                <a:latin typeface="Noto Sans JP"/>
              </a:rPr>
              <a:t>Exploratory Analysis for Defining Application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0972800" cy="32004"/>
          </a:xfrm>
          <a:prstGeom prst="rect">
            <a:avLst/>
          </a:prstGeom>
          <a:solidFill>
            <a:srgbClr val="007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50392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0" i="0">
                <a:solidFill>
                  <a:srgbClr val="333333"/>
                </a:solidFill>
                <a:latin typeface="Noto Sans JP"/>
              </a:rPr>
              <a:t>The purpose of this analysis is not to solve an EVRP, but to identify which operational constraints must be represented before quantum-resource requirements can be interpreted.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" y="2453646"/>
            <a:ext cx="16002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50" b="1" i="0">
                <a:solidFill>
                  <a:srgbClr val="333333"/>
                </a:solidFill>
                <a:latin typeface="Noto Sans JP"/>
              </a:rPr>
              <a:t>Open-Data</a:t>
            </a:r>
          </a:p>
          <a:p>
            <a:pPr algn="ctr"/>
            <a:r>
              <a:rPr sz="1050" b="1" i="0">
                <a:solidFill>
                  <a:srgbClr val="333333"/>
                </a:solidFill>
                <a:latin typeface="Noto Sans JP"/>
              </a:rPr>
              <a:t>Inputs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21407" y="2755399"/>
            <a:ext cx="201168" cy="155448"/>
          </a:xfrm>
          <a:prstGeom prst="rightArrow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350008" y="2453646"/>
            <a:ext cx="16002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50" b="1" i="0">
                <a:solidFill>
                  <a:srgbClr val="333333"/>
                </a:solidFill>
                <a:latin typeface="Noto Sans JP"/>
              </a:rPr>
              <a:t>Synthetic</a:t>
            </a:r>
          </a:p>
          <a:p>
            <a:pPr algn="ctr"/>
            <a:r>
              <a:rPr sz="1050" b="1" i="0">
                <a:solidFill>
                  <a:srgbClr val="333333"/>
                </a:solidFill>
                <a:latin typeface="Noto Sans JP"/>
              </a:rPr>
              <a:t>Scenario</a:t>
            </a:r>
          </a:p>
          <a:p>
            <a:pPr algn="ctr"/>
            <a:r>
              <a:rPr sz="1050" b="1" i="0">
                <a:solidFill>
                  <a:srgbClr val="333333"/>
                </a:solidFill>
                <a:latin typeface="Noto Sans JP"/>
              </a:rPr>
              <a:t>Generation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77640" y="2755399"/>
            <a:ext cx="201168" cy="155448"/>
          </a:xfrm>
          <a:prstGeom prst="rightArrow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06240" y="2453646"/>
            <a:ext cx="16002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50" b="1" i="0">
                <a:solidFill>
                  <a:srgbClr val="333333"/>
                </a:solidFill>
                <a:latin typeface="Noto Sans JP"/>
              </a:rPr>
              <a:t>Route-Proxy</a:t>
            </a:r>
          </a:p>
          <a:p>
            <a:pPr algn="ctr"/>
            <a:r>
              <a:rPr sz="1050" b="1" i="0">
                <a:solidFill>
                  <a:srgbClr val="333333"/>
                </a:solidFill>
                <a:latin typeface="Noto Sans JP"/>
              </a:rPr>
              <a:t>Construction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33872" y="2755399"/>
            <a:ext cx="201168" cy="155448"/>
          </a:xfrm>
          <a:prstGeom prst="rightArrow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62472" y="2453646"/>
            <a:ext cx="16002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50" b="1" i="0">
                <a:solidFill>
                  <a:srgbClr val="333333"/>
                </a:solidFill>
                <a:latin typeface="Noto Sans JP"/>
              </a:rPr>
              <a:t>Operational-</a:t>
            </a:r>
          </a:p>
          <a:p>
            <a:pPr algn="ctr"/>
            <a:r>
              <a:rPr sz="1050" b="1" i="0">
                <a:solidFill>
                  <a:srgbClr val="333333"/>
                </a:solidFill>
                <a:latin typeface="Noto Sans JP"/>
              </a:rPr>
              <a:t>Constraint</a:t>
            </a:r>
          </a:p>
          <a:p>
            <a:pPr algn="ctr"/>
            <a:r>
              <a:rPr sz="1050" b="1" i="0">
                <a:solidFill>
                  <a:srgbClr val="333333"/>
                </a:solidFill>
                <a:latin typeface="Noto Sans JP"/>
              </a:rPr>
              <a:t>Evaluation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690104" y="2755399"/>
            <a:ext cx="201168" cy="155448"/>
          </a:xfrm>
          <a:prstGeom prst="rightArrow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18704" y="2453646"/>
            <a:ext cx="16002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50" b="1" i="0">
                <a:solidFill>
                  <a:srgbClr val="333333"/>
                </a:solidFill>
                <a:latin typeface="Noto Sans JP"/>
              </a:rPr>
              <a:t>Configuration</a:t>
            </a:r>
          </a:p>
          <a:p>
            <a:pPr algn="ctr"/>
            <a:r>
              <a:rPr sz="1050" b="1" i="0">
                <a:solidFill>
                  <a:srgbClr val="333333"/>
                </a:solidFill>
                <a:latin typeface="Noto Sans JP"/>
              </a:rPr>
              <a:t>and Parameter</a:t>
            </a:r>
          </a:p>
          <a:p>
            <a:pPr algn="ctr"/>
            <a:r>
              <a:rPr sz="1050" b="1" i="0">
                <a:solidFill>
                  <a:srgbClr val="333333"/>
                </a:solidFill>
                <a:latin typeface="Noto Sans JP"/>
              </a:rPr>
              <a:t>Checks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546336" y="2755399"/>
            <a:ext cx="201168" cy="155448"/>
          </a:xfrm>
          <a:prstGeom prst="rightArrow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4936" y="2453646"/>
            <a:ext cx="1600200" cy="822960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Noto Sans JP"/>
              </a:rPr>
              <a:t>Comparison with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Noto Sans JP"/>
              </a:rPr>
              <a:t>Quantum-VRP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Noto Sans JP"/>
              </a:rPr>
              <a:t>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" y="3895344"/>
            <a:ext cx="5212080" cy="347472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Questions Addressed by the Exploratory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352544"/>
            <a:ext cx="4937760" cy="147713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Which constraints are frequently unmet?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Which constraints vary across scenarios?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Which assumptions strongly affect results?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Which constraints require more advanced modeling?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37376" y="3895344"/>
            <a:ext cx="4937760" cy="347472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Interpretation 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4352544"/>
            <a:ext cx="4663440" cy="10972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The model-conditional unmet rates are analytical signals from synthetic scenarios. They are not observed operational failure rates and do not evaluate an optimized EVRP solution.</a:t>
            </a: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5D3A5FA7-C52D-609A-E43E-CB263195F09E}"/>
              </a:ext>
            </a:extLst>
          </p:cNvPr>
          <p:cNvSpPr/>
          <p:nvPr/>
        </p:nvSpPr>
        <p:spPr>
          <a:xfrm>
            <a:off x="4179134" y="1696212"/>
            <a:ext cx="3528931" cy="347472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en-US" sz="1300" b="1" i="0" dirty="0">
                <a:solidFill>
                  <a:srgbClr val="FFFFFF"/>
                </a:solidFill>
                <a:latin typeface="Noto Sans JP"/>
              </a:rPr>
              <a:t>Analysis Workflow</a:t>
            </a:r>
          </a:p>
        </p:txBody>
      </p:sp>
    </p:spTree>
    <p:extLst>
      <p:ext uri="{BB962C8B-B14F-4D97-AF65-F5344CB8AC3E}">
        <p14:creationId xmlns:p14="http://schemas.microsoft.com/office/powerpoint/2010/main" val="567361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200" b="1" i="0">
                <a:solidFill>
                  <a:srgbClr val="333333"/>
                </a:solidFill>
                <a:latin typeface="Noto Sans JP"/>
              </a:rPr>
              <a:t>Scenario Construction and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0972800" cy="32004"/>
          </a:xfrm>
          <a:prstGeom prst="rect">
            <a:avLst/>
          </a:prstGeom>
          <a:solidFill>
            <a:srgbClr val="007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50392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0" i="0">
                <a:solidFill>
                  <a:srgbClr val="333333"/>
                </a:solidFill>
                <a:latin typeface="Noto Sans JP"/>
              </a:rPr>
              <a:t>Open data defined spatial and technical conditions; demand, routing, and operational outcomes remained synthetic or proxied.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840" y="1837944"/>
            <a:ext cx="5349240" cy="347472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Noto Sans JP"/>
              </a:rPr>
              <a:t>Open Data Inputs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720" y="2295144"/>
            <a:ext cx="4983480" cy="147713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e-Stat Tokyo population mesh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Open Charge Map records clipped to Tokyo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National Land Numerical Information: Logistics Facilities Data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Publicly available vehicle-specification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38162"/>
            <a:ext cx="5166360" cy="347472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Scenario Design Summary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697224"/>
              </p:ext>
            </p:extLst>
          </p:nvPr>
        </p:nvGraphicFramePr>
        <p:xfrm>
          <a:off x="6409509" y="2209201"/>
          <a:ext cx="51663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Noto Sans JP"/>
                        </a:rPr>
                        <a:t>Dimension</a:t>
                      </a:r>
                    </a:p>
                  </a:txBody>
                  <a:tcPr marL="36576" marR="36576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Noto Sans JP"/>
                        </a:rPr>
                        <a:t>Current Setting</a:t>
                      </a:r>
                    </a:p>
                  </a:txBody>
                  <a:tcPr marL="36576" marR="36576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33333"/>
                          </a:solidFill>
                          <a:latin typeface="Noto Sans JP"/>
                        </a:rPr>
                        <a:t>Customers</a:t>
                      </a:r>
                    </a:p>
                  </a:txBody>
                  <a:tcPr marL="36576" marR="36576" marT="27432" marB="274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33333"/>
                          </a:solidFill>
                          <a:latin typeface="Noto Sans JP"/>
                        </a:rPr>
                        <a:t>25, 50, 100</a:t>
                      </a:r>
                    </a:p>
                  </a:txBody>
                  <a:tcPr marL="36576" marR="36576" marT="27432" marB="274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33333"/>
                          </a:solidFill>
                          <a:latin typeface="Noto Sans JP"/>
                        </a:rPr>
                        <a:t>Vehicles</a:t>
                      </a:r>
                    </a:p>
                  </a:txBody>
                  <a:tcPr marL="36576" marR="36576" marT="27432" marB="274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33333"/>
                          </a:solidFill>
                          <a:latin typeface="Noto Sans JP"/>
                        </a:rPr>
                        <a:t>1, 3, 5</a:t>
                      </a:r>
                    </a:p>
                  </a:txBody>
                  <a:tcPr marL="36576" marR="36576" marT="27432" marB="274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33333"/>
                          </a:solidFill>
                          <a:latin typeface="Noto Sans JP"/>
                        </a:rPr>
                        <a:t>Charger conditions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33333"/>
                          </a:solidFill>
                          <a:latin typeface="Noto Sans JP"/>
                        </a:rPr>
                        <a:t>Conservative, Balanced, Broad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33333"/>
                          </a:solidFill>
                          <a:latin typeface="Noto Sans JP"/>
                        </a:rPr>
                        <a:t>Scenario configurations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33333"/>
                          </a:solidFill>
                          <a:latin typeface="Noto Sans JP"/>
                        </a:rPr>
                        <a:t>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33333"/>
                          </a:solidFill>
                          <a:latin typeface="Noto Sans JP"/>
                        </a:rPr>
                        <a:t>Independent seeds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33333"/>
                          </a:solidFill>
                          <a:latin typeface="Noto Sans JP"/>
                        </a:rPr>
                        <a:t>100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Noto Sans JP"/>
                        </a:rPr>
                        <a:t>Conditional evaluations</a:t>
                      </a:r>
                    </a:p>
                  </a:txBody>
                  <a:tcPr marL="36576" marR="36576" marT="27432" marB="2743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33333"/>
                          </a:solidFill>
                          <a:latin typeface="Noto Sans JP"/>
                        </a:rPr>
                        <a:t>2,700</a:t>
                      </a:r>
                    </a:p>
                  </a:txBody>
                  <a:tcPr marL="36576" marR="36576" marT="27432" marB="2743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600" b="1" i="0" dirty="0">
                <a:solidFill>
                  <a:srgbClr val="007E8F"/>
                </a:solidFill>
                <a:latin typeface="Noto Sans JP"/>
              </a:rPr>
              <a:t>Customer demand, service times, route proxies, and operational outcomes are generated for exploratory analysis and do not represent observed delivery operations.</a:t>
            </a:r>
          </a:p>
        </p:txBody>
      </p:sp>
    </p:spTree>
    <p:extLst>
      <p:ext uri="{BB962C8B-B14F-4D97-AF65-F5344CB8AC3E}">
        <p14:creationId xmlns:p14="http://schemas.microsoft.com/office/powerpoint/2010/main" val="1881234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882F0-01A5-8091-1CF7-C18533DC4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200" b="1" i="0">
                <a:solidFill>
                  <a:srgbClr val="333333"/>
                </a:solidFill>
                <a:latin typeface="Noto Sans JP"/>
              </a:rPr>
              <a:t>Generated Scenario and Route Proxy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0972800" cy="32004"/>
          </a:xfrm>
          <a:prstGeom prst="rect">
            <a:avLst/>
          </a:prstGeom>
          <a:solidFill>
            <a:srgbClr val="007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50392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0" i="0">
                <a:solidFill>
                  <a:srgbClr val="333333"/>
                </a:solidFill>
                <a:latin typeface="Noto Sans JP"/>
              </a:rPr>
              <a:t>We constructed a common route proxy to compare how customer configurations and vehicle assignments affect the evaluated operational constraints.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6992"/>
            <a:ext cx="2011680" cy="292608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19" b="1" i="0">
                <a:solidFill>
                  <a:srgbClr val="FFFFFF"/>
                </a:solidFill>
                <a:latin typeface="Noto Sans JP"/>
              </a:rPr>
              <a:t>Customer Sampling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79600"/>
            <a:ext cx="20116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0" b="0" i="0">
                <a:solidFill>
                  <a:srgbClr val="333333"/>
                </a:solidFill>
                <a:latin typeface="Noto Sans JP"/>
              </a:rPr>
              <a:t>population-weighted</a:t>
            </a:r>
          </a:p>
          <a:p>
            <a:pPr algn="ctr"/>
            <a:r>
              <a:rPr sz="980" b="0" i="0">
                <a:solidFill>
                  <a:srgbClr val="333333"/>
                </a:solidFill>
                <a:latin typeface="Noto Sans JP"/>
              </a:rPr>
              <a:t>synthetic locations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87752" y="2108784"/>
            <a:ext cx="201168" cy="155448"/>
          </a:xfrm>
          <a:prstGeom prst="rightArrow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24912" y="1486992"/>
            <a:ext cx="2011680" cy="292608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19" b="1" i="0">
                <a:solidFill>
                  <a:srgbClr val="FFFFFF"/>
                </a:solidFill>
                <a:latin typeface="Noto Sans JP"/>
              </a:rPr>
              <a:t>Vehicle Assignment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4912" y="1779600"/>
            <a:ext cx="20116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0" b="0" i="0">
                <a:solidFill>
                  <a:srgbClr val="333333"/>
                </a:solidFill>
                <a:latin typeface="Noto Sans JP"/>
              </a:rPr>
              <a:t>KMeans-based</a:t>
            </a:r>
          </a:p>
          <a:p>
            <a:pPr algn="ctr"/>
            <a:r>
              <a:rPr sz="980" b="0" i="0">
                <a:solidFill>
                  <a:srgbClr val="333333"/>
                </a:solidFill>
                <a:latin typeface="Noto Sans JP"/>
              </a:rPr>
              <a:t>route grouping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64024" y="2108784"/>
            <a:ext cx="201168" cy="155448"/>
          </a:xfrm>
          <a:prstGeom prst="rightArrow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01184" y="1486992"/>
            <a:ext cx="2011680" cy="292608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19" b="1" i="0">
                <a:solidFill>
                  <a:srgbClr val="FFFFFF"/>
                </a:solidFill>
                <a:latin typeface="Noto Sans JP"/>
              </a:rPr>
              <a:t>Visit Order Proxy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01184" y="1779600"/>
            <a:ext cx="20116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0" b="0" i="0">
                <a:solidFill>
                  <a:srgbClr val="333333"/>
                </a:solidFill>
                <a:latin typeface="Noto Sans JP"/>
              </a:rPr>
              <a:t>nearest-neighbor</a:t>
            </a:r>
          </a:p>
          <a:p>
            <a:pPr algn="ctr"/>
            <a:r>
              <a:rPr sz="980" b="0" i="0">
                <a:solidFill>
                  <a:srgbClr val="333333"/>
                </a:solidFill>
                <a:latin typeface="Noto Sans JP"/>
              </a:rPr>
              <a:t>sequence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940296" y="2108784"/>
            <a:ext cx="201168" cy="155448"/>
          </a:xfrm>
          <a:prstGeom prst="rightArrow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77456" y="1486992"/>
            <a:ext cx="2011680" cy="292608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19" b="1" i="0">
                <a:solidFill>
                  <a:srgbClr val="FFFFFF"/>
                </a:solidFill>
                <a:latin typeface="Noto Sans JP"/>
              </a:rPr>
              <a:t>Distance Proxy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77456" y="1779600"/>
            <a:ext cx="20116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0" b="0" i="0">
                <a:solidFill>
                  <a:srgbClr val="333333"/>
                </a:solidFill>
                <a:latin typeface="Noto Sans JP"/>
              </a:rPr>
              <a:t>Haversine distance</a:t>
            </a:r>
          </a:p>
          <a:p>
            <a:pPr algn="ctr"/>
            <a:r>
              <a:rPr sz="980" b="0" i="0">
                <a:solidFill>
                  <a:srgbClr val="333333"/>
                </a:solidFill>
                <a:latin typeface="Noto Sans JP"/>
              </a:rPr>
              <a:t>× road multiplier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16568" y="2108784"/>
            <a:ext cx="201168" cy="155448"/>
          </a:xfrm>
          <a:prstGeom prst="rightArrow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253728" y="1486992"/>
            <a:ext cx="2011680" cy="292608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19" b="1" i="0">
                <a:solidFill>
                  <a:srgbClr val="FFFFFF"/>
                </a:solidFill>
                <a:latin typeface="Noto Sans JP"/>
              </a:rPr>
              <a:t>Charger Access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53728" y="1779600"/>
            <a:ext cx="20116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0" b="0" i="0">
                <a:solidFill>
                  <a:srgbClr val="333333"/>
                </a:solidFill>
                <a:latin typeface="Noto Sans JP"/>
              </a:rPr>
              <a:t>nearest retained</a:t>
            </a:r>
          </a:p>
          <a:p>
            <a:pPr algn="ctr"/>
            <a:r>
              <a:rPr sz="980" b="0" i="0">
                <a:solidFill>
                  <a:srgbClr val="333333"/>
                </a:solidFill>
                <a:latin typeface="Noto Sans JP"/>
              </a:rPr>
              <a:t>charger candidate</a:t>
            </a: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41606D6D-836C-E6D2-2B68-ECB664544D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14"/>
          <a:stretch>
            <a:fillRect/>
          </a:stretch>
        </p:blipFill>
        <p:spPr>
          <a:xfrm>
            <a:off x="2484792" y="2765200"/>
            <a:ext cx="7222415" cy="3665853"/>
          </a:xfrm>
          <a:prstGeom prst="rect">
            <a:avLst/>
          </a:prstGeom>
        </p:spPr>
      </p:pic>
      <p:sp>
        <p:nvSpPr>
          <p:cNvPr id="38" name="TextBox 35">
            <a:extLst>
              <a:ext uri="{FF2B5EF4-FFF2-40B4-BE49-F238E27FC236}">
                <a16:creationId xmlns:a16="http://schemas.microsoft.com/office/drawing/2014/main" id="{1C93D488-C1B4-8BD5-F575-43FA1EEFBB63}"/>
              </a:ext>
            </a:extLst>
          </p:cNvPr>
          <p:cNvSpPr txBox="1"/>
          <p:nvPr/>
        </p:nvSpPr>
        <p:spPr>
          <a:xfrm>
            <a:off x="1343298" y="6445358"/>
            <a:ext cx="1005840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0" i="0" dirty="0">
                <a:solidFill>
                  <a:srgbClr val="4D4D4D"/>
                </a:solidFill>
                <a:latin typeface="Noto Sans JP"/>
              </a:rPr>
              <a:t>Note: This is not an optimized EVRP solution, observed delivery route, or actual road-network route.</a:t>
            </a:r>
          </a:p>
        </p:txBody>
      </p:sp>
    </p:spTree>
    <p:extLst>
      <p:ext uri="{BB962C8B-B14F-4D97-AF65-F5344CB8AC3E}">
        <p14:creationId xmlns:p14="http://schemas.microsoft.com/office/powerpoint/2010/main" val="3370938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200" b="1" i="0">
                <a:solidFill>
                  <a:srgbClr val="333333"/>
                </a:solidFill>
                <a:latin typeface="Noto Sans JP"/>
              </a:rPr>
              <a:t>What the Constraint Results Imply for Modeling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0972800" cy="32004"/>
          </a:xfrm>
          <a:prstGeom prst="rect">
            <a:avLst/>
          </a:prstGeom>
          <a:solidFill>
            <a:srgbClr val="007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50392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0" i="0">
                <a:solidFill>
                  <a:srgbClr val="333333"/>
                </a:solidFill>
                <a:latin typeface="Noto Sans JP"/>
              </a:rPr>
              <a:t>The analysis identifies which application conditions may need to be represented before formulation and resource estimation.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215537"/>
              </p:ext>
            </p:extLst>
          </p:nvPr>
        </p:nvGraphicFramePr>
        <p:xfrm>
          <a:off x="655320" y="1643748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algn="ctr"/>
                      <a:r>
                        <a:rPr sz="1019" b="1" dirty="0">
                          <a:solidFill>
                            <a:srgbClr val="FFFFFF"/>
                          </a:solidFill>
                          <a:latin typeface="Noto Sans JP"/>
                        </a:rPr>
                        <a:t>Constraint</a:t>
                      </a:r>
                    </a:p>
                  </a:txBody>
                  <a:tcPr marL="36576" marR="36576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 dirty="0">
                          <a:solidFill>
                            <a:srgbClr val="FFFFFF"/>
                          </a:solidFill>
                          <a:latin typeface="Noto Sans JP"/>
                        </a:rPr>
                        <a:t>Provisional Result</a:t>
                      </a:r>
                    </a:p>
                  </a:txBody>
                  <a:tcPr marL="36576" marR="36576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 dirty="0">
                          <a:solidFill>
                            <a:srgbClr val="FFFFFF"/>
                          </a:solidFill>
                          <a:latin typeface="Noto Sans JP"/>
                        </a:rPr>
                        <a:t>Modeling Implication</a:t>
                      </a:r>
                    </a:p>
                  </a:txBody>
                  <a:tcPr marL="36576" marR="36576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969" b="0" dirty="0">
                          <a:solidFill>
                            <a:srgbClr val="333333"/>
                          </a:solidFill>
                          <a:latin typeface="Noto Sans JP"/>
                        </a:rPr>
                        <a:t>Payload</a:t>
                      </a:r>
                    </a:p>
                  </a:txBody>
                  <a:tcPr marL="36576" marR="36576" marT="27432" marB="274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333333"/>
                          </a:solidFill>
                          <a:latin typeface="Noto Sans JP"/>
                        </a:rPr>
                        <a:t>0.0% unmet</a:t>
                      </a:r>
                    </a:p>
                  </a:txBody>
                  <a:tcPr marL="36576" marR="36576" marT="27432" marB="274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dirty="0">
                          <a:solidFill>
                            <a:srgbClr val="333333"/>
                          </a:solidFill>
                          <a:latin typeface="Noto Sans JP"/>
                        </a:rPr>
                        <a:t>Capacity was not binding under current demand assumptions</a:t>
                      </a:r>
                    </a:p>
                  </a:txBody>
                  <a:tcPr marL="36576" marR="36576" marT="27432" marB="274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333333"/>
                          </a:solidFill>
                          <a:latin typeface="Noto Sans JP"/>
                        </a:rPr>
                        <a:t>Operating time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333333"/>
                          </a:solidFill>
                          <a:latin typeface="Noto Sans JP"/>
                        </a:rPr>
                        <a:t>33.5% unmet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dirty="0">
                          <a:solidFill>
                            <a:srgbClr val="333333"/>
                          </a:solidFill>
                          <a:latin typeface="Noto Sans JP"/>
                        </a:rPr>
                        <a:t>Time and service duration should be represented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333333"/>
                          </a:solidFill>
                          <a:latin typeface="Noto Sans JP"/>
                        </a:rPr>
                        <a:t>Range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333333"/>
                          </a:solidFill>
                          <a:latin typeface="Noto Sans JP"/>
                        </a:rPr>
                        <a:t>64.4% unmet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333333"/>
                          </a:solidFill>
                          <a:latin typeface="Noto Sans JP"/>
                        </a:rPr>
                        <a:t>EV range cannot be omitted from the model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333333"/>
                          </a:solidFill>
                          <a:latin typeface="Noto Sans JP"/>
                        </a:rPr>
                        <a:t>SOC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333333"/>
                          </a:solidFill>
                          <a:latin typeface="Noto Sans JP"/>
                        </a:rPr>
                        <a:t>Not evaluated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333333"/>
                          </a:solidFill>
                          <a:latin typeface="Noto Sans JP"/>
                        </a:rPr>
                        <a:t>Sequential SOC modeling is required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333333"/>
                          </a:solidFill>
                          <a:latin typeface="Noto Sans JP"/>
                        </a:rPr>
                        <a:t>Charging access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333333"/>
                          </a:solidFill>
                          <a:latin typeface="Noto Sans JP"/>
                        </a:rPr>
                        <a:t>10.7% unmet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333333"/>
                          </a:solidFill>
                          <a:latin typeface="Noto Sans JP"/>
                        </a:rPr>
                        <a:t>Geographic access alone is insufficient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333333"/>
                          </a:solidFill>
                          <a:latin typeface="Noto Sans JP"/>
                        </a:rPr>
                        <a:t>Charging-assisted range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333333"/>
                          </a:solidFill>
                          <a:latin typeface="Noto Sans JP"/>
                        </a:rPr>
                        <a:t>33.3% unmet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333333"/>
                          </a:solidFill>
                          <a:latin typeface="Noto Sans JP"/>
                        </a:rPr>
                        <a:t>Charging support changes feasibility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969" b="0" dirty="0">
                          <a:solidFill>
                            <a:srgbClr val="333333"/>
                          </a:solidFill>
                          <a:latin typeface="Noto Sans JP"/>
                        </a:rPr>
                        <a:t>Charging duration</a:t>
                      </a:r>
                    </a:p>
                  </a:txBody>
                  <a:tcPr marL="36576" marR="36576" marT="27432" marB="2743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dirty="0">
                          <a:solidFill>
                            <a:srgbClr val="333333"/>
                          </a:solidFill>
                          <a:latin typeface="Noto Sans JP"/>
                        </a:rPr>
                        <a:t>15.3% unmet</a:t>
                      </a:r>
                    </a:p>
                  </a:txBody>
                  <a:tcPr marL="36576" marR="36576" marT="27432" marB="2743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dirty="0">
                          <a:solidFill>
                            <a:srgbClr val="333333"/>
                          </a:solidFill>
                          <a:latin typeface="Noto Sans JP"/>
                        </a:rPr>
                        <a:t>Charger power and duration conditions matter</a:t>
                      </a:r>
                    </a:p>
                  </a:txBody>
                  <a:tcPr marL="36576" marR="36576" marT="27432" marB="2743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5">
            <a:extLst>
              <a:ext uri="{FF2B5EF4-FFF2-40B4-BE49-F238E27FC236}">
                <a16:creationId xmlns:a16="http://schemas.microsoft.com/office/drawing/2014/main" id="{D063954D-11BF-E1C2-46A8-F3DF2D6A6FA6}"/>
              </a:ext>
            </a:extLst>
          </p:cNvPr>
          <p:cNvSpPr txBox="1"/>
          <p:nvPr/>
        </p:nvSpPr>
        <p:spPr>
          <a:xfrm>
            <a:off x="655320" y="6103407"/>
            <a:ext cx="10881360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0" i="0" dirty="0">
                <a:solidFill>
                  <a:srgbClr val="4D4D4D"/>
                </a:solidFill>
                <a:latin typeface="Noto Sans JP"/>
              </a:rPr>
              <a:t>Interpretation: model-conditional unmet rates are not observed failures; they are signals for deciding which constraints require explicit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2673187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200" b="1" i="0">
                <a:solidFill>
                  <a:srgbClr val="333333"/>
                </a:solidFill>
                <a:latin typeface="Noto Sans JP"/>
              </a:rPr>
              <a:t>Variation Across Scenarios and One-at-a-Time Parameter Changes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0972800" cy="32004"/>
          </a:xfrm>
          <a:prstGeom prst="rect">
            <a:avLst/>
          </a:prstGeom>
          <a:solidFill>
            <a:srgbClr val="007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50392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0" i="0">
                <a:solidFill>
                  <a:srgbClr val="333333"/>
                </a:solidFill>
                <a:latin typeface="Noto Sans JP"/>
              </a:rPr>
              <a:t>Quantum-resource estimates may depend strongly on application assumptions such as fleet size, usable range, service time, and route-distance representation.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74520"/>
            <a:ext cx="3474720" cy="384048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High Response to Parameter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108960" cy="147713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Operating-time limit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Range feasibility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Charging-assisted range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Charging-duration feasibility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874520"/>
            <a:ext cx="3474720" cy="384048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Lower Response Under Current 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331720"/>
            <a:ext cx="3108960" cy="738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Payload capacity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Charging-station 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874520"/>
            <a:ext cx="3291840" cy="384048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Not Yet Assessable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331720"/>
            <a:ext cx="2926080" cy="738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200000"/>
              </a:lnSpc>
            </a:pPr>
            <a:r>
              <a:rPr sz="1200" b="0" i="0">
                <a:solidFill>
                  <a:srgbClr val="333333"/>
                </a:solidFill>
                <a:latin typeface="Noto Sans JP"/>
              </a:rPr>
              <a:t>• SOC feasibility requires sequential state-of-charge modeling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210599"/>
            <a:ext cx="103327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600" b="1" i="0" dirty="0">
                <a:solidFill>
                  <a:srgbClr val="007E8F"/>
                </a:solidFill>
                <a:latin typeface="Noto Sans JP"/>
              </a:rPr>
              <a:t>Main implication: before comparing qubit counts or resource estimates, assumptions about vehicle count, usable range, service time, and route-distance representation must be made explicit and comparable.</a:t>
            </a:r>
          </a:p>
        </p:txBody>
      </p:sp>
    </p:spTree>
    <p:extLst>
      <p:ext uri="{BB962C8B-B14F-4D97-AF65-F5344CB8AC3E}">
        <p14:creationId xmlns:p14="http://schemas.microsoft.com/office/powerpoint/2010/main" val="1598287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200" b="1" i="0">
                <a:solidFill>
                  <a:srgbClr val="333333"/>
                </a:solidFill>
                <a:latin typeface="Noto Sans JP"/>
              </a:rPr>
              <a:t>Comparison with Current Quantum-VRP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0972800" cy="32004"/>
          </a:xfrm>
          <a:prstGeom prst="rect">
            <a:avLst/>
          </a:prstGeom>
          <a:solidFill>
            <a:srgbClr val="007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50392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0" i="0">
                <a:solidFill>
                  <a:srgbClr val="333333"/>
                </a:solidFill>
                <a:latin typeface="Noto Sans JP"/>
              </a:rPr>
              <a:t>Current quantum-VRP studies do not yet provide a consistent basis for application evaluation because scale, operational representation, and validation evidence are not aligned across studies.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831632"/>
            <a:ext cx="3291840" cy="347472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Scale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243112"/>
            <a:ext cx="329184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 i="0" dirty="0">
                <a:solidFill>
                  <a:srgbClr val="333333"/>
                </a:solidFill>
                <a:latin typeface="Noto Sans JP"/>
              </a:rPr>
              <a:t>Customer, vehicle, and route-candidate scales vary considerably across studies.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3751872"/>
            <a:ext cx="32918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007E8F"/>
                </a:solidFill>
                <a:latin typeface="Noto Sans JP"/>
              </a:rPr>
              <a:t>Comparable scale indicators are needed.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50080" y="1831632"/>
            <a:ext cx="3291840" cy="347472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Constraint Representation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0080" y="2243112"/>
            <a:ext cx="329184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Noto Sans JP"/>
              </a:rPr>
              <a:t>Core routing constraints are partially represented; EV-specific constraints remain limited.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0080" y="3751872"/>
            <a:ext cx="32918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007E8F"/>
                </a:solidFill>
                <a:latin typeface="Noto Sans JP"/>
              </a:rPr>
              <a:t>Requirement representation should be separated from validation.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90560" y="1831632"/>
            <a:ext cx="3291840" cy="347472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Validation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0560" y="2243112"/>
            <a:ext cx="329184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 i="0">
                <a:solidFill>
                  <a:srgbClr val="333333"/>
                </a:solidFill>
                <a:latin typeface="Noto Sans JP"/>
              </a:rPr>
              <a:t>Evaluation modalities differ across formulation, simulation, hardware execution, and resource estimation.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90560" y="3751872"/>
            <a:ext cx="32918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007E8F"/>
                </a:solidFill>
                <a:latin typeface="Noto Sans JP"/>
              </a:rPr>
              <a:t>Evidence type and comparison basis must be reported.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074920"/>
            <a:ext cx="103327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600" b="1" i="0" dirty="0">
                <a:solidFill>
                  <a:srgbClr val="007E8F"/>
                </a:solidFill>
                <a:latin typeface="Noto Sans JP"/>
              </a:rPr>
              <a:t>Representation of a requirement does not necessarily mean that it has been validated under operationally representative conditions.</a:t>
            </a:r>
          </a:p>
        </p:txBody>
      </p:sp>
    </p:spTree>
    <p:extLst>
      <p:ext uri="{BB962C8B-B14F-4D97-AF65-F5344CB8AC3E}">
        <p14:creationId xmlns:p14="http://schemas.microsoft.com/office/powerpoint/2010/main" val="1151908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200" b="1" i="0">
                <a:solidFill>
                  <a:srgbClr val="333333"/>
                </a:solidFill>
                <a:latin typeface="Noto Sans JP"/>
              </a:rPr>
              <a:t>Research Contribution and Next Stage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0972800" cy="32004"/>
          </a:xfrm>
          <a:prstGeom prst="rect">
            <a:avLst/>
          </a:prstGeom>
          <a:solidFill>
            <a:srgbClr val="007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106070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50" b="1" i="0">
                <a:solidFill>
                  <a:srgbClr val="007E8F"/>
                </a:solidFill>
                <a:latin typeface="Noto Sans JP"/>
              </a:rPr>
              <a:t>Contribution: This study shifts the question from “How many qubits does a published instance require?” to “What application requirements must first be represented for that qubit estimate to be meaningful?”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148840"/>
            <a:ext cx="5029200" cy="347472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Direction A: Increase Operational Realism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4709160" cy="18464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Road-network distances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Observed or calibrated demand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Time windows, SOC, and charging dynamics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Classical optimization baseline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Operational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148840"/>
            <a:ext cx="5029200" cy="347472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JP"/>
              </a:rPr>
              <a:t>Direction B: Develop the Application-Stage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606040"/>
            <a:ext cx="4709160" cy="18464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Problem instances and required constraints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Formulation-specific resource implications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Expected quantum-technology stages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Staged quantum utility</a:t>
            </a:r>
          </a:p>
          <a:p>
            <a:pPr>
              <a:lnSpc>
                <a:spcPct val="200000"/>
              </a:lnSpc>
            </a:pPr>
            <a:r>
              <a:rPr sz="1200" b="0" i="0" dirty="0">
                <a:solidFill>
                  <a:srgbClr val="333333"/>
                </a:solidFill>
                <a:latin typeface="Noto Sans JP"/>
              </a:rPr>
              <a:t>• Adjacent transport technologies and expert expectations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715000" y="3154680"/>
            <a:ext cx="502920" cy="274320"/>
          </a:xfrm>
          <a:prstGeom prst="rightArrow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37715" y="4901473"/>
            <a:ext cx="5410200" cy="2554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300" b="1" i="0" dirty="0">
                <a:solidFill>
                  <a:srgbClr val="007E8F"/>
                </a:solidFill>
                <a:latin typeface="Noto Sans JP"/>
              </a:rPr>
              <a:t>Operational grounding informs the application-stage framework.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235" y="5632993"/>
            <a:ext cx="8982974" cy="27084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1" i="0" dirty="0">
                <a:solidFill>
                  <a:srgbClr val="333333"/>
                </a:solidFill>
                <a:latin typeface="Noto Sans JP"/>
              </a:rPr>
              <a:t>How should these two directions be connected in the next research stage?</a:t>
            </a:r>
          </a:p>
        </p:txBody>
      </p:sp>
    </p:spTree>
    <p:extLst>
      <p:ext uri="{BB962C8B-B14F-4D97-AF65-F5344CB8AC3E}">
        <p14:creationId xmlns:p14="http://schemas.microsoft.com/office/powerpoint/2010/main" val="2841172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200" b="1" i="0">
                <a:solidFill>
                  <a:srgbClr val="333333"/>
                </a:solidFill>
                <a:latin typeface="Noto Sans JP"/>
              </a:rPr>
              <a:t>Appendix A: Detailed Open-Data Inputs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0972800" cy="32004"/>
          </a:xfrm>
          <a:prstGeom prst="rect">
            <a:avLst/>
          </a:prstGeom>
          <a:solidFill>
            <a:srgbClr val="007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129324"/>
              </p:ext>
            </p:extLst>
          </p:nvPr>
        </p:nvGraphicFramePr>
        <p:xfrm>
          <a:off x="411480" y="1143000"/>
          <a:ext cx="1133856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ctr"/>
                      <a:r>
                        <a:rPr sz="1020" b="1" dirty="0">
                          <a:solidFill>
                            <a:srgbClr val="FFFFFF"/>
                          </a:solidFill>
                          <a:latin typeface="Noto Sans JP"/>
                        </a:rPr>
                        <a:t>Input</a:t>
                      </a:r>
                    </a:p>
                  </a:txBody>
                  <a:tcPr marL="36576" marR="36576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1" dirty="0">
                          <a:solidFill>
                            <a:srgbClr val="FFFFFF"/>
                          </a:solidFill>
                          <a:latin typeface="Noto Sans JP"/>
                        </a:rPr>
                        <a:t>Records Used</a:t>
                      </a:r>
                    </a:p>
                  </a:txBody>
                  <a:tcPr marL="36576" marR="36576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1" dirty="0">
                          <a:solidFill>
                            <a:srgbClr val="FFFFFF"/>
                          </a:solidFill>
                          <a:latin typeface="Noto Sans JP"/>
                        </a:rPr>
                        <a:t>Analytical Role</a:t>
                      </a:r>
                    </a:p>
                  </a:txBody>
                  <a:tcPr marL="36576" marR="36576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1" dirty="0">
                          <a:solidFill>
                            <a:srgbClr val="FFFFFF"/>
                          </a:solidFill>
                          <a:latin typeface="Noto Sans JP"/>
                        </a:rPr>
                        <a:t>Key Limitation</a:t>
                      </a:r>
                    </a:p>
                  </a:txBody>
                  <a:tcPr marL="36576" marR="36576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e-Stat Tokyo population mesh</a:t>
                      </a:r>
                    </a:p>
                  </a:txBody>
                  <a:tcPr marL="36576" marR="36576" marT="27432" marB="274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5,448 mesh cells</a:t>
                      </a:r>
                    </a:p>
                  </a:txBody>
                  <a:tcPr marL="36576" marR="36576" marT="27432" marB="274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Population weights for synthetic customer sampling and spatial context</a:t>
                      </a:r>
                    </a:p>
                  </a:txBody>
                  <a:tcPr marL="36576" marR="36576" marT="27432" marB="274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Not observed customer demand or delivery records</a:t>
                      </a:r>
                    </a:p>
                  </a:txBody>
                  <a:tcPr marL="36576" marR="36576" marT="27432" marB="274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Open Charge Map records clipped to Tokyo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137 charger-connection records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Charger candidate screening and nearest-candidate distance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Not real-time availability, queues, or actual charger use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National Land Numerical Information: Logistics Facilities Data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440 depot candidates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Candidate depot locations and depot proxy selection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Not actual company depots or operational capacity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Public vehicle-specification data</a:t>
                      </a:r>
                    </a:p>
                  </a:txBody>
                  <a:tcPr marL="36576" marR="36576" marT="27432" marB="2743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10 vehicle records</a:t>
                      </a:r>
                    </a:p>
                  </a:txBody>
                  <a:tcPr marL="36576" marR="36576" marT="27432" marB="2743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Battery capacity, catalog range, payload capacity, usable-range assumption</a:t>
                      </a:r>
                    </a:p>
                  </a:txBody>
                  <a:tcPr marL="36576" marR="36576" marT="27432" marB="2743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Not observed fleet performance, degradation, or SOC trajectories</a:t>
                      </a:r>
                    </a:p>
                  </a:txBody>
                  <a:tcPr marL="36576" marR="36576" marT="27432" marB="2743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200" b="1" i="0">
                <a:solidFill>
                  <a:srgbClr val="333333"/>
                </a:solidFill>
                <a:latin typeface="Noto Sans JP"/>
              </a:rPr>
              <a:t>Appendix B: Scenario Design and Evaluation Settings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0972800" cy="32004"/>
          </a:xfrm>
          <a:prstGeom prst="rect">
            <a:avLst/>
          </a:prstGeom>
          <a:solidFill>
            <a:srgbClr val="007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554996"/>
              </p:ext>
            </p:extLst>
          </p:nvPr>
        </p:nvGraphicFramePr>
        <p:xfrm>
          <a:off x="1097280" y="1051560"/>
          <a:ext cx="996696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algn="ctr"/>
                      <a:r>
                        <a:rPr sz="1020" b="1" dirty="0">
                          <a:solidFill>
                            <a:srgbClr val="FFFFFF"/>
                          </a:solidFill>
                          <a:latin typeface="Noto Sans JP"/>
                        </a:rPr>
                        <a:t>Category</a:t>
                      </a:r>
                    </a:p>
                  </a:txBody>
                  <a:tcPr marL="36576" marR="36576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1" dirty="0">
                          <a:solidFill>
                            <a:srgbClr val="FFFFFF"/>
                          </a:solidFill>
                          <a:latin typeface="Noto Sans JP"/>
                        </a:rPr>
                        <a:t>Evaluation Dimension</a:t>
                      </a:r>
                    </a:p>
                  </a:txBody>
                  <a:tcPr marL="36576" marR="36576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1" dirty="0">
                          <a:solidFill>
                            <a:srgbClr val="FFFFFF"/>
                          </a:solidFill>
                          <a:latin typeface="Noto Sans JP"/>
                        </a:rPr>
                        <a:t>Current Setting</a:t>
                      </a:r>
                    </a:p>
                  </a:txBody>
                  <a:tcPr marL="36576" marR="36576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Problem Scale</a:t>
                      </a:r>
                    </a:p>
                  </a:txBody>
                  <a:tcPr marL="36576" marR="36576" marT="27432" marB="274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Number of customers</a:t>
                      </a:r>
                    </a:p>
                  </a:txBody>
                  <a:tcPr marL="36576" marR="36576" marT="27432" marB="274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25, 50, 100</a:t>
                      </a:r>
                    </a:p>
                  </a:txBody>
                  <a:tcPr marL="36576" marR="36576" marT="27432" marB="274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endParaRPr sz="970" dirty="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Number of vehicles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1, 3, 5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endParaRPr sz="97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Charger-availability condition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Conservative, Balanced, Broad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Operational Assumptions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Usable driving range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81.2 km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endParaRPr sz="97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Vehicle payload capacity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2,000 kg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endParaRPr sz="97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Operating-time limit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480 min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endParaRPr sz="97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Assumed travel speed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25 km/h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Scenario Design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Factorial scenario structure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3 × 3 × 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endParaRPr sz="97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Total scenario configurations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endParaRPr sz="97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Independent random seeds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100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endParaRPr sz="97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Configurations by customer-count level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300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Evaluation Volume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Conditional evaluations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2,700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endParaRPr sz="97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Route-condition evaluations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8,100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endParaRPr sz="97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Synthetic customer records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17,500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endParaRPr sz="970"/>
                    </a:p>
                  </a:txBody>
                  <a:tcPr marL="36576" marR="36576" marT="27432" marB="2743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Bootstrap iterations</a:t>
                      </a:r>
                    </a:p>
                  </a:txBody>
                  <a:tcPr marL="36576" marR="36576" marT="27432" marB="2743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1,000</a:t>
                      </a:r>
                    </a:p>
                  </a:txBody>
                  <a:tcPr marL="36576" marR="36576" marT="27432" marB="2743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200" b="1" i="0">
                <a:solidFill>
                  <a:srgbClr val="333333"/>
                </a:solidFill>
                <a:latin typeface="Noto Sans JP"/>
              </a:rPr>
              <a:t>Appendix C: Detailed Operational-Constraint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0972800" cy="32004"/>
          </a:xfrm>
          <a:prstGeom prst="rect">
            <a:avLst/>
          </a:prstGeom>
          <a:solidFill>
            <a:srgbClr val="007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94024"/>
              </p:ext>
            </p:extLst>
          </p:nvPr>
        </p:nvGraphicFramePr>
        <p:xfrm>
          <a:off x="320040" y="960120"/>
          <a:ext cx="1156716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8655">
                <a:tc>
                  <a:txBody>
                    <a:bodyPr/>
                    <a:lstStyle/>
                    <a:p>
                      <a:pPr algn="ctr"/>
                      <a:r>
                        <a:rPr sz="1020" b="1" dirty="0">
                          <a:solidFill>
                            <a:srgbClr val="FFFFFF"/>
                          </a:solidFill>
                          <a:latin typeface="Noto Sans JP"/>
                        </a:rPr>
                        <a:t>Constraint</a:t>
                      </a:r>
                    </a:p>
                  </a:txBody>
                  <a:tcPr marL="36576" marR="36576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1" dirty="0">
                          <a:solidFill>
                            <a:srgbClr val="FFFFFF"/>
                          </a:solidFill>
                          <a:latin typeface="Noto Sans JP"/>
                        </a:rPr>
                        <a:t>Model-Conditional Unmet Rate</a:t>
                      </a:r>
                    </a:p>
                  </a:txBody>
                  <a:tcPr marL="36576" marR="36576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1" dirty="0">
                          <a:solidFill>
                            <a:srgbClr val="FFFFFF"/>
                          </a:solidFill>
                          <a:latin typeface="Noto Sans JP"/>
                        </a:rPr>
                        <a:t>Evaluation Method</a:t>
                      </a:r>
                    </a:p>
                  </a:txBody>
                  <a:tcPr marL="36576" marR="36576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1" dirty="0">
                          <a:solidFill>
                            <a:srgbClr val="FFFFFF"/>
                          </a:solidFill>
                          <a:latin typeface="Noto Sans JP"/>
                        </a:rPr>
                        <a:t>Current Basis and Limitation</a:t>
                      </a:r>
                    </a:p>
                  </a:txBody>
                  <a:tcPr marL="36576" marR="36576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Payload capacity</a:t>
                      </a:r>
                    </a:p>
                  </a:txBody>
                  <a:tcPr marL="36576" marR="36576" marT="27432" marB="274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0.0%</a:t>
                      </a:r>
                    </a:p>
                  </a:txBody>
                  <a:tcPr marL="36576" marR="36576" marT="27432" marB="274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Route demand compared with vehicle capacity</a:t>
                      </a:r>
                    </a:p>
                  </a:txBody>
                  <a:tcPr marL="36576" marR="36576" marT="27432" marB="274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Synthetic data with assumed parameters</a:t>
                      </a:r>
                    </a:p>
                  </a:txBody>
                  <a:tcPr marL="36576" marR="36576" marT="27432" marB="274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Operating-time limit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33.5%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Estimated travel and service duration vs. time limit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Synthetic route proxy with assumed parameters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Range feasibility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64.4%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Route-proxy distance compared with usable vehicle range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Manufacturer range with assumed usable ratio and route proxy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SOC feasibility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Not evaluated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Not evaluated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Sequential SOC modeling has not yet been implemented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Charging-station access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10.7%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Distance from route-proxy nodes to retained charger candidates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Public candidate geography with substantial attribute missingness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Charging-assisted range feasibility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33.3%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Simplified charging support for range-infeasible routes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Simplified proxy with public candidate geography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Charging-duration feasibility</a:t>
                      </a:r>
                    </a:p>
                  </a:txBody>
                  <a:tcPr marL="36576" marR="36576" marT="27432" marB="2743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15.3%</a:t>
                      </a:r>
                    </a:p>
                  </a:txBody>
                  <a:tcPr marL="36576" marR="36576" marT="27432" marB="2743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Simplified duration condition using reported charger power</a:t>
                      </a:r>
                    </a:p>
                  </a:txBody>
                  <a:tcPr marL="36576" marR="36576" marT="27432" marB="2743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Simplified duration proxy; actual charging behavior not evaluated</a:t>
                      </a:r>
                    </a:p>
                  </a:txBody>
                  <a:tcPr marL="36576" marR="36576" marT="27432" marB="2743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200" b="1" i="0">
                <a:solidFill>
                  <a:srgbClr val="333333"/>
                </a:solidFill>
                <a:latin typeface="Noto Sans JP"/>
              </a:rPr>
              <a:t>Appendix D: Variation and One-at-a-Time Parameter Checks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0972800" cy="32004"/>
          </a:xfrm>
          <a:prstGeom prst="rect">
            <a:avLst/>
          </a:prstGeom>
          <a:solidFill>
            <a:srgbClr val="007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414026"/>
              </p:ext>
            </p:extLst>
          </p:nvPr>
        </p:nvGraphicFramePr>
        <p:xfrm>
          <a:off x="502920" y="1051560"/>
          <a:ext cx="11201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020" b="1" dirty="0">
                          <a:solidFill>
                            <a:srgbClr val="FFFFFF"/>
                          </a:solidFill>
                          <a:latin typeface="Noto Sans JP"/>
                        </a:rPr>
                        <a:t>Constraint</a:t>
                      </a:r>
                    </a:p>
                  </a:txBody>
                  <a:tcPr marL="36576" marR="36576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1" dirty="0">
                          <a:solidFill>
                            <a:srgbClr val="FFFFFF"/>
                          </a:solidFill>
                          <a:latin typeface="Noto Sans JP"/>
                        </a:rPr>
                        <a:t>Across Customer Configurations</a:t>
                      </a:r>
                    </a:p>
                  </a:txBody>
                  <a:tcPr marL="36576" marR="36576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1" dirty="0">
                          <a:solidFill>
                            <a:srgbClr val="FFFFFF"/>
                          </a:solidFill>
                          <a:latin typeface="Noto Sans JP"/>
                        </a:rPr>
                        <a:t>Response to OAT Changes</a:t>
                      </a:r>
                    </a:p>
                  </a:txBody>
                  <a:tcPr marL="36576" marR="36576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1" dirty="0">
                          <a:solidFill>
                            <a:srgbClr val="FFFFFF"/>
                          </a:solidFill>
                          <a:latin typeface="Noto Sans JP"/>
                        </a:rPr>
                        <a:t>Main Related Conditions</a:t>
                      </a:r>
                    </a:p>
                  </a:txBody>
                  <a:tcPr marL="36576" marR="36576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Payload capacity</a:t>
                      </a:r>
                    </a:p>
                  </a:txBody>
                  <a:tcPr marL="36576" marR="36576" marT="27432" marB="274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Low</a:t>
                      </a:r>
                    </a:p>
                  </a:txBody>
                  <a:tcPr marL="36576" marR="36576" marT="27432" marB="274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Low</a:t>
                      </a:r>
                    </a:p>
                  </a:txBody>
                  <a:tcPr marL="36576" marR="36576" marT="27432" marB="274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Synthetic demand and vehicle capacity</a:t>
                      </a:r>
                    </a:p>
                  </a:txBody>
                  <a:tcPr marL="36576" marR="36576" marT="27432" marB="274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Operating-time limit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Low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High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Vehicle count, customer count, time limit, service time, speed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Range feasibility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Medium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High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Vehicle count, customer count, usable range/SOC reserve, road-distance multiplier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SOC feasibility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Not assessable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Not assessable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Sequential SOC model required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Charging-station access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Low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Low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Charger candidate set and access threshold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Charging-assisted range feasibility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Medium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High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Vehicle count, customer count, usable range/SOC reserve, road-distance multiplier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Charging-duration feasibility</a:t>
                      </a:r>
                    </a:p>
                  </a:txBody>
                  <a:tcPr marL="36576" marR="36576" marT="27432" marB="2743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Low</a:t>
                      </a:r>
                    </a:p>
                  </a:txBody>
                  <a:tcPr marL="36576" marR="36576" marT="27432" marB="2743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>
                          <a:solidFill>
                            <a:srgbClr val="333333"/>
                          </a:solidFill>
                          <a:latin typeface="Noto Sans JP"/>
                        </a:rPr>
                        <a:t>High</a:t>
                      </a:r>
                    </a:p>
                  </a:txBody>
                  <a:tcPr marL="36576" marR="36576" marT="27432" marB="2743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0" b="0" dirty="0">
                          <a:solidFill>
                            <a:srgbClr val="333333"/>
                          </a:solidFill>
                          <a:latin typeface="Noto Sans JP"/>
                        </a:rPr>
                        <a:t>Vehicle count, duration limit, customer count</a:t>
                      </a:r>
                    </a:p>
                  </a:txBody>
                  <a:tcPr marL="36576" marR="36576" marT="27432" marB="2743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200" b="1" i="0">
                <a:solidFill>
                  <a:srgbClr val="333333"/>
                </a:solidFill>
                <a:latin typeface="Noto Sans JP"/>
              </a:rPr>
              <a:t>Appendix E: Quantum Routing Studies Reviewed for Circuit-Width Extraction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0972800" cy="32004"/>
          </a:xfrm>
          <a:prstGeom prst="rect">
            <a:avLst/>
          </a:prstGeom>
          <a:solidFill>
            <a:srgbClr val="007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25780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 i="0" dirty="0">
                <a:solidFill>
                  <a:srgbClr val="007E8F"/>
                </a:solidFill>
                <a:latin typeface="Noto Sans JP"/>
              </a:rPr>
              <a:t>Azad et al. (2020)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99032"/>
            <a:ext cx="5257800" cy="3939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 i="0" dirty="0">
                <a:solidFill>
                  <a:srgbClr val="333333"/>
                </a:solidFill>
                <a:latin typeface="Noto Sans JP"/>
              </a:rPr>
              <a:t>Solving Vehicle Routing Problem Using Quantum Approximate Optimization Algorithm. arXiv:2002.01351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47672"/>
            <a:ext cx="5257800" cy="22467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 i="0">
                <a:solidFill>
                  <a:srgbClr val="4D4D4D"/>
                </a:solidFill>
                <a:latin typeface="Noto Sans JP"/>
              </a:rPr>
              <a:t>https://arxiv.org/abs/2002.01351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525780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 i="0">
                <a:solidFill>
                  <a:srgbClr val="007E8F"/>
                </a:solidFill>
                <a:latin typeface="Noto Sans JP"/>
              </a:rPr>
              <a:t>Palackal et al. (2023)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07791"/>
            <a:ext cx="5257800" cy="3939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Noto Sans JP"/>
              </a:rPr>
              <a:t>Quantum-Assisted Solution Paths for the Capacitated Vehicle Routing Problem. arXiv:2304.09629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56432"/>
            <a:ext cx="5257800" cy="22467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 i="0">
                <a:solidFill>
                  <a:srgbClr val="4D4D4D"/>
                </a:solidFill>
                <a:latin typeface="Noto Sans JP"/>
              </a:rPr>
              <a:t>https://arxiv.org/abs/2304.09629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525780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 i="0">
                <a:solidFill>
                  <a:srgbClr val="007E8F"/>
                </a:solidFill>
                <a:latin typeface="Noto Sans JP"/>
              </a:rPr>
              <a:t>Xie et al. (2023)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16552"/>
            <a:ext cx="5257800" cy="3939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Noto Sans JP"/>
              </a:rPr>
              <a:t>A Feasibility-Preserved Quantum Approximate Solver for the Capacitated Vehicle Routing Problem. arXiv:2308.08785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65192"/>
            <a:ext cx="5257800" cy="22467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 i="0">
                <a:solidFill>
                  <a:srgbClr val="4D4D4D"/>
                </a:solidFill>
                <a:latin typeface="Noto Sans JP"/>
              </a:rPr>
              <a:t>https://arxiv.org/abs/2308.08785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143000"/>
            <a:ext cx="525780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 i="0">
                <a:solidFill>
                  <a:srgbClr val="007E8F"/>
                </a:solidFill>
                <a:latin typeface="Noto Sans JP"/>
              </a:rPr>
              <a:t>Leonidas et al. (2023)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399032"/>
            <a:ext cx="5257800" cy="3939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Noto Sans JP"/>
              </a:rPr>
              <a:t>Qubit-Efficient Quantum Algorithms for the Vehicle Routing Problem on NISQ Processors. arXiv:2306.08507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947672"/>
            <a:ext cx="5257800" cy="22467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 i="0">
                <a:solidFill>
                  <a:srgbClr val="4D4D4D"/>
                </a:solidFill>
                <a:latin typeface="Noto Sans JP"/>
              </a:rPr>
              <a:t>https://arxiv.org/abs/2306.08507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651760"/>
            <a:ext cx="525780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 i="0">
                <a:solidFill>
                  <a:srgbClr val="007E8F"/>
                </a:solidFill>
                <a:latin typeface="Noto Sans JP"/>
              </a:rPr>
              <a:t>Fitzek et al. (2024)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07791"/>
            <a:ext cx="5257800" cy="3939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Noto Sans JP"/>
              </a:rPr>
              <a:t>Applying Quantum Approximate Optimization to the Heterogeneous Vehicle Routing Problem. Scientific Reports, 14, 25415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456432"/>
            <a:ext cx="5257800" cy="22467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 i="0">
                <a:solidFill>
                  <a:srgbClr val="4D4D4D"/>
                </a:solidFill>
                <a:latin typeface="Noto Sans JP"/>
              </a:rPr>
              <a:t>https://doi.org/10.1038/s41598-024-76967-w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160520"/>
            <a:ext cx="525780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 i="0">
                <a:solidFill>
                  <a:srgbClr val="007E8F"/>
                </a:solidFill>
                <a:latin typeface="Noto Sans JP"/>
              </a:rPr>
              <a:t>Azfar et al. (2025)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416552"/>
            <a:ext cx="5257800" cy="3939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 i="0">
                <a:solidFill>
                  <a:srgbClr val="333333"/>
                </a:solidFill>
                <a:latin typeface="Noto Sans JP"/>
              </a:rPr>
              <a:t>Quantum-Assisted Vehicle Routing: Realizing a QAOA-Based Approach on a Gate-Based Quantum Computer. arXiv:2505.01614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965192"/>
            <a:ext cx="5257800" cy="22467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 i="0">
                <a:solidFill>
                  <a:srgbClr val="4D4D4D"/>
                </a:solidFill>
                <a:latin typeface="Noto Sans JP"/>
              </a:rPr>
              <a:t>https://arxiv.org/abs/2505.01614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384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200" b="1" i="0">
                <a:solidFill>
                  <a:srgbClr val="333333"/>
                </a:solidFill>
                <a:latin typeface="Noto Sans JP"/>
              </a:rPr>
              <a:t>Appendix F: Methodological Literature and Open Data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68096"/>
            <a:ext cx="10972800" cy="32004"/>
          </a:xfrm>
          <a:prstGeom prst="rect">
            <a:avLst/>
          </a:prstGeom>
          <a:solidFill>
            <a:srgbClr val="007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5394960" cy="320040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Noto Sans JP"/>
              </a:rPr>
              <a:t>Methodological and Benchmarking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120640" cy="1785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 i="0">
                <a:solidFill>
                  <a:srgbClr val="333333"/>
                </a:solidFill>
                <a:latin typeface="Noto Sans JP"/>
              </a:rPr>
              <a:t>Lubinski et al. (2021): Application-Oriented Performance Benchmarks for Quantum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5120640" cy="1785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 i="0">
                <a:solidFill>
                  <a:srgbClr val="4D4D4D"/>
                </a:solidFill>
                <a:latin typeface="Noto Sans JP"/>
              </a:rPr>
              <a:t>https://arxiv.org/abs/2110.03137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5120640" cy="1785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 i="0">
                <a:solidFill>
                  <a:srgbClr val="333333"/>
                </a:solidFill>
                <a:latin typeface="Noto Sans JP"/>
              </a:rPr>
              <a:t>Lubinski et al. (2023): Optimization Applications as Quantum Performance Benchmarks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3704"/>
            <a:ext cx="5120640" cy="1785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 i="0">
                <a:solidFill>
                  <a:srgbClr val="4D4D4D"/>
                </a:solidFill>
                <a:latin typeface="Noto Sans JP"/>
              </a:rPr>
              <a:t>https://arxiv.org/abs/2302.02278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9464"/>
            <a:ext cx="512064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 i="0">
                <a:solidFill>
                  <a:srgbClr val="333333"/>
                </a:solidFill>
                <a:latin typeface="Noto Sans JP"/>
              </a:rPr>
              <a:t>Lubinski et al. (2024): Quantum Algorithm Exploration Using Application-Oriented Performance Benchmarks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79776"/>
            <a:ext cx="5120640" cy="1785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 i="0">
                <a:solidFill>
                  <a:srgbClr val="4D4D4D"/>
                </a:solidFill>
                <a:latin typeface="Noto Sans JP"/>
              </a:rPr>
              <a:t>https://arxiv.org/abs/2402.08985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45536"/>
            <a:ext cx="5120640" cy="1785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 i="0">
                <a:solidFill>
                  <a:srgbClr val="333333"/>
                </a:solidFill>
                <a:latin typeface="Noto Sans JP"/>
              </a:rPr>
              <a:t>Herrmann et al. (2023): Quantum Utility - Definition and Assessment of a Practical Quantum Advantage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55848"/>
            <a:ext cx="5120640" cy="1785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 i="0">
                <a:solidFill>
                  <a:srgbClr val="4D4D4D"/>
                </a:solidFill>
                <a:latin typeface="Noto Sans JP"/>
              </a:rPr>
              <a:t>https://arxiv.org/abs/2303.02138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5120640" cy="1785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 i="0">
                <a:solidFill>
                  <a:srgbClr val="333333"/>
                </a:solidFill>
                <a:latin typeface="Noto Sans JP"/>
              </a:rPr>
              <a:t>Beverland et al. (2022): Assessing Requirements to Scale to Practical Quantum Advantage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5120640" cy="1785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 i="0">
                <a:solidFill>
                  <a:srgbClr val="4D4D4D"/>
                </a:solidFill>
                <a:latin typeface="Noto Sans JP"/>
              </a:rPr>
              <a:t>https://arxiv.org/abs/2211.07629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512064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 i="0">
                <a:solidFill>
                  <a:srgbClr val="333333"/>
                </a:solidFill>
                <a:latin typeface="Noto Sans JP"/>
              </a:rPr>
              <a:t>Onah and Michielsen (2025): Requirements for Early Quantum Advantage and Quantum Utility in the Capacitated Vehicle Routing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07992"/>
            <a:ext cx="5120640" cy="1785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 i="0">
                <a:solidFill>
                  <a:srgbClr val="4D4D4D"/>
                </a:solidFill>
                <a:latin typeface="Noto Sans JP"/>
              </a:rPr>
              <a:t>https://arxiv.org/abs/2509.11469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960120"/>
            <a:ext cx="5394960" cy="320040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JP"/>
              </a:rPr>
              <a:t>Open Data Sources Used in the Current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417320"/>
            <a:ext cx="5074920" cy="19389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900" b="0" i="0">
                <a:solidFill>
                  <a:srgbClr val="333333"/>
                </a:solidFill>
                <a:latin typeface="Noto Sans JP"/>
              </a:rPr>
              <a:t>e-Stat: 2020 Population Census: Grid Square Statistics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627632"/>
            <a:ext cx="5074920" cy="1785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 i="0">
                <a:solidFill>
                  <a:srgbClr val="4D4D4D"/>
                </a:solidFill>
                <a:latin typeface="Noto Sans JP"/>
              </a:rPr>
              <a:t>https://www.e-stat.go.jp/gis/statmap-search?page=1&amp;toukeiCode=00200521&amp;type=1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148840"/>
            <a:ext cx="5074920" cy="19389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900" b="0" i="0">
                <a:solidFill>
                  <a:srgbClr val="333333"/>
                </a:solidFill>
                <a:latin typeface="Noto Sans JP"/>
              </a:rPr>
              <a:t>Open Charge Map: Open Charge Map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359152"/>
            <a:ext cx="5074920" cy="1785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 i="0">
                <a:solidFill>
                  <a:srgbClr val="4D4D4D"/>
                </a:solidFill>
                <a:latin typeface="Noto Sans JP"/>
              </a:rPr>
              <a:t>https://www.openchargemap.org/develop/api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880360"/>
            <a:ext cx="5074920" cy="19389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900" b="0" i="0">
                <a:solidFill>
                  <a:srgbClr val="333333"/>
                </a:solidFill>
                <a:latin typeface="Noto Sans JP"/>
              </a:rPr>
              <a:t>MLIT, Japan: National Land Numerical Information: Logistics Facilities Data (P31)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090672"/>
            <a:ext cx="5074920" cy="1785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 i="0">
                <a:solidFill>
                  <a:srgbClr val="4D4D4D"/>
                </a:solidFill>
                <a:latin typeface="Noto Sans JP"/>
              </a:rPr>
              <a:t>https://nlftp.mlit.go.jp/ksj/gml/datalist/KsjTmplt-P31.html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611880"/>
            <a:ext cx="5074920" cy="19389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900" b="0" i="0">
                <a:solidFill>
                  <a:srgbClr val="333333"/>
                </a:solidFill>
                <a:latin typeface="Noto Sans JP"/>
              </a:rPr>
              <a:t>Vehicle specifications: Official manufacturer / public specification pages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822192"/>
            <a:ext cx="5074920" cy="1785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 i="0">
                <a:solidFill>
                  <a:srgbClr val="4D4D4D"/>
                </a:solidFill>
                <a:latin typeface="Noto Sans JP"/>
              </a:rPr>
              <a:t>Source URLs to be verified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663440"/>
            <a:ext cx="5394960" cy="320040"/>
          </a:xfrm>
          <a:prstGeom prst="rect">
            <a:avLst/>
          </a:prstGeom>
          <a:solidFill>
            <a:srgbClr val="007E8F"/>
          </a:solidFill>
          <a:ln>
            <a:solidFill>
              <a:srgbClr val="007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JP"/>
              </a:rPr>
              <a:t>Additional Sources Reviewed but Not Used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074920"/>
            <a:ext cx="5074920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0" i="0">
                <a:solidFill>
                  <a:srgbClr val="333333"/>
                </a:solidFill>
                <a:latin typeface="Noto Sans JP"/>
              </a:rPr>
              <a:t>IEA Global EV Data Explorer; World Bank Logistics Performance Index; OpenStreetMap / Geofabrik Kanto road-network data; ODPT GTFS; JARTIC traffic API; Tokyo traffic volume statistics; Schneider / Goeke E-VRPTW; Mavrovouniotis E-CVRP; CVRPLIB.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2596</Words>
  <Application>Microsoft Macintosh PowerPoint</Application>
  <DocSecurity>0</DocSecurity>
  <PresentationFormat>ワイド画面</PresentationFormat>
  <Paragraphs>466</Paragraphs>
  <Slides>22</Slides>
  <Notes>16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25" baseType="lpstr">
      <vt:lpstr>Noto Sans JP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takuma.sano@keio.jp</cp:lastModifiedBy>
  <cp:revision>25</cp:revision>
  <dcterms:created xsi:type="dcterms:W3CDTF">2026-07-11T12:43:26Z</dcterms:created>
  <dcterms:modified xsi:type="dcterms:W3CDTF">2026-07-13T03:17:39Z</dcterms:modified>
</cp:coreProperties>
</file>