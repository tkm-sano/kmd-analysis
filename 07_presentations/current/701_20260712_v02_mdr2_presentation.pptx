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6" r:id="rId10"/>
    <p:sldId id="267" r:id="rId11"/>
    <p:sldId id="268" r:id="rId12"/>
    <p:sldId id="269" r:id="rId13"/>
    <p:sldId id="276" r:id="rId14"/>
    <p:sldId id="270" r:id="rId15"/>
    <p:sldId id="271" r:id="rId16"/>
    <p:sldId id="272" r:id="rId17"/>
    <p:sldId id="273" r:id="rId18"/>
    <p:sldId id="274" r:id="rId19"/>
    <p:sldId id="275" r:id="rId20"/>
    <p:sldId id="277" r:id="rId21"/>
    <p:sldId id="279" r:id="rId22"/>
    <p:sldId id="278" r:id="rId23"/>
  </p:sldIdLst>
  <p:sldSz cx="8382000" cy="4714875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テーマ スタイル 1 - アクセント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507"/>
    <p:restoredTop sz="94660"/>
  </p:normalViewPr>
  <p:slideViewPr>
    <p:cSldViewPr snapToGrid="0">
      <p:cViewPr>
        <p:scale>
          <a:sx n="106" d="100"/>
          <a:sy n="106" d="100"/>
        </p:scale>
        <p:origin x="2736" y="1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5C4BD-3926-D7A1-B825-2B729726A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020389-2E87-DCB4-8C0C-C9B14A718D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8912FD-21E5-15B2-5D48-EBB850C853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69B0EE-0B50-A1BF-DB8C-40FF96BD719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186328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A45A9-038E-6380-E53F-729A186AA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2E0F4B-7087-0019-E944-F9794394B8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82E55-E083-316D-9A5E-12A8359132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EB9B36-7EED-5677-404D-028087D4F2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1871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" Type="http://schemas.openxmlformats.org/officeDocument/2006/relationships/image" Target="../media/image1.svg"/><Relationship Id="rId21" Type="http://schemas.openxmlformats.org/officeDocument/2006/relationships/image" Target="../media/image19.sv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17" Type="http://schemas.openxmlformats.org/officeDocument/2006/relationships/image" Target="../media/image15.svg"/><Relationship Id="rId25" Type="http://schemas.openxmlformats.org/officeDocument/2006/relationships/image" Target="../media/image23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24" Type="http://schemas.openxmlformats.org/officeDocument/2006/relationships/image" Target="../media/image22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23" Type="http://schemas.openxmlformats.org/officeDocument/2006/relationships/image" Target="../media/image21.svg"/><Relationship Id="rId28" Type="http://schemas.openxmlformats.org/officeDocument/2006/relationships/image" Target="../media/image26.svg"/><Relationship Id="rId10" Type="http://schemas.openxmlformats.org/officeDocument/2006/relationships/image" Target="../media/image8.svg"/><Relationship Id="rId19" Type="http://schemas.openxmlformats.org/officeDocument/2006/relationships/image" Target="../media/image17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2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9.svg"/><Relationship Id="rId7" Type="http://schemas.openxmlformats.org/officeDocument/2006/relationships/image" Target="../media/image3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svg"/><Relationship Id="rId5" Type="http://schemas.openxmlformats.org/officeDocument/2006/relationships/image" Target="../media/image26.svg"/><Relationship Id="rId4" Type="http://schemas.openxmlformats.org/officeDocument/2006/relationships/image" Target="../media/image25.svg"/><Relationship Id="rId9" Type="http://schemas.openxmlformats.org/officeDocument/2006/relationships/image" Target="../media/image3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13" Type="http://schemas.openxmlformats.org/officeDocument/2006/relationships/image" Target="../media/image46.svg"/><Relationship Id="rId18" Type="http://schemas.openxmlformats.org/officeDocument/2006/relationships/image" Target="../media/image51.svg"/><Relationship Id="rId26" Type="http://schemas.openxmlformats.org/officeDocument/2006/relationships/image" Target="../media/image59.svg"/><Relationship Id="rId3" Type="http://schemas.openxmlformats.org/officeDocument/2006/relationships/image" Target="../media/image36.svg"/><Relationship Id="rId21" Type="http://schemas.openxmlformats.org/officeDocument/2006/relationships/image" Target="../media/image54.svg"/><Relationship Id="rId7" Type="http://schemas.openxmlformats.org/officeDocument/2006/relationships/image" Target="../media/image40.svg"/><Relationship Id="rId12" Type="http://schemas.openxmlformats.org/officeDocument/2006/relationships/image" Target="../media/image45.svg"/><Relationship Id="rId17" Type="http://schemas.openxmlformats.org/officeDocument/2006/relationships/image" Target="../media/image50.svg"/><Relationship Id="rId25" Type="http://schemas.openxmlformats.org/officeDocument/2006/relationships/image" Target="../media/image58.sv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49.svg"/><Relationship Id="rId20" Type="http://schemas.openxmlformats.org/officeDocument/2006/relationships/image" Target="../media/image53.svg"/><Relationship Id="rId29" Type="http://schemas.openxmlformats.org/officeDocument/2006/relationships/image" Target="../media/image6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svg"/><Relationship Id="rId11" Type="http://schemas.openxmlformats.org/officeDocument/2006/relationships/image" Target="../media/image44.svg"/><Relationship Id="rId24" Type="http://schemas.openxmlformats.org/officeDocument/2006/relationships/image" Target="../media/image57.svg"/><Relationship Id="rId32" Type="http://schemas.openxmlformats.org/officeDocument/2006/relationships/image" Target="../media/image26.svg"/><Relationship Id="rId5" Type="http://schemas.openxmlformats.org/officeDocument/2006/relationships/image" Target="../media/image38.svg"/><Relationship Id="rId15" Type="http://schemas.openxmlformats.org/officeDocument/2006/relationships/image" Target="../media/image48.svg"/><Relationship Id="rId23" Type="http://schemas.openxmlformats.org/officeDocument/2006/relationships/image" Target="../media/image56.svg"/><Relationship Id="rId28" Type="http://schemas.openxmlformats.org/officeDocument/2006/relationships/image" Target="../media/image61.svg"/><Relationship Id="rId10" Type="http://schemas.openxmlformats.org/officeDocument/2006/relationships/image" Target="../media/image43.svg"/><Relationship Id="rId19" Type="http://schemas.openxmlformats.org/officeDocument/2006/relationships/image" Target="../media/image52.svg"/><Relationship Id="rId31" Type="http://schemas.openxmlformats.org/officeDocument/2006/relationships/image" Target="../media/image25.svg"/><Relationship Id="rId4" Type="http://schemas.openxmlformats.org/officeDocument/2006/relationships/image" Target="../media/image37.svg"/><Relationship Id="rId9" Type="http://schemas.openxmlformats.org/officeDocument/2006/relationships/image" Target="../media/image42.svg"/><Relationship Id="rId14" Type="http://schemas.openxmlformats.org/officeDocument/2006/relationships/image" Target="../media/image47.svg"/><Relationship Id="rId22" Type="http://schemas.openxmlformats.org/officeDocument/2006/relationships/image" Target="../media/image55.svg"/><Relationship Id="rId27" Type="http://schemas.openxmlformats.org/officeDocument/2006/relationships/image" Target="../media/image60.svg"/><Relationship Id="rId30" Type="http://schemas.openxmlformats.org/officeDocument/2006/relationships/image" Target="../media/image6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7" Type="http://schemas.openxmlformats.org/officeDocument/2006/relationships/image" Target="../media/image66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svg"/><Relationship Id="rId5" Type="http://schemas.openxmlformats.org/officeDocument/2006/relationships/image" Target="../media/image64.png"/><Relationship Id="rId4" Type="http://schemas.openxmlformats.org/officeDocument/2006/relationships/image" Target="../media/image26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svg"/><Relationship Id="rId13" Type="http://schemas.openxmlformats.org/officeDocument/2006/relationships/image" Target="../media/image77.svg"/><Relationship Id="rId3" Type="http://schemas.openxmlformats.org/officeDocument/2006/relationships/image" Target="../media/image67.svg"/><Relationship Id="rId7" Type="http://schemas.openxmlformats.org/officeDocument/2006/relationships/image" Target="../media/image71.svg"/><Relationship Id="rId12" Type="http://schemas.openxmlformats.org/officeDocument/2006/relationships/image" Target="../media/image76.sv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26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svg"/><Relationship Id="rId11" Type="http://schemas.openxmlformats.org/officeDocument/2006/relationships/image" Target="../media/image75.svg"/><Relationship Id="rId5" Type="http://schemas.openxmlformats.org/officeDocument/2006/relationships/image" Target="../media/image69.svg"/><Relationship Id="rId15" Type="http://schemas.openxmlformats.org/officeDocument/2006/relationships/image" Target="../media/image25.svg"/><Relationship Id="rId10" Type="http://schemas.openxmlformats.org/officeDocument/2006/relationships/image" Target="../media/image74.svg"/><Relationship Id="rId4" Type="http://schemas.openxmlformats.org/officeDocument/2006/relationships/image" Target="../media/image68.svg"/><Relationship Id="rId9" Type="http://schemas.openxmlformats.org/officeDocument/2006/relationships/image" Target="../media/image73.svg"/><Relationship Id="rId14" Type="http://schemas.openxmlformats.org/officeDocument/2006/relationships/image" Target="../media/image78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svg"/><Relationship Id="rId13" Type="http://schemas.openxmlformats.org/officeDocument/2006/relationships/image" Target="../media/image89.svg"/><Relationship Id="rId18" Type="http://schemas.openxmlformats.org/officeDocument/2006/relationships/image" Target="../media/image94.svg"/><Relationship Id="rId3" Type="http://schemas.openxmlformats.org/officeDocument/2006/relationships/image" Target="../media/image79.svg"/><Relationship Id="rId21" Type="http://schemas.openxmlformats.org/officeDocument/2006/relationships/image" Target="../media/image26.svg"/><Relationship Id="rId7" Type="http://schemas.openxmlformats.org/officeDocument/2006/relationships/image" Target="../media/image83.svg"/><Relationship Id="rId12" Type="http://schemas.openxmlformats.org/officeDocument/2006/relationships/image" Target="../media/image88.svg"/><Relationship Id="rId17" Type="http://schemas.openxmlformats.org/officeDocument/2006/relationships/image" Target="../media/image93.sv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92.svg"/><Relationship Id="rId20" Type="http://schemas.openxmlformats.org/officeDocument/2006/relationships/image" Target="../media/image2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2.svg"/><Relationship Id="rId11" Type="http://schemas.openxmlformats.org/officeDocument/2006/relationships/image" Target="../media/image87.svg"/><Relationship Id="rId5" Type="http://schemas.openxmlformats.org/officeDocument/2006/relationships/image" Target="../media/image81.svg"/><Relationship Id="rId15" Type="http://schemas.openxmlformats.org/officeDocument/2006/relationships/image" Target="../media/image91.svg"/><Relationship Id="rId10" Type="http://schemas.openxmlformats.org/officeDocument/2006/relationships/image" Target="../media/image86.svg"/><Relationship Id="rId19" Type="http://schemas.openxmlformats.org/officeDocument/2006/relationships/image" Target="../media/image95.svg"/><Relationship Id="rId4" Type="http://schemas.openxmlformats.org/officeDocument/2006/relationships/image" Target="../media/image80.svg"/><Relationship Id="rId9" Type="http://schemas.openxmlformats.org/officeDocument/2006/relationships/image" Target="../media/image85.svg"/><Relationship Id="rId14" Type="http://schemas.openxmlformats.org/officeDocument/2006/relationships/image" Target="../media/image90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svg"/><Relationship Id="rId13" Type="http://schemas.openxmlformats.org/officeDocument/2006/relationships/image" Target="../media/image106.svg"/><Relationship Id="rId3" Type="http://schemas.openxmlformats.org/officeDocument/2006/relationships/image" Target="../media/image96.svg"/><Relationship Id="rId7" Type="http://schemas.openxmlformats.org/officeDocument/2006/relationships/image" Target="../media/image100.svg"/><Relationship Id="rId12" Type="http://schemas.openxmlformats.org/officeDocument/2006/relationships/image" Target="../media/image105.sv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26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9.svg"/><Relationship Id="rId11" Type="http://schemas.openxmlformats.org/officeDocument/2006/relationships/image" Target="../media/image104.svg"/><Relationship Id="rId5" Type="http://schemas.openxmlformats.org/officeDocument/2006/relationships/image" Target="../media/image98.svg"/><Relationship Id="rId15" Type="http://schemas.openxmlformats.org/officeDocument/2006/relationships/image" Target="../media/image25.svg"/><Relationship Id="rId10" Type="http://schemas.openxmlformats.org/officeDocument/2006/relationships/image" Target="../media/image103.svg"/><Relationship Id="rId4" Type="http://schemas.openxmlformats.org/officeDocument/2006/relationships/image" Target="../media/image97.svg"/><Relationship Id="rId9" Type="http://schemas.openxmlformats.org/officeDocument/2006/relationships/image" Target="../media/image102.svg"/><Relationship Id="rId14" Type="http://schemas.openxmlformats.org/officeDocument/2006/relationships/image" Target="../media/image107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svg"/><Relationship Id="rId4" Type="http://schemas.openxmlformats.org/officeDocument/2006/relationships/image" Target="../media/image26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8.png"/><Relationship Id="rId4" Type="http://schemas.openxmlformats.org/officeDocument/2006/relationships/image" Target="../media/image26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EA1605A7-9D3D-4BE2-81E8-DFD2A02EF3F1}"/>
              </a:ext>
            </a:extLst>
          </p:cNvPr>
          <p:cNvSpPr>
            <a:spLocks noGrp="1"/>
          </p:cNvSpPr>
          <p:nvPr/>
        </p:nvSpPr>
        <p:spPr>
          <a:xfrm>
            <a:off x="2613652" y="926173"/>
            <a:ext cx="3154680" cy="1954839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ts val="2500"/>
              </a:lnSpc>
            </a:pPr>
            <a:r>
              <a:rPr lang="en-US" sz="2000" b="1" dirty="0"/>
              <a:t>Toward Evaluating Quantum Computing Problem Scale</a:t>
            </a:r>
            <a:br>
              <a:rPr lang="en-US" sz="2000" b="1" dirty="0"/>
            </a:br>
            <a:r>
              <a:rPr lang="en-US" sz="2000" i="1" dirty="0"/>
              <a:t>Focusing on Operational Constraints in Transportation </a:t>
            </a: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359D5F93-E250-4A22-A3A2-80A6189CAF6E}"/>
              </a:ext>
            </a:extLst>
          </p:cNvPr>
          <p:cNvSpPr>
            <a:spLocks noGrp="1"/>
          </p:cNvSpPr>
          <p:nvPr/>
        </p:nvSpPr>
        <p:spPr>
          <a:xfrm>
            <a:off x="1142983" y="3096289"/>
            <a:ext cx="6096019" cy="496137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ctr">
              <a:lnSpc>
                <a:spcPts val="1953"/>
              </a:lnSpc>
              <a:buNone/>
            </a:pPr>
            <a:r>
              <a:rPr lang="en-US" sz="1500" dirty="0"/>
              <a:t>82535190 Takuma Sano</a:t>
            </a:r>
            <a:endParaRPr sz="1500" dirty="0"/>
          </a:p>
        </p:txBody>
      </p:sp>
    </p:spTree>
    <p:extLst>
      <p:ext uri="{BB962C8B-B14F-4D97-AF65-F5344CB8AC3E}">
        <p14:creationId xmlns:p14="http://schemas.microsoft.com/office/powerpoint/2010/main" val="783185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Image 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7337" y="1481750"/>
            <a:ext cx="3151551" cy="294051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135847C8-AA98-45F7-8CCC-DB3DB6A181B0}"/>
              </a:ext>
            </a:extLst>
          </p:cNvPr>
          <p:cNvSpPr>
            <a:spLocks noGrp="1"/>
          </p:cNvSpPr>
          <p:nvPr/>
        </p:nvSpPr>
        <p:spPr>
          <a:xfrm>
            <a:off x="862013" y="1494209"/>
            <a:ext cx="2343150" cy="22137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ts val="1743"/>
              </a:lnSpc>
              <a:buNone/>
            </a:pPr>
            <a:r>
              <a:rPr sz="1200" b="1">
                <a:solidFill>
                  <a:schemeClr val="bg1"/>
                </a:solidFill>
              </a:rPr>
              <a:t>Traditional View: Linear Progress</a:t>
            </a:r>
          </a:p>
        </p:txBody>
      </p:sp>
      <p:pic>
        <p:nvPicPr>
          <p:cNvPr id="82" name="Image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5462" y="2196125"/>
            <a:ext cx="484551" cy="484551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CF555137-0EBD-4925-A9A6-1BA89E6A903E}"/>
              </a:ext>
            </a:extLst>
          </p:cNvPr>
          <p:cNvSpPr>
            <a:spLocks noGrp="1"/>
          </p:cNvSpPr>
          <p:nvPr/>
        </p:nvSpPr>
        <p:spPr>
          <a:xfrm>
            <a:off x="785813" y="2322584"/>
            <a:ext cx="304800" cy="1881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ts val="1481"/>
              </a:lnSpc>
              <a:buNone/>
            </a:pPr>
            <a:r>
              <a:rPr sz="1050" b="1">
                <a:solidFill>
                  <a:schemeClr val="bg1"/>
                </a:solidFill>
              </a:rPr>
              <a:t>A</a:t>
            </a:r>
          </a:p>
        </p:txBody>
      </p:sp>
      <p:pic>
        <p:nvPicPr>
          <p:cNvPr id="84" name="Imag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60924" y="2425931"/>
            <a:ext cx="716626" cy="53513"/>
          </a:xfrm>
          <a:prstGeom prst="rect">
            <a:avLst/>
          </a:prstGeom>
        </p:spPr>
      </p:pic>
      <p:pic>
        <p:nvPicPr>
          <p:cNvPr id="85" name="Imag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48456" y="2386619"/>
            <a:ext cx="103563" cy="103563"/>
          </a:xfrm>
          <a:prstGeom prst="rect">
            <a:avLst/>
          </a:prstGeom>
        </p:spPr>
      </p:pic>
      <p:pic>
        <p:nvPicPr>
          <p:cNvPr id="86" name="Imag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91337" y="2196125"/>
            <a:ext cx="484551" cy="484551"/>
          </a:xfrm>
          <a:prstGeom prst="rect">
            <a:avLst/>
          </a:prstGeom>
        </p:spPr>
      </p:pic>
      <p:sp>
        <p:nvSpPr>
          <p:cNvPr id="10" name="Text 2">
            <a:extLst>
              <a:ext uri="{FF2B5EF4-FFF2-40B4-BE49-F238E27FC236}">
                <a16:creationId xmlns:a16="http://schemas.microsoft.com/office/drawing/2014/main" id="{A2C08A95-6855-4DF6-828B-4618C81F1718}"/>
              </a:ext>
            </a:extLst>
          </p:cNvPr>
          <p:cNvSpPr>
            <a:spLocks noGrp="1"/>
          </p:cNvSpPr>
          <p:nvPr/>
        </p:nvSpPr>
        <p:spPr>
          <a:xfrm>
            <a:off x="2071688" y="2322584"/>
            <a:ext cx="304800" cy="1881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ctr">
              <a:lnSpc>
                <a:spcPts val="1481"/>
              </a:lnSpc>
              <a:buNone/>
            </a:pPr>
            <a:r>
              <a:rPr sz="1050" b="1">
                <a:solidFill>
                  <a:schemeClr val="bg1"/>
                </a:solidFill>
              </a:rPr>
              <a:t>B</a:t>
            </a:r>
          </a:p>
        </p:txBody>
      </p:sp>
      <p:pic>
        <p:nvPicPr>
          <p:cNvPr id="88" name="Imag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446799" y="2425931"/>
            <a:ext cx="669001" cy="53513"/>
          </a:xfrm>
          <a:prstGeom prst="rect">
            <a:avLst/>
          </a:prstGeom>
        </p:spPr>
      </p:pic>
      <p:pic>
        <p:nvPicPr>
          <p:cNvPr id="89" name="Image 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86706" y="2386619"/>
            <a:ext cx="103563" cy="103563"/>
          </a:xfrm>
          <a:prstGeom prst="rect">
            <a:avLst/>
          </a:prstGeom>
        </p:spPr>
      </p:pic>
      <p:pic>
        <p:nvPicPr>
          <p:cNvPr id="90" name="Image 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181961" y="2291374"/>
            <a:ext cx="294053" cy="294053"/>
          </a:xfrm>
          <a:prstGeom prst="rect">
            <a:avLst/>
          </a:prstGeom>
        </p:spPr>
      </p:pic>
      <p:sp>
        <p:nvSpPr>
          <p:cNvPr id="14" name="Text 3">
            <a:extLst>
              <a:ext uri="{FF2B5EF4-FFF2-40B4-BE49-F238E27FC236}">
                <a16:creationId xmlns:a16="http://schemas.microsoft.com/office/drawing/2014/main" id="{DE181E3A-9F28-4A8E-9C78-F1292C709BFC}"/>
              </a:ext>
            </a:extLst>
          </p:cNvPr>
          <p:cNvSpPr>
            <a:spLocks noGrp="1"/>
          </p:cNvSpPr>
          <p:nvPr/>
        </p:nvSpPr>
        <p:spPr>
          <a:xfrm>
            <a:off x="1089388" y="2963550"/>
            <a:ext cx="2209800" cy="394577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ts val="1307"/>
              </a:lnSpc>
              <a:buNone/>
            </a:pPr>
            <a:r>
              <a:rPr sz="1200" dirty="0"/>
              <a:t>We cannot fully grasp the complexity </a:t>
            </a:r>
            <a:endParaRPr lang="en-US" sz="1200" dirty="0"/>
          </a:p>
          <a:p>
            <a:pPr algn="ctr">
              <a:lnSpc>
                <a:spcPts val="1307"/>
              </a:lnSpc>
              <a:buNone/>
            </a:pPr>
            <a:r>
              <a:rPr sz="1200" dirty="0"/>
              <a:t>of technological innovation.</a:t>
            </a:r>
          </a:p>
        </p:txBody>
      </p:sp>
      <p:pic>
        <p:nvPicPr>
          <p:cNvPr id="92" name="Image 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753462" y="2196125"/>
            <a:ext cx="675050" cy="484550"/>
          </a:xfrm>
          <a:prstGeom prst="rect">
            <a:avLst/>
          </a:prstGeom>
        </p:spPr>
      </p:pic>
      <p:sp>
        <p:nvSpPr>
          <p:cNvPr id="16" name="Text 4">
            <a:extLst>
              <a:ext uri="{FF2B5EF4-FFF2-40B4-BE49-F238E27FC236}">
                <a16:creationId xmlns:a16="http://schemas.microsoft.com/office/drawing/2014/main" id="{753B9DFE-9B53-4BD4-A581-1873EF1512A9}"/>
              </a:ext>
            </a:extLst>
          </p:cNvPr>
          <p:cNvSpPr>
            <a:spLocks noGrp="1"/>
          </p:cNvSpPr>
          <p:nvPr/>
        </p:nvSpPr>
        <p:spPr>
          <a:xfrm>
            <a:off x="3753977" y="2761775"/>
            <a:ext cx="704850" cy="1881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ts val="1481"/>
              </a:lnSpc>
              <a:buNone/>
            </a:pPr>
            <a:r>
              <a:rPr sz="1050" b="1" u="none">
                <a:solidFill>
                  <a:srgbClr val="007E8F"/>
                </a:solidFill>
                <a:latin typeface="Noto Sans JP"/>
                <a:ea typeface="Noto Sans JP"/>
                <a:cs typeface="Noto Sans JP"/>
              </a:rPr>
              <a:t>Reframing </a:t>
            </a:r>
          </a:p>
          <a:p>
            <a:pPr algn="ctr">
              <a:lnSpc>
                <a:spcPts val="1481"/>
              </a:lnSpc>
              <a:buNone/>
            </a:pPr>
            <a:r>
              <a:rPr sz="1050" b="1" u="none">
                <a:solidFill>
                  <a:srgbClr val="007E8F"/>
                </a:solidFill>
                <a:latin typeface="Noto Sans JP"/>
                <a:ea typeface="Noto Sans JP"/>
                <a:cs typeface="Noto Sans JP"/>
              </a:rPr>
              <a:t>the perspective</a:t>
            </a:r>
          </a:p>
        </p:txBody>
      </p:sp>
      <p:pic>
        <p:nvPicPr>
          <p:cNvPr id="94" name="Image 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563087" y="1481749"/>
            <a:ext cx="3351576" cy="294051"/>
          </a:xfrm>
          <a:prstGeom prst="rect">
            <a:avLst/>
          </a:prstGeom>
        </p:spPr>
      </p:pic>
      <p:sp>
        <p:nvSpPr>
          <p:cNvPr id="18" name="Text 5">
            <a:extLst>
              <a:ext uri="{FF2B5EF4-FFF2-40B4-BE49-F238E27FC236}">
                <a16:creationId xmlns:a16="http://schemas.microsoft.com/office/drawing/2014/main" id="{D3B84C17-90D0-4233-8066-14BD60713128}"/>
              </a:ext>
            </a:extLst>
          </p:cNvPr>
          <p:cNvSpPr>
            <a:spLocks noGrp="1"/>
          </p:cNvSpPr>
          <p:nvPr/>
        </p:nvSpPr>
        <p:spPr>
          <a:xfrm>
            <a:off x="4833938" y="1494209"/>
            <a:ext cx="2781300" cy="22137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ts val="1743"/>
              </a:lnSpc>
              <a:buNone/>
            </a:pPr>
            <a:r>
              <a:rPr sz="1200" b="1">
                <a:solidFill>
                  <a:schemeClr val="bg1"/>
                </a:solidFill>
              </a:rPr>
              <a:t>Emerging Perspective: Diffusive Growth</a:t>
            </a:r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61C478C3-AE3C-4024-AFF0-133F791F9B7F}"/>
              </a:ext>
            </a:extLst>
          </p:cNvPr>
          <p:cNvSpPr>
            <a:spLocks noGrp="1"/>
          </p:cNvSpPr>
          <p:nvPr/>
        </p:nvSpPr>
        <p:spPr>
          <a:xfrm>
            <a:off x="5286396" y="1836746"/>
            <a:ext cx="638175" cy="166104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ctr">
              <a:lnSpc>
                <a:spcPts val="1308"/>
              </a:lnSpc>
              <a:buNone/>
            </a:pPr>
            <a:r>
              <a:rPr sz="900" b="1" u="none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First-order</a:t>
            </a:r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3B44BB94-D9E9-4F45-B23D-701628EF8E40}"/>
              </a:ext>
            </a:extLst>
          </p:cNvPr>
          <p:cNvSpPr>
            <a:spLocks noGrp="1"/>
          </p:cNvSpPr>
          <p:nvPr/>
        </p:nvSpPr>
        <p:spPr>
          <a:xfrm>
            <a:off x="6157942" y="1836746"/>
            <a:ext cx="800100" cy="166104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ctr">
              <a:lnSpc>
                <a:spcPts val="1308"/>
              </a:lnSpc>
              <a:buNone/>
            </a:pPr>
            <a:r>
              <a:rPr sz="900" b="1" u="none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Second-order</a:t>
            </a:r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68E5C240-0437-4273-ADE9-730077790786}"/>
              </a:ext>
            </a:extLst>
          </p:cNvPr>
          <p:cNvSpPr>
            <a:spLocks noGrp="1"/>
          </p:cNvSpPr>
          <p:nvPr/>
        </p:nvSpPr>
        <p:spPr>
          <a:xfrm>
            <a:off x="7043738" y="1836746"/>
            <a:ext cx="742950" cy="166104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ctr">
              <a:lnSpc>
                <a:spcPts val="1308"/>
              </a:lnSpc>
              <a:buNone/>
            </a:pPr>
            <a:r>
              <a:rPr sz="900" b="1" u="none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Surrounding</a:t>
            </a:r>
          </a:p>
        </p:txBody>
      </p:sp>
      <p:pic>
        <p:nvPicPr>
          <p:cNvPr id="99" name="Image 1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705962" y="2434249"/>
            <a:ext cx="389301" cy="389301"/>
          </a:xfrm>
          <a:prstGeom prst="rect">
            <a:avLst/>
          </a:prstGeom>
        </p:spPr>
      </p:pic>
      <p:sp>
        <p:nvSpPr>
          <p:cNvPr id="23" name="Text 9">
            <a:extLst>
              <a:ext uri="{FF2B5EF4-FFF2-40B4-BE49-F238E27FC236}">
                <a16:creationId xmlns:a16="http://schemas.microsoft.com/office/drawing/2014/main" id="{52EDA06D-1648-4618-B514-2F4C242CCDAD}"/>
              </a:ext>
            </a:extLst>
          </p:cNvPr>
          <p:cNvSpPr>
            <a:spLocks noGrp="1"/>
          </p:cNvSpPr>
          <p:nvPr/>
        </p:nvSpPr>
        <p:spPr>
          <a:xfrm>
            <a:off x="4757738" y="2551121"/>
            <a:ext cx="266700" cy="166104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ctr">
              <a:lnSpc>
                <a:spcPts val="1308"/>
              </a:lnSpc>
              <a:buNone/>
            </a:pPr>
            <a:r>
              <a:rPr sz="9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A</a:t>
            </a:r>
          </a:p>
        </p:txBody>
      </p:sp>
      <p:pic>
        <p:nvPicPr>
          <p:cNvPr id="101" name="Image 1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082813" y="2287225"/>
            <a:ext cx="349975" cy="349975"/>
          </a:xfrm>
          <a:prstGeom prst="rect">
            <a:avLst/>
          </a:prstGeom>
        </p:spPr>
      </p:pic>
      <p:pic>
        <p:nvPicPr>
          <p:cNvPr id="102" name="Image 1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439387" y="2072300"/>
            <a:ext cx="351200" cy="351200"/>
          </a:xfrm>
          <a:prstGeom prst="rect">
            <a:avLst/>
          </a:prstGeom>
        </p:spPr>
      </p:pic>
      <p:pic>
        <p:nvPicPr>
          <p:cNvPr id="103" name="Image 1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082813" y="2620600"/>
            <a:ext cx="349975" cy="349975"/>
          </a:xfrm>
          <a:prstGeom prst="rect">
            <a:avLst/>
          </a:prstGeom>
        </p:spPr>
      </p:pic>
      <p:pic>
        <p:nvPicPr>
          <p:cNvPr id="104" name="Image 1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439387" y="2834300"/>
            <a:ext cx="351200" cy="351200"/>
          </a:xfrm>
          <a:prstGeom prst="rect">
            <a:avLst/>
          </a:prstGeom>
        </p:spPr>
      </p:pic>
      <p:pic>
        <p:nvPicPr>
          <p:cNvPr id="105" name="Image 1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778135" y="2096722"/>
            <a:ext cx="607155" cy="159480"/>
          </a:xfrm>
          <a:prstGeom prst="rect">
            <a:avLst/>
          </a:prstGeom>
        </p:spPr>
      </p:pic>
      <p:pic>
        <p:nvPicPr>
          <p:cNvPr id="106" name="Image 1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429987" y="1967524"/>
            <a:ext cx="275002" cy="275002"/>
          </a:xfrm>
          <a:prstGeom prst="rect">
            <a:avLst/>
          </a:prstGeom>
        </p:spPr>
      </p:pic>
      <p:pic>
        <p:nvPicPr>
          <p:cNvPr id="107" name="Image 1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778137" y="2239599"/>
            <a:ext cx="607151" cy="254726"/>
          </a:xfrm>
          <a:prstGeom prst="rect">
            <a:avLst/>
          </a:prstGeom>
        </p:spPr>
      </p:pic>
      <p:pic>
        <p:nvPicPr>
          <p:cNvPr id="108" name="Image 1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429987" y="2348524"/>
            <a:ext cx="275002" cy="275002"/>
          </a:xfrm>
          <a:prstGeom prst="rect">
            <a:avLst/>
          </a:prstGeom>
        </p:spPr>
      </p:pic>
      <p:pic>
        <p:nvPicPr>
          <p:cNvPr id="109" name="Image 1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778135" y="2858722"/>
            <a:ext cx="607155" cy="159480"/>
          </a:xfrm>
          <a:prstGeom prst="rect">
            <a:avLst/>
          </a:prstGeom>
        </p:spPr>
      </p:pic>
      <p:pic>
        <p:nvPicPr>
          <p:cNvPr id="110" name="Image 2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429987" y="2729524"/>
            <a:ext cx="275002" cy="275002"/>
          </a:xfrm>
          <a:prstGeom prst="rect">
            <a:avLst/>
          </a:prstGeom>
        </p:spPr>
      </p:pic>
      <p:pic>
        <p:nvPicPr>
          <p:cNvPr id="111" name="Image 2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778137" y="3001599"/>
            <a:ext cx="607151" cy="254726"/>
          </a:xfrm>
          <a:prstGeom prst="rect">
            <a:avLst/>
          </a:prstGeom>
        </p:spPr>
      </p:pic>
      <p:pic>
        <p:nvPicPr>
          <p:cNvPr id="112" name="Image 2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429987" y="3110524"/>
            <a:ext cx="275002" cy="275002"/>
          </a:xfrm>
          <a:prstGeom prst="rect">
            <a:avLst/>
          </a:prstGeom>
        </p:spPr>
      </p:pic>
      <p:pic>
        <p:nvPicPr>
          <p:cNvPr id="113" name="Image 2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696681" y="2100869"/>
            <a:ext cx="589337" cy="103562"/>
          </a:xfrm>
          <a:prstGeom prst="rect">
            <a:avLst/>
          </a:prstGeom>
        </p:spPr>
      </p:pic>
      <p:pic>
        <p:nvPicPr>
          <p:cNvPr id="114" name="Image 2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325335" y="2100872"/>
            <a:ext cx="198805" cy="198805"/>
          </a:xfrm>
          <a:prstGeom prst="rect">
            <a:avLst/>
          </a:prstGeom>
        </p:spPr>
      </p:pic>
      <p:pic>
        <p:nvPicPr>
          <p:cNvPr id="115" name="Image 2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696681" y="2481869"/>
            <a:ext cx="589337" cy="103562"/>
          </a:xfrm>
          <a:prstGeom prst="rect">
            <a:avLst/>
          </a:prstGeom>
        </p:spPr>
      </p:pic>
      <p:pic>
        <p:nvPicPr>
          <p:cNvPr id="116" name="Image 2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325335" y="2481872"/>
            <a:ext cx="198805" cy="198805"/>
          </a:xfrm>
          <a:prstGeom prst="rect">
            <a:avLst/>
          </a:prstGeom>
        </p:spPr>
      </p:pic>
      <p:pic>
        <p:nvPicPr>
          <p:cNvPr id="117" name="Image 2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696681" y="3148619"/>
            <a:ext cx="589337" cy="103562"/>
          </a:xfrm>
          <a:prstGeom prst="rect">
            <a:avLst/>
          </a:prstGeom>
        </p:spPr>
      </p:pic>
      <p:pic>
        <p:nvPicPr>
          <p:cNvPr id="118" name="Image 2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325335" y="3053372"/>
            <a:ext cx="198805" cy="198805"/>
          </a:xfrm>
          <a:prstGeom prst="rect">
            <a:avLst/>
          </a:prstGeom>
        </p:spPr>
      </p:pic>
      <p:pic>
        <p:nvPicPr>
          <p:cNvPr id="119" name="Image 2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463188" y="3573100"/>
            <a:ext cx="7455624" cy="589309"/>
          </a:xfrm>
          <a:prstGeom prst="rect">
            <a:avLst/>
          </a:prstGeom>
        </p:spPr>
      </p:pic>
      <p:sp>
        <p:nvSpPr>
          <p:cNvPr id="43" name="Text 10">
            <a:extLst>
              <a:ext uri="{FF2B5EF4-FFF2-40B4-BE49-F238E27FC236}">
                <a16:creationId xmlns:a16="http://schemas.microsoft.com/office/drawing/2014/main" id="{406B96A4-86D7-4029-B666-56F9F2E14203}"/>
              </a:ext>
            </a:extLst>
          </p:cNvPr>
          <p:cNvSpPr>
            <a:spLocks noGrp="1"/>
          </p:cNvSpPr>
          <p:nvPr/>
        </p:nvSpPr>
        <p:spPr>
          <a:xfrm>
            <a:off x="1083763" y="3731610"/>
            <a:ext cx="6429375" cy="27663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ts val="2178"/>
              </a:lnSpc>
            </a:pPr>
            <a:r>
              <a:rPr lang="en-US" sz="1500" b="1" u="none" dirty="0">
                <a:solidFill>
                  <a:srgbClr val="007E8F"/>
                </a:solidFill>
                <a:latin typeface="Noto Sans JP"/>
                <a:ea typeface="Noto Sans JP"/>
                <a:cs typeface="Noto Sans JP"/>
              </a:rPr>
              <a:t>Understanding technological innovation requires attention to </a:t>
            </a:r>
          </a:p>
          <a:p>
            <a:pPr algn="ctr">
              <a:lnSpc>
                <a:spcPts val="2178"/>
              </a:lnSpc>
            </a:pPr>
            <a:r>
              <a:rPr lang="en-US" sz="1500" b="1" u="none" dirty="0">
                <a:solidFill>
                  <a:srgbClr val="007E8F"/>
                </a:solidFill>
                <a:latin typeface="Noto Sans JP"/>
                <a:ea typeface="Noto Sans JP"/>
                <a:cs typeface="Noto Sans JP"/>
              </a:rPr>
              <a:t>first-order, second-order, and broader surrounding effects</a:t>
            </a:r>
            <a:endParaRPr sz="1500" b="1" u="none" dirty="0">
              <a:solidFill>
                <a:srgbClr val="007E8F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44" name="Text 11">
            <a:extLst>
              <a:ext uri="{FF2B5EF4-FFF2-40B4-BE49-F238E27FC236}">
                <a16:creationId xmlns:a16="http://schemas.microsoft.com/office/drawing/2014/main" id="{E64B909E-529E-49BD-B946-70DF41D1BFBC}"/>
              </a:ext>
            </a:extLst>
          </p:cNvPr>
          <p:cNvSpPr>
            <a:spLocks noGrp="1"/>
          </p:cNvSpPr>
          <p:nvPr/>
        </p:nvSpPr>
        <p:spPr>
          <a:xfrm>
            <a:off x="276278" y="307111"/>
            <a:ext cx="7819979" cy="2324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>
              <a:lnSpc>
                <a:spcPts val="1830"/>
              </a:lnSpc>
              <a:buNone/>
            </a:pPr>
            <a:r>
              <a:rPr sz="2000" b="1" u="none" dirty="0">
                <a:solidFill>
                  <a:srgbClr val="333333"/>
                </a:solidFill>
                <a:ea typeface="Noto Sans JP"/>
                <a:cs typeface="Noto Sans JP"/>
              </a:rPr>
              <a:t>Research Background: The Need to Prepare for Unseen Impacts</a:t>
            </a:r>
          </a:p>
        </p:txBody>
      </p:sp>
      <p:sp>
        <p:nvSpPr>
          <p:cNvPr id="45" name="Text 12">
            <a:extLst>
              <a:ext uri="{FF2B5EF4-FFF2-40B4-BE49-F238E27FC236}">
                <a16:creationId xmlns:a16="http://schemas.microsoft.com/office/drawing/2014/main" id="{BF49E7D2-8D29-4A3C-B86A-61C94DB068A8}"/>
              </a:ext>
            </a:extLst>
          </p:cNvPr>
          <p:cNvSpPr>
            <a:spLocks noGrp="1"/>
          </p:cNvSpPr>
          <p:nvPr/>
        </p:nvSpPr>
        <p:spPr>
          <a:xfrm>
            <a:off x="276297" y="636627"/>
            <a:ext cx="7819945" cy="44218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l">
              <a:lnSpc>
                <a:spcPts val="1741"/>
              </a:lnSpc>
              <a:buNone/>
            </a:pPr>
            <a:r>
              <a:rPr sz="1600" dirty="0"/>
              <a:t> How can we identify what happens beyond technical success, use cases, and adoption?</a:t>
            </a:r>
          </a:p>
        </p:txBody>
      </p:sp>
      <p:pic>
        <p:nvPicPr>
          <p:cNvPr id="123" name="Image 3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76293" y="592730"/>
            <a:ext cx="7819949" cy="28575"/>
          </a:xfrm>
          <a:prstGeom prst="rect">
            <a:avLst/>
          </a:prstGeom>
        </p:spPr>
      </p:pic>
      <p:pic>
        <p:nvPicPr>
          <p:cNvPr id="124" name="Image 3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970692" y="592730"/>
            <a:ext cx="1125550" cy="28575"/>
          </a:xfrm>
          <a:prstGeom prst="rect">
            <a:avLst/>
          </a:prstGeom>
        </p:spPr>
      </p:pic>
      <p:pic>
        <p:nvPicPr>
          <p:cNvPr id="125" name="Image 2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663373" y="2805714"/>
            <a:ext cx="589337" cy="103562"/>
          </a:xfrm>
          <a:prstGeom prst="rect">
            <a:avLst/>
          </a:prstGeom>
        </p:spPr>
      </p:pic>
      <p:pic>
        <p:nvPicPr>
          <p:cNvPr id="126" name="Image 2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315810" y="2798502"/>
            <a:ext cx="198805" cy="198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205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F6DC24D6-5F23-44C4-A1F2-1E613645BFA1}"/>
              </a:ext>
            </a:extLst>
          </p:cNvPr>
          <p:cNvSpPr>
            <a:spLocks noGrp="1"/>
          </p:cNvSpPr>
          <p:nvPr/>
        </p:nvSpPr>
        <p:spPr>
          <a:xfrm>
            <a:off x="1957388" y="1464516"/>
            <a:ext cx="4448175" cy="27663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ctr">
              <a:lnSpc>
                <a:spcPts val="2178"/>
              </a:lnSpc>
              <a:buNone/>
            </a:pPr>
            <a:r>
              <a:rPr sz="1500" b="1" u="none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Integration of quantum technology into society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26933F6-6A73-4EAF-B625-36BA8A7E031B}"/>
              </a:ext>
            </a:extLst>
          </p:cNvPr>
          <p:cNvSpPr>
            <a:spLocks noGrp="1"/>
          </p:cNvSpPr>
          <p:nvPr/>
        </p:nvSpPr>
        <p:spPr>
          <a:xfrm>
            <a:off x="2486025" y="1789977"/>
            <a:ext cx="3390900" cy="1881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ctr">
              <a:lnSpc>
                <a:spcPts val="1481"/>
              </a:lnSpc>
              <a:buNone/>
            </a:pPr>
            <a:r>
              <a:rPr lang="en-US" sz="1050" b="1" u="none" dirty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This research is driven by two fundamental objectives:</a:t>
            </a:r>
          </a:p>
        </p:txBody>
      </p:sp>
      <p:pic>
        <p:nvPicPr>
          <p:cNvPr id="29" name="Image 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4076" y="2110218"/>
            <a:ext cx="6202724" cy="920849"/>
          </a:xfrm>
          <a:prstGeom prst="rect">
            <a:avLst/>
          </a:prstGeom>
        </p:spPr>
      </p:pic>
      <p:pic>
        <p:nvPicPr>
          <p:cNvPr id="30" name="Image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8225" y="2114369"/>
            <a:ext cx="6187360" cy="341675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2941C39A-8D43-4163-B115-70A751E1F306}"/>
              </a:ext>
            </a:extLst>
          </p:cNvPr>
          <p:cNvSpPr>
            <a:spLocks noGrp="1"/>
          </p:cNvSpPr>
          <p:nvPr/>
        </p:nvSpPr>
        <p:spPr>
          <a:xfrm>
            <a:off x="3287967" y="2174286"/>
            <a:ext cx="2047875" cy="221374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ctr">
              <a:lnSpc>
                <a:spcPts val="1743"/>
              </a:lnSpc>
              <a:buNone/>
            </a:pPr>
            <a:r>
              <a:rPr sz="1200" b="1" u="none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1. </a:t>
            </a:r>
            <a:r>
              <a:rPr sz="1200" b="1" u="none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Pathways of life changes</a:t>
            </a: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EBDFB476-E046-407E-8A84-C8E4C3C26163}"/>
              </a:ext>
            </a:extLst>
          </p:cNvPr>
          <p:cNvSpPr>
            <a:spLocks noGrp="1"/>
          </p:cNvSpPr>
          <p:nvPr/>
        </p:nvSpPr>
        <p:spPr>
          <a:xfrm>
            <a:off x="1369952" y="2524768"/>
            <a:ext cx="5883228" cy="40569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ts val="1713"/>
              </a:lnSpc>
            </a:pPr>
            <a:r>
              <a:rPr lang="en-US" sz="1200" dirty="0">
                <a:ea typeface="+mj-ea"/>
              </a:rPr>
              <a:t>Explore how quantum technologies may create new forms of value in transportation, a field historically grounded in physics and continuously advanced by information engineering</a:t>
            </a:r>
            <a:endParaRPr sz="1200" dirty="0">
              <a:ea typeface="+mj-ea"/>
            </a:endParaRPr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CD60A780-F88B-4F01-9B8D-67881F06B370}"/>
              </a:ext>
            </a:extLst>
          </p:cNvPr>
          <p:cNvSpPr>
            <a:spLocks noGrp="1"/>
          </p:cNvSpPr>
          <p:nvPr/>
        </p:nvSpPr>
        <p:spPr>
          <a:xfrm>
            <a:off x="276278" y="307111"/>
            <a:ext cx="7819979" cy="2324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l">
              <a:lnSpc>
                <a:spcPts val="1830"/>
              </a:lnSpc>
              <a:buNone/>
            </a:pPr>
            <a:r>
              <a:rPr sz="2000" b="1" u="none" dirty="0">
                <a:solidFill>
                  <a:srgbClr val="333333"/>
                </a:solidFill>
                <a:ea typeface="Noto Sans JP"/>
                <a:cs typeface="Noto Sans JP"/>
              </a:rPr>
              <a:t>Motivation</a:t>
            </a: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D39FF6FC-DDFA-4DDD-846B-0CF6CE2305C5}"/>
              </a:ext>
            </a:extLst>
          </p:cNvPr>
          <p:cNvSpPr>
            <a:spLocks noGrp="1"/>
          </p:cNvSpPr>
          <p:nvPr/>
        </p:nvSpPr>
        <p:spPr>
          <a:xfrm>
            <a:off x="276298" y="776265"/>
            <a:ext cx="7689642" cy="221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ts val="1743"/>
              </a:lnSpc>
              <a:buNone/>
            </a:pPr>
            <a:r>
              <a:rPr lang="ja-JP" altLang="ja-JP" sz="1600"/>
              <a:t>Assess how quantum technologies can be developed and implemented in society from economic and social perspectives</a:t>
            </a:r>
            <a:endParaRPr sz="1600" dirty="0"/>
          </a:p>
        </p:txBody>
      </p:sp>
      <p:pic>
        <p:nvPicPr>
          <p:cNvPr id="39" name="Image 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6293" y="592730"/>
            <a:ext cx="7819949" cy="28575"/>
          </a:xfrm>
          <a:prstGeom prst="rect">
            <a:avLst/>
          </a:prstGeom>
        </p:spPr>
      </p:pic>
      <p:pic>
        <p:nvPicPr>
          <p:cNvPr id="40" name="Image 1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70692" y="592730"/>
            <a:ext cx="1125550" cy="28575"/>
          </a:xfrm>
          <a:prstGeom prst="rect">
            <a:avLst/>
          </a:prstGeom>
        </p:spPr>
      </p:pic>
      <p:pic>
        <p:nvPicPr>
          <p:cNvPr id="5" name="Image 2">
            <a:extLst>
              <a:ext uri="{FF2B5EF4-FFF2-40B4-BE49-F238E27FC236}">
                <a16:creationId xmlns:a16="http://schemas.microsoft.com/office/drawing/2014/main" id="{91CD2BE7-26D8-C909-A45E-11ECF67340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9927" y="3125902"/>
            <a:ext cx="6195658" cy="1111974"/>
          </a:xfrm>
          <a:prstGeom prst="rect">
            <a:avLst/>
          </a:prstGeom>
        </p:spPr>
      </p:pic>
      <p:pic>
        <p:nvPicPr>
          <p:cNvPr id="6" name="Image 3">
            <a:extLst>
              <a:ext uri="{FF2B5EF4-FFF2-40B4-BE49-F238E27FC236}">
                <a16:creationId xmlns:a16="http://schemas.microsoft.com/office/drawing/2014/main" id="{0C7FA751-58B7-B3A5-458D-5C8E79D6C9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4075" y="3130052"/>
            <a:ext cx="6180311" cy="341675"/>
          </a:xfrm>
          <a:prstGeom prst="rect">
            <a:avLst/>
          </a:prstGeom>
        </p:spPr>
      </p:pic>
      <p:sp>
        <p:nvSpPr>
          <p:cNvPr id="9" name="Text 4">
            <a:extLst>
              <a:ext uri="{FF2B5EF4-FFF2-40B4-BE49-F238E27FC236}">
                <a16:creationId xmlns:a16="http://schemas.microsoft.com/office/drawing/2014/main" id="{06C6F1B0-8BD1-B3FE-D3C7-89E74193C5BA}"/>
              </a:ext>
            </a:extLst>
          </p:cNvPr>
          <p:cNvSpPr>
            <a:spLocks noGrp="1"/>
          </p:cNvSpPr>
          <p:nvPr/>
        </p:nvSpPr>
        <p:spPr>
          <a:xfrm>
            <a:off x="2118939" y="3178762"/>
            <a:ext cx="4385930" cy="221374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ctr">
              <a:lnSpc>
                <a:spcPts val="1743"/>
              </a:lnSpc>
              <a:buNone/>
            </a:pPr>
            <a:r>
              <a:rPr sz="1200" b="1" u="none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2. Toward </a:t>
            </a:r>
            <a:r>
              <a:rPr lang="en-US" sz="1200" b="1" u="none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G</a:t>
            </a:r>
            <a:r>
              <a:rPr sz="1200" b="1" u="none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o / </a:t>
            </a:r>
            <a:r>
              <a:rPr lang="en-US" sz="1200" b="1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N</a:t>
            </a:r>
            <a:r>
              <a:rPr sz="1200" b="1" u="none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o-</a:t>
            </a:r>
            <a:r>
              <a:rPr lang="en-US" sz="1200" b="1" u="none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G</a:t>
            </a:r>
            <a:r>
              <a:rPr sz="1200" b="1" u="none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o evaluation</a:t>
            </a: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7CABCD6C-C801-F4C4-02E4-07A908EAD70D}"/>
              </a:ext>
            </a:extLst>
          </p:cNvPr>
          <p:cNvSpPr>
            <a:spLocks noGrp="1"/>
          </p:cNvSpPr>
          <p:nvPr/>
        </p:nvSpPr>
        <p:spPr>
          <a:xfrm>
            <a:off x="1356097" y="3596534"/>
            <a:ext cx="5883228" cy="40569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ts val="1713"/>
              </a:lnSpc>
            </a:pPr>
            <a:r>
              <a:rPr lang="en-US" sz="1200" dirty="0"/>
              <a:t>Support responsible decisions on quantum-technology applications by incorporating broader societal perspectives, including those represented by the STEEP framework</a:t>
            </a:r>
            <a:endParaRPr sz="1200" dirty="0"/>
          </a:p>
        </p:txBody>
      </p:sp>
    </p:spTree>
    <p:extLst>
      <p:ext uri="{BB962C8B-B14F-4D97-AF65-F5344CB8AC3E}">
        <p14:creationId xmlns:p14="http://schemas.microsoft.com/office/powerpoint/2010/main" val="1500006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 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2100" y="1360826"/>
            <a:ext cx="7378768" cy="294051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91F3CCA3-B0B7-4D11-8D5F-5181976BB6B2}"/>
              </a:ext>
            </a:extLst>
          </p:cNvPr>
          <p:cNvSpPr>
            <a:spLocks noGrp="1"/>
          </p:cNvSpPr>
          <p:nvPr/>
        </p:nvSpPr>
        <p:spPr>
          <a:xfrm>
            <a:off x="3242775" y="1372407"/>
            <a:ext cx="1428750" cy="22137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l">
              <a:lnSpc>
                <a:spcPts val="1743"/>
              </a:lnSpc>
              <a:buNone/>
            </a:pPr>
            <a:r>
              <a:rPr sz="1200" b="1" u="none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MDR 2 Research Question</a:t>
            </a: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31D9715B-6AE2-43F9-B9C2-EAE02EAC6025}"/>
              </a:ext>
            </a:extLst>
          </p:cNvPr>
          <p:cNvSpPr>
            <a:spLocks noGrp="1"/>
          </p:cNvSpPr>
          <p:nvPr/>
        </p:nvSpPr>
        <p:spPr>
          <a:xfrm>
            <a:off x="647700" y="1815826"/>
            <a:ext cx="3943350" cy="1119517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l">
              <a:lnSpc>
                <a:spcPts val="2212"/>
              </a:lnSpc>
              <a:buNone/>
            </a:pPr>
            <a:endParaRPr sz="1500" u="none" dirty="0">
              <a:latin typeface="Noto Sans JP"/>
              <a:ea typeface="Noto Sans JP"/>
              <a:cs typeface="Noto Sans JP"/>
            </a:endParaRPr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336009A3-C68C-43A8-81FA-591562F39938}"/>
              </a:ext>
            </a:extLst>
          </p:cNvPr>
          <p:cNvSpPr>
            <a:spLocks noGrp="1"/>
          </p:cNvSpPr>
          <p:nvPr/>
        </p:nvSpPr>
        <p:spPr>
          <a:xfrm>
            <a:off x="276278" y="307111"/>
            <a:ext cx="7819979" cy="2324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>
              <a:lnSpc>
                <a:spcPts val="1830"/>
              </a:lnSpc>
            </a:pPr>
            <a:r>
              <a:rPr lang="en-US" sz="2000" b="1" u="none" dirty="0">
                <a:solidFill>
                  <a:srgbClr val="333333"/>
                </a:solidFill>
                <a:ea typeface="Noto Sans JP"/>
                <a:cs typeface="Noto Sans JP"/>
              </a:rPr>
              <a:t>Initial Focus: Transport-Computation Use Cases</a:t>
            </a:r>
            <a:endParaRPr sz="2000" b="1" u="none" dirty="0">
              <a:solidFill>
                <a:srgbClr val="333333"/>
              </a:solidFill>
              <a:ea typeface="Noto Sans JP"/>
              <a:cs typeface="Noto Sans JP"/>
            </a:endParaRPr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792F649B-F83B-48EA-BA13-6DFEC9B8AD31}"/>
              </a:ext>
            </a:extLst>
          </p:cNvPr>
          <p:cNvSpPr>
            <a:spLocks noGrp="1"/>
          </p:cNvSpPr>
          <p:nvPr/>
        </p:nvSpPr>
        <p:spPr>
          <a:xfrm>
            <a:off x="276297" y="647694"/>
            <a:ext cx="7819945" cy="4762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endParaRPr/>
          </a:p>
        </p:txBody>
      </p:sp>
      <p:pic>
        <p:nvPicPr>
          <p:cNvPr id="41" name="Image 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6293" y="592730"/>
            <a:ext cx="7819949" cy="28575"/>
          </a:xfrm>
          <a:prstGeom prst="rect">
            <a:avLst/>
          </a:prstGeom>
        </p:spPr>
      </p:pic>
      <p:pic>
        <p:nvPicPr>
          <p:cNvPr id="42" name="Image 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70692" y="592730"/>
            <a:ext cx="1125550" cy="28575"/>
          </a:xfrm>
          <a:prstGeom prst="rect">
            <a:avLst/>
          </a:prstGeom>
        </p:spPr>
      </p:pic>
      <p:sp>
        <p:nvSpPr>
          <p:cNvPr id="2" name="Text 8">
            <a:extLst>
              <a:ext uri="{FF2B5EF4-FFF2-40B4-BE49-F238E27FC236}">
                <a16:creationId xmlns:a16="http://schemas.microsoft.com/office/drawing/2014/main" id="{0280FC21-8D60-79A7-4C9F-EEF1B39F6CEC}"/>
              </a:ext>
            </a:extLst>
          </p:cNvPr>
          <p:cNvSpPr>
            <a:spLocks noGrp="1"/>
          </p:cNvSpPr>
          <p:nvPr/>
        </p:nvSpPr>
        <p:spPr>
          <a:xfrm>
            <a:off x="276298" y="776265"/>
            <a:ext cx="7689642" cy="22135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>
              <a:lnSpc>
                <a:spcPts val="1743"/>
              </a:lnSpc>
              <a:buNone/>
            </a:pPr>
            <a:r>
              <a:rPr sz="1600" dirty="0"/>
              <a:t>Integrate economic and social perspectives to assess</a:t>
            </a:r>
            <a:r>
              <a:rPr lang="en-US" sz="1600" dirty="0"/>
              <a:t> </a:t>
            </a:r>
            <a:r>
              <a:rPr sz="1600" dirty="0"/>
              <a:t>how quantum technologies can be </a:t>
            </a:r>
            <a:endParaRPr lang="en-US" sz="1600" dirty="0"/>
          </a:p>
          <a:p>
            <a:pPr>
              <a:lnSpc>
                <a:spcPts val="1743"/>
              </a:lnSpc>
              <a:buNone/>
            </a:pPr>
            <a:r>
              <a:rPr sz="1600" dirty="0"/>
              <a:t>developed and implemented in society.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75C5DEF-91E8-FD79-04E5-3C3CF183C0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7951" y="2376827"/>
            <a:ext cx="7382922" cy="294051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6EF8D9F6-35C0-C639-8678-F029E9710359}"/>
              </a:ext>
            </a:extLst>
          </p:cNvPr>
          <p:cNvSpPr>
            <a:spLocks noGrp="1"/>
          </p:cNvSpPr>
          <p:nvPr/>
        </p:nvSpPr>
        <p:spPr>
          <a:xfrm>
            <a:off x="2530594" y="2398812"/>
            <a:ext cx="2853112" cy="22137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ctr">
              <a:lnSpc>
                <a:spcPts val="1743"/>
              </a:lnSpc>
              <a:buNone/>
            </a:pPr>
            <a:r>
              <a:rPr sz="1200" b="1" u="none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Why transport?</a:t>
            </a:r>
          </a:p>
        </p:txBody>
      </p:sp>
      <p:pic>
        <p:nvPicPr>
          <p:cNvPr id="7" name="Image 3">
            <a:extLst>
              <a:ext uri="{FF2B5EF4-FFF2-40B4-BE49-F238E27FC236}">
                <a16:creationId xmlns:a16="http://schemas.microsoft.com/office/drawing/2014/main" id="{DD2A3E0E-E1BE-C56A-5174-7A0BADEB13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7951" y="2662577"/>
            <a:ext cx="7382917" cy="1799826"/>
          </a:xfrm>
          <a:prstGeom prst="rect">
            <a:avLst/>
          </a:prstGeom>
        </p:spPr>
      </p:pic>
      <p:pic>
        <p:nvPicPr>
          <p:cNvPr id="9" name="Image 4">
            <a:extLst>
              <a:ext uri="{FF2B5EF4-FFF2-40B4-BE49-F238E27FC236}">
                <a16:creationId xmlns:a16="http://schemas.microsoft.com/office/drawing/2014/main" id="{E6624E25-6C27-5818-83D1-28F312AAD3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5413" y="2665976"/>
            <a:ext cx="2409019" cy="324366"/>
          </a:xfrm>
          <a:prstGeom prst="rect">
            <a:avLst/>
          </a:prstGeom>
        </p:spPr>
      </p:pic>
      <p:sp>
        <p:nvSpPr>
          <p:cNvPr id="10" name="Text 3">
            <a:extLst>
              <a:ext uri="{FF2B5EF4-FFF2-40B4-BE49-F238E27FC236}">
                <a16:creationId xmlns:a16="http://schemas.microsoft.com/office/drawing/2014/main" id="{09F1FE04-E8E9-E774-9FC7-2893764886C4}"/>
              </a:ext>
            </a:extLst>
          </p:cNvPr>
          <p:cNvSpPr>
            <a:spLocks noGrp="1"/>
          </p:cNvSpPr>
          <p:nvPr/>
        </p:nvSpPr>
        <p:spPr>
          <a:xfrm>
            <a:off x="610826" y="2729517"/>
            <a:ext cx="5499143" cy="148657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>
              <a:lnSpc>
                <a:spcPts val="1481"/>
              </a:lnSpc>
            </a:pPr>
            <a:r>
              <a:rPr lang="en-US" sz="1050" b="1" u="none" dirty="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Near-Term Applicability</a:t>
            </a:r>
            <a:endParaRPr sz="1050" b="1" u="none" dirty="0">
              <a:solidFill>
                <a:srgbClr val="333333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53003F49-421E-7336-9FEC-12D9925AF7F1}"/>
              </a:ext>
            </a:extLst>
          </p:cNvPr>
          <p:cNvSpPr>
            <a:spLocks noGrp="1"/>
          </p:cNvSpPr>
          <p:nvPr/>
        </p:nvSpPr>
        <p:spPr>
          <a:xfrm>
            <a:off x="508078" y="3047129"/>
            <a:ext cx="7226221" cy="32366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ts val="1807"/>
              </a:lnSpc>
            </a:pPr>
            <a:r>
              <a:rPr lang="en-US" sz="1200" dirty="0"/>
              <a:t>Transport optimization provides a suitable application domain because problem instances and operational constraints can be explicitly defined and evaluated.</a:t>
            </a:r>
          </a:p>
        </p:txBody>
      </p:sp>
      <p:pic>
        <p:nvPicPr>
          <p:cNvPr id="18" name="Image 5">
            <a:extLst>
              <a:ext uri="{FF2B5EF4-FFF2-40B4-BE49-F238E27FC236}">
                <a16:creationId xmlns:a16="http://schemas.microsoft.com/office/drawing/2014/main" id="{3962AAEE-8A83-6861-C4B3-44859168AE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1132" y="3518020"/>
            <a:ext cx="2393300" cy="274670"/>
          </a:xfrm>
          <a:prstGeom prst="rect">
            <a:avLst/>
          </a:prstGeom>
        </p:spPr>
      </p:pic>
      <p:sp>
        <p:nvSpPr>
          <p:cNvPr id="19" name="Text 5">
            <a:extLst>
              <a:ext uri="{FF2B5EF4-FFF2-40B4-BE49-F238E27FC236}">
                <a16:creationId xmlns:a16="http://schemas.microsoft.com/office/drawing/2014/main" id="{5CE8B8D7-2586-958F-F415-9CEC3C7D0E3D}"/>
              </a:ext>
            </a:extLst>
          </p:cNvPr>
          <p:cNvSpPr>
            <a:spLocks noGrp="1"/>
          </p:cNvSpPr>
          <p:nvPr/>
        </p:nvSpPr>
        <p:spPr>
          <a:xfrm>
            <a:off x="629968" y="3581026"/>
            <a:ext cx="3106211" cy="148657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>
              <a:lnSpc>
                <a:spcPts val="1481"/>
              </a:lnSpc>
            </a:pPr>
            <a:r>
              <a:rPr lang="en-US" sz="1050" b="1" u="none" dirty="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Broader Application Potential</a:t>
            </a:r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32976A6E-4A4D-121B-A56A-E4D88F555B44}"/>
              </a:ext>
            </a:extLst>
          </p:cNvPr>
          <p:cNvSpPr>
            <a:spLocks noGrp="1"/>
          </p:cNvSpPr>
          <p:nvPr/>
        </p:nvSpPr>
        <p:spPr>
          <a:xfrm>
            <a:off x="507175" y="3867657"/>
            <a:ext cx="7343693" cy="4260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ts val="1809"/>
              </a:lnSpc>
            </a:pPr>
            <a:r>
              <a:rPr lang="en-US" sz="1200" dirty="0"/>
              <a:t>Transportation also enables examination of how quantum computing may interact with adjacent technologies, including materials discovery, batteries, charging systems, and vehicle technologies.</a:t>
            </a:r>
          </a:p>
        </p:txBody>
      </p:sp>
      <p:pic>
        <p:nvPicPr>
          <p:cNvPr id="21" name="Image 3">
            <a:extLst>
              <a:ext uri="{FF2B5EF4-FFF2-40B4-BE49-F238E27FC236}">
                <a16:creationId xmlns:a16="http://schemas.microsoft.com/office/drawing/2014/main" id="{8AB234C6-4B2E-E485-3F95-7D1733AB03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4427" y="1618712"/>
            <a:ext cx="7382917" cy="766266"/>
          </a:xfrm>
          <a:prstGeom prst="rect">
            <a:avLst/>
          </a:prstGeom>
        </p:spPr>
      </p:pic>
      <p:sp>
        <p:nvSpPr>
          <p:cNvPr id="22" name="Text 4">
            <a:extLst>
              <a:ext uri="{FF2B5EF4-FFF2-40B4-BE49-F238E27FC236}">
                <a16:creationId xmlns:a16="http://schemas.microsoft.com/office/drawing/2014/main" id="{174B9522-8B29-43F3-B220-B248D32C9D99}"/>
              </a:ext>
            </a:extLst>
          </p:cNvPr>
          <p:cNvSpPr>
            <a:spLocks noGrp="1"/>
          </p:cNvSpPr>
          <p:nvPr/>
        </p:nvSpPr>
        <p:spPr>
          <a:xfrm>
            <a:off x="534714" y="1661765"/>
            <a:ext cx="7199586" cy="65205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ts val="1800"/>
              </a:lnSpc>
            </a:pPr>
            <a:r>
              <a:rPr lang="ja-JP" altLang="ja-JP" sz="1200"/>
              <a:t>For a specific transport-computation task, how can the problem scale and quantum-resource requirements relevant to social implementation be defined and evaluated?</a:t>
            </a:r>
            <a:r>
              <a:rPr lang="en-US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2252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6864" y="1589853"/>
            <a:ext cx="2196269" cy="329369"/>
          </a:xfrm>
          <a:prstGeom prst="rect">
            <a:avLst/>
          </a:prstGeom>
        </p:spPr>
      </p:pic>
      <p:sp>
        <p:nvSpPr>
          <p:cNvPr id="11" name="Text 5">
            <a:extLst>
              <a:ext uri="{FF2B5EF4-FFF2-40B4-BE49-F238E27FC236}">
                <a16:creationId xmlns:a16="http://schemas.microsoft.com/office/drawing/2014/main" id="{C4BCD3D9-3548-5AB3-DBCC-35A4BE74A378}"/>
              </a:ext>
            </a:extLst>
          </p:cNvPr>
          <p:cNvSpPr>
            <a:spLocks noGrp="1"/>
          </p:cNvSpPr>
          <p:nvPr/>
        </p:nvSpPr>
        <p:spPr>
          <a:xfrm>
            <a:off x="1050925" y="1658874"/>
            <a:ext cx="1809750" cy="19132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>
              <a:lnSpc>
                <a:spcPts val="1507"/>
              </a:lnSpc>
            </a:pPr>
            <a:r>
              <a:rPr lang="en-US" altLang="ja-JP" sz="1050" b="1" u="none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Current Research Focus</a:t>
            </a:r>
          </a:p>
        </p:txBody>
      </p:sp>
      <p:pic>
        <p:nvPicPr>
          <p:cNvPr id="46" name="Imag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4423" y="1585853"/>
            <a:ext cx="2196269" cy="329369"/>
          </a:xfrm>
          <a:prstGeom prst="rect">
            <a:avLst/>
          </a:prstGeom>
        </p:spPr>
      </p:pic>
      <p:sp>
        <p:nvSpPr>
          <p:cNvPr id="18" name="Text 10">
            <a:extLst>
              <a:ext uri="{FF2B5EF4-FFF2-40B4-BE49-F238E27FC236}">
                <a16:creationId xmlns:a16="http://schemas.microsoft.com/office/drawing/2014/main" id="{C666E7EA-F388-D494-1A21-6D3E724AED8E}"/>
              </a:ext>
            </a:extLst>
          </p:cNvPr>
          <p:cNvSpPr>
            <a:spLocks noGrp="1"/>
          </p:cNvSpPr>
          <p:nvPr/>
        </p:nvSpPr>
        <p:spPr>
          <a:xfrm>
            <a:off x="5437606" y="1642109"/>
            <a:ext cx="1104900" cy="19132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>
              <a:lnSpc>
                <a:spcPts val="1507"/>
              </a:lnSpc>
            </a:pPr>
            <a:r>
              <a:rPr lang="en-US" altLang="ja-JP" sz="1050" b="1" u="none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WIP Direction</a:t>
            </a:r>
          </a:p>
        </p:txBody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15C7F805-8B09-326E-2475-A72A0A52A846}"/>
              </a:ext>
            </a:extLst>
          </p:cNvPr>
          <p:cNvSpPr>
            <a:spLocks noGrp="1"/>
          </p:cNvSpPr>
          <p:nvPr/>
        </p:nvSpPr>
        <p:spPr>
          <a:xfrm>
            <a:off x="276278" y="307526"/>
            <a:ext cx="7819979" cy="2355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>
              <a:lnSpc>
                <a:spcPts val="1854"/>
              </a:lnSpc>
            </a:pPr>
            <a:r>
              <a:rPr lang="en-US" sz="2000" b="1" dirty="0">
                <a:solidFill>
                  <a:srgbClr val="333333"/>
                </a:solidFill>
                <a:ea typeface="Noto Sans JP"/>
                <a:cs typeface="Noto Sans JP"/>
              </a:rPr>
              <a:t>Research Overview</a:t>
            </a:r>
            <a:endParaRPr lang="en-US" sz="2000" b="1" u="none" dirty="0">
              <a:solidFill>
                <a:srgbClr val="333333"/>
              </a:solidFill>
              <a:ea typeface="Noto Sans JP"/>
              <a:cs typeface="Noto Sans JP"/>
            </a:endParaRPr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3C31E9F2-D8A6-279A-B030-56A1DAAF4D08}"/>
              </a:ext>
            </a:extLst>
          </p:cNvPr>
          <p:cNvSpPr>
            <a:spLocks noGrp="1"/>
          </p:cNvSpPr>
          <p:nvPr/>
        </p:nvSpPr>
        <p:spPr>
          <a:xfrm>
            <a:off x="276297" y="719671"/>
            <a:ext cx="7819945" cy="39637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ts val="1738"/>
              </a:lnSpc>
            </a:pPr>
            <a:r>
              <a:rPr lang="en-US" sz="1600" u="none" dirty="0">
                <a:solidFill>
                  <a:srgbClr val="333333"/>
                </a:solidFill>
                <a:ea typeface="Noto Sans JP"/>
                <a:cs typeface="Noto Sans JP"/>
              </a:rPr>
              <a:t>This research evaluates quantum-resource requirements in relation to transport-specific problem scale, operational constraints, and social-implementation needs.</a:t>
            </a:r>
          </a:p>
        </p:txBody>
      </p:sp>
      <p:pic>
        <p:nvPicPr>
          <p:cNvPr id="54" name="Imag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6293" y="592730"/>
            <a:ext cx="7819949" cy="28575"/>
          </a:xfrm>
          <a:prstGeom prst="rect">
            <a:avLst/>
          </a:prstGeom>
        </p:spPr>
      </p:pic>
      <p:pic>
        <p:nvPicPr>
          <p:cNvPr id="55" name="Image 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70692" y="592730"/>
            <a:ext cx="1125550" cy="28575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ADB9573-FAAE-04B1-C84B-8C3A1FF5A664}"/>
              </a:ext>
            </a:extLst>
          </p:cNvPr>
          <p:cNvSpPr txBox="1"/>
          <p:nvPr/>
        </p:nvSpPr>
        <p:spPr>
          <a:xfrm>
            <a:off x="663991" y="2096672"/>
            <a:ext cx="2859183" cy="2149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defRPr sz="1200">
                <a:solidFill>
                  <a:srgbClr val="3F555B"/>
                </a:solidFill>
              </a:defRPr>
            </a:pPr>
            <a:r>
              <a:rPr lang="en-US" altLang="ja-JP" sz="1200" dirty="0"/>
              <a:t>• Define transport-specific problem instances and operational constraints.</a:t>
            </a:r>
          </a:p>
          <a:p>
            <a:pPr>
              <a:lnSpc>
                <a:spcPct val="112000"/>
              </a:lnSpc>
              <a:defRPr sz="1200">
                <a:solidFill>
                  <a:srgbClr val="3F555B"/>
                </a:solidFill>
              </a:defRPr>
            </a:pPr>
            <a:endParaRPr lang="en-US" altLang="ja-JP" sz="1200" dirty="0"/>
          </a:p>
          <a:p>
            <a:pPr>
              <a:lnSpc>
                <a:spcPct val="112000"/>
              </a:lnSpc>
              <a:defRPr sz="1200">
                <a:solidFill>
                  <a:srgbClr val="3F555B"/>
                </a:solidFill>
              </a:defRPr>
            </a:pPr>
            <a:r>
              <a:rPr lang="en-US" altLang="ja-JP" sz="1200" dirty="0"/>
              <a:t>• Extract reported formulations, encodings, circuit widths, and evaluation modalities from quantum-routing studies.</a:t>
            </a:r>
          </a:p>
          <a:p>
            <a:pPr>
              <a:lnSpc>
                <a:spcPct val="112000"/>
              </a:lnSpc>
              <a:defRPr sz="1200">
                <a:solidFill>
                  <a:srgbClr val="3F555B"/>
                </a:solidFill>
              </a:defRPr>
            </a:pPr>
            <a:endParaRPr lang="en-US" altLang="ja-JP" sz="1200" dirty="0"/>
          </a:p>
          <a:p>
            <a:pPr>
              <a:lnSpc>
                <a:spcPct val="112000"/>
              </a:lnSpc>
              <a:defRPr sz="1200">
                <a:solidFill>
                  <a:srgbClr val="3F555B"/>
                </a:solidFill>
              </a:defRPr>
            </a:pPr>
            <a:r>
              <a:rPr lang="en-US" altLang="ja-JP" sz="1200" dirty="0"/>
              <a:t>• Compare application requirements with the conditions represented in current quantum-routing research. </a:t>
            </a:r>
          </a:p>
        </p:txBody>
      </p:sp>
      <p:sp>
        <p:nvSpPr>
          <p:cNvPr id="9" name="card-body-3">
            <a:extLst>
              <a:ext uri="{FF2B5EF4-FFF2-40B4-BE49-F238E27FC236}">
                <a16:creationId xmlns:a16="http://schemas.microsoft.com/office/drawing/2014/main" id="{2280F71B-CF0B-EDF4-0974-EE568350E353}"/>
              </a:ext>
            </a:extLst>
          </p:cNvPr>
          <p:cNvSpPr>
            <a:spLocks noGrp="1"/>
          </p:cNvSpPr>
          <p:nvPr/>
        </p:nvSpPr>
        <p:spPr>
          <a:xfrm>
            <a:off x="4591050" y="2096672"/>
            <a:ext cx="3019425" cy="1866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12000"/>
              </a:lnSpc>
              <a:defRPr sz="1200">
                <a:solidFill>
                  <a:srgbClr val="3F555B"/>
                </a:solidFill>
              </a:defRPr>
            </a:pPr>
            <a:r>
              <a:rPr sz="1200" dirty="0"/>
              <a:t>•</a:t>
            </a:r>
            <a:r>
              <a:rPr lang="en-US" sz="1200" dirty="0"/>
              <a:t>Develop an application-oriented framework for interpreting quantum-resource requirements.</a:t>
            </a:r>
          </a:p>
          <a:p>
            <a:pPr>
              <a:lnSpc>
                <a:spcPct val="112000"/>
              </a:lnSpc>
              <a:defRPr sz="1200">
                <a:solidFill>
                  <a:srgbClr val="3F555B"/>
                </a:solidFill>
              </a:defRPr>
            </a:pPr>
            <a:endParaRPr sz="1200" dirty="0"/>
          </a:p>
          <a:p>
            <a:pPr>
              <a:lnSpc>
                <a:spcPct val="112000"/>
              </a:lnSpc>
              <a:defRPr sz="1200">
                <a:solidFill>
                  <a:srgbClr val="3F555B"/>
                </a:solidFill>
              </a:defRPr>
            </a:pPr>
            <a:r>
              <a:rPr sz="1200" dirty="0"/>
              <a:t>• </a:t>
            </a:r>
            <a:r>
              <a:rPr lang="en-US" sz="1200" dirty="0"/>
              <a:t>Relate circuit width to problem-instance definition, operational constraints, formulation and encoding, and evaluation modality.</a:t>
            </a:r>
            <a:endParaRPr sz="1200" dirty="0"/>
          </a:p>
        </p:txBody>
      </p:sp>
    </p:spTree>
    <p:extLst>
      <p:ext uri="{BB962C8B-B14F-4D97-AF65-F5344CB8AC3E}">
        <p14:creationId xmlns:p14="http://schemas.microsoft.com/office/powerpoint/2010/main" val="3690481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 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7394" y="1499821"/>
            <a:ext cx="3482144" cy="329369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B0EAFC53-9561-4810-A4A1-4F14F4ED14A2}"/>
              </a:ext>
            </a:extLst>
          </p:cNvPr>
          <p:cNvSpPr>
            <a:spLocks noGrp="1"/>
          </p:cNvSpPr>
          <p:nvPr/>
        </p:nvSpPr>
        <p:spPr>
          <a:xfrm>
            <a:off x="1121191" y="1556077"/>
            <a:ext cx="2095500" cy="19132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ts val="1507"/>
              </a:lnSpc>
            </a:pPr>
            <a:r>
              <a:rPr lang="en-US" sz="1050" b="1" u="none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What Was Reviewed</a:t>
            </a:r>
            <a:endParaRPr sz="1050" b="1" u="none" dirty="0">
              <a:solidFill>
                <a:srgbClr val="FFFFFF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A02FB8B2-0C1D-4207-A103-3200B7559926}"/>
              </a:ext>
            </a:extLst>
          </p:cNvPr>
          <p:cNvSpPr>
            <a:spLocks noGrp="1"/>
          </p:cNvSpPr>
          <p:nvPr/>
        </p:nvSpPr>
        <p:spPr>
          <a:xfrm>
            <a:off x="437394" y="2185797"/>
            <a:ext cx="3181350" cy="164991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ts val="2338"/>
              </a:lnSpc>
            </a:pPr>
            <a:r>
              <a:rPr sz="900" u="none" dirty="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・</a:t>
            </a:r>
            <a:r>
              <a:rPr lang="en-US" sz="900" u="none" dirty="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Application-oriented quantum benchmarking studies</a:t>
            </a:r>
          </a:p>
          <a:p>
            <a:pPr>
              <a:lnSpc>
                <a:spcPts val="2338"/>
              </a:lnSpc>
            </a:pPr>
            <a:r>
              <a:rPr lang="en-US" sz="900" u="none" dirty="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• Transport-problem instances examined in quantum studies</a:t>
            </a:r>
          </a:p>
          <a:p>
            <a:pPr>
              <a:lnSpc>
                <a:spcPts val="2338"/>
              </a:lnSpc>
            </a:pPr>
            <a:r>
              <a:rPr lang="en-US" sz="900" u="none" dirty="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• Reported circuit widths and resource estimates</a:t>
            </a:r>
          </a:p>
          <a:p>
            <a:pPr>
              <a:lnSpc>
                <a:spcPts val="2338"/>
              </a:lnSpc>
            </a:pPr>
            <a:r>
              <a:rPr lang="en-US" sz="900" u="none" dirty="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• Formulations and encodings used to construct the circuits</a:t>
            </a:r>
          </a:p>
          <a:p>
            <a:pPr>
              <a:lnSpc>
                <a:spcPts val="2338"/>
              </a:lnSpc>
            </a:pPr>
            <a:r>
              <a:rPr lang="en-US" sz="900" u="none" dirty="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• Evaluation modalities supporting the reported results Similar application-instance scales may lead to different circuit widths.</a:t>
            </a:r>
          </a:p>
        </p:txBody>
      </p:sp>
      <p:pic>
        <p:nvPicPr>
          <p:cNvPr id="25" name="Imag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09294" y="1499821"/>
            <a:ext cx="3482144" cy="329369"/>
          </a:xfrm>
          <a:prstGeom prst="rect">
            <a:avLst/>
          </a:prstGeom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B5FF2ABB-469C-4640-AB41-1078C6FE2C32}"/>
              </a:ext>
            </a:extLst>
          </p:cNvPr>
          <p:cNvSpPr>
            <a:spLocks noGrp="1"/>
          </p:cNvSpPr>
          <p:nvPr/>
        </p:nvSpPr>
        <p:spPr>
          <a:xfrm>
            <a:off x="4916904" y="1556077"/>
            <a:ext cx="2047875" cy="19132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ts val="1507"/>
              </a:lnSpc>
            </a:pPr>
            <a:r>
              <a:rPr lang="en-US" sz="1050" b="1" u="none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What Was Observed</a:t>
            </a:r>
            <a:endParaRPr sz="1050" b="1" u="none" dirty="0">
              <a:solidFill>
                <a:srgbClr val="FFFFFF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F3EFB0A6-BBF5-4432-86F7-D1A734C44EE6}"/>
              </a:ext>
            </a:extLst>
          </p:cNvPr>
          <p:cNvSpPr>
            <a:spLocks noGrp="1"/>
          </p:cNvSpPr>
          <p:nvPr/>
        </p:nvSpPr>
        <p:spPr>
          <a:xfrm>
            <a:off x="4209294" y="2357437"/>
            <a:ext cx="3907253" cy="176845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ts val="2338"/>
              </a:lnSpc>
            </a:pPr>
            <a:r>
              <a:rPr lang="en-US" sz="900" u="none" dirty="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• Circuit width depends on problem instance, formulation, and</a:t>
            </a:r>
          </a:p>
          <a:p>
            <a:pPr>
              <a:lnSpc>
                <a:spcPts val="2338"/>
              </a:lnSpc>
            </a:pPr>
            <a:r>
              <a:rPr lang="en-US" sz="900" u="none" dirty="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 encoding.</a:t>
            </a:r>
          </a:p>
          <a:p>
            <a:pPr>
              <a:lnSpc>
                <a:spcPts val="2338"/>
              </a:lnSpc>
            </a:pPr>
            <a:r>
              <a:rPr lang="en-US" sz="900" u="none" dirty="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• Similar problem-instance scales may lead to different circuit widths depending on formulation and encoding.</a:t>
            </a:r>
          </a:p>
          <a:p>
            <a:pPr>
              <a:lnSpc>
                <a:spcPts val="2338"/>
              </a:lnSpc>
            </a:pPr>
            <a:r>
              <a:rPr lang="en-US" sz="900" u="none" dirty="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• Reported qubit counts must be interpreted together with the problem instance, formulation, encoding, and evaluation modality.</a:t>
            </a:r>
          </a:p>
          <a:p>
            <a:pPr>
              <a:lnSpc>
                <a:spcPts val="2338"/>
              </a:lnSpc>
            </a:pPr>
            <a:r>
              <a:rPr lang="en-US" sz="900" u="none" dirty="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• Executing a wide circuit does not, by itself, establish quantum  utility.</a:t>
            </a:r>
          </a:p>
          <a:p>
            <a:pPr>
              <a:lnSpc>
                <a:spcPts val="2338"/>
              </a:lnSpc>
            </a:pPr>
            <a:r>
              <a:rPr lang="en-US" sz="900" u="none" dirty="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• Application-side requirements must be defined before resource  requirements can be interpreted.</a:t>
            </a:r>
          </a:p>
          <a:p>
            <a:pPr>
              <a:lnSpc>
                <a:spcPts val="2338"/>
              </a:lnSpc>
            </a:pPr>
            <a:endParaRPr sz="900" u="none" dirty="0">
              <a:solidFill>
                <a:srgbClr val="333333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3551EF58-2A0E-4C35-B21D-BBC593680647}"/>
              </a:ext>
            </a:extLst>
          </p:cNvPr>
          <p:cNvSpPr>
            <a:spLocks noGrp="1"/>
          </p:cNvSpPr>
          <p:nvPr/>
        </p:nvSpPr>
        <p:spPr>
          <a:xfrm>
            <a:off x="276278" y="307526"/>
            <a:ext cx="7819979" cy="2355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l">
              <a:lnSpc>
                <a:spcPts val="1854"/>
              </a:lnSpc>
              <a:buNone/>
            </a:pPr>
            <a:r>
              <a:rPr sz="2000" b="1" u="none" dirty="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Survey: What Was Checked and What Was Learned</a:t>
            </a: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54FB3AEA-C714-46E8-B05A-40F250318D05}"/>
              </a:ext>
            </a:extLst>
          </p:cNvPr>
          <p:cNvSpPr>
            <a:spLocks noGrp="1"/>
          </p:cNvSpPr>
          <p:nvPr/>
        </p:nvSpPr>
        <p:spPr>
          <a:xfrm>
            <a:off x="276297" y="707854"/>
            <a:ext cx="7819945" cy="44169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ts val="1739"/>
              </a:lnSpc>
            </a:pPr>
            <a:r>
              <a:rPr lang="en-US" sz="1600" u="none" dirty="0">
                <a:solidFill>
                  <a:srgbClr val="333333"/>
                </a:solidFill>
                <a:ea typeface="Noto Sans JP"/>
                <a:cs typeface="Noto Sans JP"/>
              </a:rPr>
              <a:t>Reviewed how transport problems are translated into reported circuit widths and how those values are supported through simulation, hardware execution, or resource estimation.</a:t>
            </a:r>
          </a:p>
        </p:txBody>
      </p:sp>
      <p:pic>
        <p:nvPicPr>
          <p:cNvPr id="31" name="Imag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6293" y="592730"/>
            <a:ext cx="7819949" cy="28575"/>
          </a:xfrm>
          <a:prstGeom prst="rect">
            <a:avLst/>
          </a:prstGeom>
        </p:spPr>
      </p:pic>
      <p:pic>
        <p:nvPicPr>
          <p:cNvPr id="32" name="Imag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70692" y="592730"/>
            <a:ext cx="1125550" cy="28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484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Image 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9048" y="1284828"/>
            <a:ext cx="3364944" cy="493684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B511378B-3D54-40FF-8CE2-F1D2B2AFEB53}"/>
              </a:ext>
            </a:extLst>
          </p:cNvPr>
          <p:cNvSpPr>
            <a:spLocks noGrp="1"/>
          </p:cNvSpPr>
          <p:nvPr/>
        </p:nvSpPr>
        <p:spPr>
          <a:xfrm>
            <a:off x="597056" y="1439498"/>
            <a:ext cx="2828925" cy="19132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ts val="1507"/>
              </a:lnSpc>
            </a:pPr>
            <a:r>
              <a:rPr lang="en-US" altLang="ja-JP" sz="1000" b="1" u="none" dirty="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Application-Oriented Benchmarking Perspectives</a:t>
            </a:r>
          </a:p>
        </p:txBody>
      </p:sp>
      <p:pic>
        <p:nvPicPr>
          <p:cNvPr id="102" name="Image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59740" y="1284828"/>
            <a:ext cx="3053519" cy="468660"/>
          </a:xfrm>
          <a:prstGeom prst="rect">
            <a:avLst/>
          </a:prstGeom>
        </p:spPr>
      </p:pic>
      <p:pic>
        <p:nvPicPr>
          <p:cNvPr id="104" name="Imag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2084" y="1833223"/>
            <a:ext cx="3358871" cy="215621"/>
          </a:xfrm>
          <a:prstGeom prst="rect">
            <a:avLst/>
          </a:prstGeom>
        </p:spPr>
      </p:pic>
      <p:sp>
        <p:nvSpPr>
          <p:cNvPr id="8" name="Text 2">
            <a:extLst>
              <a:ext uri="{FF2B5EF4-FFF2-40B4-BE49-F238E27FC236}">
                <a16:creationId xmlns:a16="http://schemas.microsoft.com/office/drawing/2014/main" id="{350BA095-0C5A-47C6-9C3C-B4C56E91623F}"/>
              </a:ext>
            </a:extLst>
          </p:cNvPr>
          <p:cNvSpPr>
            <a:spLocks noGrp="1"/>
          </p:cNvSpPr>
          <p:nvPr/>
        </p:nvSpPr>
        <p:spPr>
          <a:xfrm>
            <a:off x="1223963" y="1845408"/>
            <a:ext cx="1724025" cy="16560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ts val="1304"/>
              </a:lnSpc>
            </a:pPr>
            <a:r>
              <a:rPr lang="en-US" altLang="ja-JP" sz="1000" dirty="0">
                <a:solidFill>
                  <a:srgbClr val="25313F"/>
                </a:solidFill>
              </a:rPr>
              <a:t>Application / Algorithm</a:t>
            </a:r>
            <a:endParaRPr lang="en-US" altLang="ja-JP" sz="1000" dirty="0"/>
          </a:p>
        </p:txBody>
      </p:sp>
      <p:pic>
        <p:nvPicPr>
          <p:cNvPr id="106" name="Imag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91356" y="2020737"/>
            <a:ext cx="27338" cy="117206"/>
          </a:xfrm>
          <a:prstGeom prst="rect">
            <a:avLst/>
          </a:prstGeom>
        </p:spPr>
      </p:pic>
      <p:pic>
        <p:nvPicPr>
          <p:cNvPr id="107" name="Imag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64165" y="2128967"/>
            <a:ext cx="62671" cy="53146"/>
          </a:xfrm>
          <a:prstGeom prst="rect">
            <a:avLst/>
          </a:prstGeom>
        </p:spPr>
      </p:pic>
      <p:pic>
        <p:nvPicPr>
          <p:cNvPr id="108" name="Imag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2084" y="2176123"/>
            <a:ext cx="3358871" cy="215621"/>
          </a:xfrm>
          <a:prstGeom prst="rect">
            <a:avLst/>
          </a:prstGeom>
        </p:spPr>
      </p:pic>
      <p:sp>
        <p:nvSpPr>
          <p:cNvPr id="12" name="Text 3">
            <a:extLst>
              <a:ext uri="{FF2B5EF4-FFF2-40B4-BE49-F238E27FC236}">
                <a16:creationId xmlns:a16="http://schemas.microsoft.com/office/drawing/2014/main" id="{FA01B44C-3DAB-4B4F-8E9B-0B636C2A0C8E}"/>
              </a:ext>
            </a:extLst>
          </p:cNvPr>
          <p:cNvSpPr>
            <a:spLocks noGrp="1"/>
          </p:cNvSpPr>
          <p:nvPr/>
        </p:nvSpPr>
        <p:spPr>
          <a:xfrm>
            <a:off x="1609725" y="2188308"/>
            <a:ext cx="952500" cy="16560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ts val="1304"/>
              </a:lnSpc>
            </a:pPr>
            <a:r>
              <a:rPr lang="en-US" altLang="ja-JP" sz="1000" dirty="0">
                <a:solidFill>
                  <a:srgbClr val="25313F"/>
                </a:solidFill>
              </a:rPr>
              <a:t>Feasible Problem Size</a:t>
            </a:r>
            <a:endParaRPr lang="en-US" altLang="ja-JP" sz="1000" dirty="0"/>
          </a:p>
        </p:txBody>
      </p:sp>
      <p:pic>
        <p:nvPicPr>
          <p:cNvPr id="110" name="Image 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091356" y="2363637"/>
            <a:ext cx="27338" cy="117206"/>
          </a:xfrm>
          <a:prstGeom prst="rect">
            <a:avLst/>
          </a:prstGeom>
        </p:spPr>
      </p:pic>
      <p:pic>
        <p:nvPicPr>
          <p:cNvPr id="111" name="Image 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064165" y="2471867"/>
            <a:ext cx="62671" cy="53146"/>
          </a:xfrm>
          <a:prstGeom prst="rect">
            <a:avLst/>
          </a:prstGeom>
        </p:spPr>
      </p:pic>
      <p:pic>
        <p:nvPicPr>
          <p:cNvPr id="112" name="Image 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2084" y="2519023"/>
            <a:ext cx="3358871" cy="215621"/>
          </a:xfrm>
          <a:prstGeom prst="rect">
            <a:avLst/>
          </a:prstGeom>
        </p:spPr>
      </p:pic>
      <p:sp>
        <p:nvSpPr>
          <p:cNvPr id="16" name="Text 4">
            <a:extLst>
              <a:ext uri="{FF2B5EF4-FFF2-40B4-BE49-F238E27FC236}">
                <a16:creationId xmlns:a16="http://schemas.microsoft.com/office/drawing/2014/main" id="{4284C335-4245-451A-A4B6-23508EBF4FBA}"/>
              </a:ext>
            </a:extLst>
          </p:cNvPr>
          <p:cNvSpPr>
            <a:spLocks noGrp="1"/>
          </p:cNvSpPr>
          <p:nvPr/>
        </p:nvSpPr>
        <p:spPr>
          <a:xfrm>
            <a:off x="1209675" y="2531208"/>
            <a:ext cx="1752600" cy="16560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ts val="1304"/>
              </a:lnSpc>
            </a:pPr>
            <a:r>
              <a:rPr lang="en-US" altLang="ja-JP" sz="1000" dirty="0">
                <a:solidFill>
                  <a:srgbClr val="25313F"/>
                </a:solidFill>
              </a:rPr>
              <a:t>Application-Derived Circuit</a:t>
            </a:r>
            <a:endParaRPr lang="en-US" altLang="ja-JP" sz="1000" dirty="0"/>
          </a:p>
        </p:txBody>
      </p:sp>
      <p:pic>
        <p:nvPicPr>
          <p:cNvPr id="114" name="Image 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91356" y="2706537"/>
            <a:ext cx="27338" cy="117206"/>
          </a:xfrm>
          <a:prstGeom prst="rect">
            <a:avLst/>
          </a:prstGeom>
        </p:spPr>
      </p:pic>
      <p:pic>
        <p:nvPicPr>
          <p:cNvPr id="115" name="Image 1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064165" y="2814767"/>
            <a:ext cx="62671" cy="53146"/>
          </a:xfrm>
          <a:prstGeom prst="rect">
            <a:avLst/>
          </a:prstGeom>
        </p:spPr>
      </p:pic>
      <p:pic>
        <p:nvPicPr>
          <p:cNvPr id="116" name="Image 1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2084" y="2861923"/>
            <a:ext cx="3358871" cy="215621"/>
          </a:xfrm>
          <a:prstGeom prst="rect">
            <a:avLst/>
          </a:prstGeom>
        </p:spPr>
      </p:pic>
      <p:sp>
        <p:nvSpPr>
          <p:cNvPr id="20" name="Text 5">
            <a:extLst>
              <a:ext uri="{FF2B5EF4-FFF2-40B4-BE49-F238E27FC236}">
                <a16:creationId xmlns:a16="http://schemas.microsoft.com/office/drawing/2014/main" id="{CD661DA2-1EA5-49B6-BECA-1B3221193B06}"/>
              </a:ext>
            </a:extLst>
          </p:cNvPr>
          <p:cNvSpPr>
            <a:spLocks noGrp="1"/>
          </p:cNvSpPr>
          <p:nvPr/>
        </p:nvSpPr>
        <p:spPr>
          <a:xfrm>
            <a:off x="1666875" y="2874108"/>
            <a:ext cx="838200" cy="16560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ts val="1304"/>
              </a:lnSpc>
            </a:pPr>
            <a:r>
              <a:rPr lang="en-US" altLang="ja-JP" sz="1000" b="1" dirty="0">
                <a:solidFill>
                  <a:srgbClr val="25313F"/>
                </a:solidFill>
              </a:rPr>
              <a:t>Circuit Width and Depth</a:t>
            </a:r>
            <a:endParaRPr lang="en-US" altLang="ja-JP" sz="1000" dirty="0"/>
          </a:p>
        </p:txBody>
      </p:sp>
      <p:pic>
        <p:nvPicPr>
          <p:cNvPr id="118" name="Image 1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091356" y="3049437"/>
            <a:ext cx="27338" cy="117206"/>
          </a:xfrm>
          <a:prstGeom prst="rect">
            <a:avLst/>
          </a:prstGeom>
        </p:spPr>
      </p:pic>
      <p:pic>
        <p:nvPicPr>
          <p:cNvPr id="119" name="Image 1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064165" y="3157667"/>
            <a:ext cx="62671" cy="53146"/>
          </a:xfrm>
          <a:prstGeom prst="rect">
            <a:avLst/>
          </a:prstGeom>
        </p:spPr>
      </p:pic>
      <p:pic>
        <p:nvPicPr>
          <p:cNvPr id="120" name="Image 1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2084" y="3204823"/>
            <a:ext cx="3358871" cy="215621"/>
          </a:xfrm>
          <a:prstGeom prst="rect">
            <a:avLst/>
          </a:prstGeom>
        </p:spPr>
      </p:pic>
      <p:sp>
        <p:nvSpPr>
          <p:cNvPr id="24" name="Text 6">
            <a:extLst>
              <a:ext uri="{FF2B5EF4-FFF2-40B4-BE49-F238E27FC236}">
                <a16:creationId xmlns:a16="http://schemas.microsoft.com/office/drawing/2014/main" id="{7DCF0801-9D92-4290-80C6-9DBB6C83CC46}"/>
              </a:ext>
            </a:extLst>
          </p:cNvPr>
          <p:cNvSpPr>
            <a:spLocks noGrp="1"/>
          </p:cNvSpPr>
          <p:nvPr/>
        </p:nvSpPr>
        <p:spPr>
          <a:xfrm>
            <a:off x="1781175" y="3217008"/>
            <a:ext cx="609600" cy="16560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ts val="1304"/>
              </a:lnSpc>
            </a:pPr>
            <a:r>
              <a:rPr lang="en-US" altLang="ja-JP" sz="1000" dirty="0">
                <a:solidFill>
                  <a:srgbClr val="25313F"/>
                </a:solidFill>
              </a:rPr>
              <a:t>Solution Quality</a:t>
            </a:r>
            <a:endParaRPr lang="en-US" altLang="ja-JP" sz="1000" dirty="0"/>
          </a:p>
        </p:txBody>
      </p:sp>
      <p:pic>
        <p:nvPicPr>
          <p:cNvPr id="122" name="Image 1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091356" y="3392337"/>
            <a:ext cx="27338" cy="117206"/>
          </a:xfrm>
          <a:prstGeom prst="rect">
            <a:avLst/>
          </a:prstGeom>
        </p:spPr>
      </p:pic>
      <p:pic>
        <p:nvPicPr>
          <p:cNvPr id="123" name="Image 1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064165" y="3500567"/>
            <a:ext cx="62671" cy="53146"/>
          </a:xfrm>
          <a:prstGeom prst="rect">
            <a:avLst/>
          </a:prstGeom>
        </p:spPr>
      </p:pic>
      <p:pic>
        <p:nvPicPr>
          <p:cNvPr id="124" name="Image 1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2084" y="3547723"/>
            <a:ext cx="3358871" cy="215621"/>
          </a:xfrm>
          <a:prstGeom prst="rect">
            <a:avLst/>
          </a:prstGeom>
        </p:spPr>
      </p:pic>
      <p:sp>
        <p:nvSpPr>
          <p:cNvPr id="28" name="Text 7">
            <a:extLst>
              <a:ext uri="{FF2B5EF4-FFF2-40B4-BE49-F238E27FC236}">
                <a16:creationId xmlns:a16="http://schemas.microsoft.com/office/drawing/2014/main" id="{1F3C10B8-DD6E-4116-B0C5-4677CACF9177}"/>
              </a:ext>
            </a:extLst>
          </p:cNvPr>
          <p:cNvSpPr>
            <a:spLocks noGrp="1"/>
          </p:cNvSpPr>
          <p:nvPr/>
        </p:nvSpPr>
        <p:spPr>
          <a:xfrm>
            <a:off x="1385888" y="3559908"/>
            <a:ext cx="1400175" cy="16560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ts val="1304"/>
              </a:lnSpc>
            </a:pPr>
            <a:r>
              <a:rPr lang="en-US" altLang="ja-JP" sz="1000" dirty="0">
                <a:solidFill>
                  <a:srgbClr val="25313F"/>
                </a:solidFill>
              </a:rPr>
              <a:t>Execution Time and Resource Usage</a:t>
            </a:r>
            <a:endParaRPr lang="en-US" altLang="ja-JP" sz="1000" dirty="0"/>
          </a:p>
        </p:txBody>
      </p:sp>
      <p:pic>
        <p:nvPicPr>
          <p:cNvPr id="126" name="Image 1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759740" y="1833693"/>
            <a:ext cx="3053519" cy="196019"/>
          </a:xfrm>
          <a:prstGeom prst="rect">
            <a:avLst/>
          </a:prstGeom>
        </p:spPr>
      </p:pic>
      <p:sp>
        <p:nvSpPr>
          <p:cNvPr id="30" name="Text 8">
            <a:extLst>
              <a:ext uri="{FF2B5EF4-FFF2-40B4-BE49-F238E27FC236}">
                <a16:creationId xmlns:a16="http://schemas.microsoft.com/office/drawing/2014/main" id="{28EF88AF-3E12-456B-B66E-8FE081EFA7AB}"/>
              </a:ext>
            </a:extLst>
          </p:cNvPr>
          <p:cNvSpPr>
            <a:spLocks noGrp="1"/>
          </p:cNvSpPr>
          <p:nvPr/>
        </p:nvSpPr>
        <p:spPr>
          <a:xfrm>
            <a:off x="6029325" y="1845408"/>
            <a:ext cx="495300" cy="16560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ts val="1304"/>
              </a:lnSpc>
            </a:pPr>
            <a:r>
              <a:rPr lang="en-US" altLang="ja-JP" sz="900" b="1" u="none" dirty="0">
                <a:solidFill>
                  <a:srgbClr val="007E8F"/>
                </a:solidFill>
                <a:latin typeface="Noto Sans JP"/>
                <a:ea typeface="Noto Sans JP"/>
                <a:cs typeface="Noto Sans JP"/>
              </a:rPr>
              <a:t>Transport Problem Class</a:t>
            </a:r>
          </a:p>
        </p:txBody>
      </p:sp>
      <p:pic>
        <p:nvPicPr>
          <p:cNvPr id="128" name="Image 1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282356" y="2020737"/>
            <a:ext cx="27338" cy="69581"/>
          </a:xfrm>
          <a:prstGeom prst="rect">
            <a:avLst/>
          </a:prstGeom>
        </p:spPr>
      </p:pic>
      <p:pic>
        <p:nvPicPr>
          <p:cNvPr id="129" name="Image 2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255164" y="2081341"/>
            <a:ext cx="62672" cy="43622"/>
          </a:xfrm>
          <a:prstGeom prst="rect">
            <a:avLst/>
          </a:prstGeom>
        </p:spPr>
      </p:pic>
      <p:pic>
        <p:nvPicPr>
          <p:cNvPr id="130" name="Image 2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759740" y="2119443"/>
            <a:ext cx="3053519" cy="196019"/>
          </a:xfrm>
          <a:prstGeom prst="rect">
            <a:avLst/>
          </a:prstGeom>
        </p:spPr>
      </p:pic>
      <p:sp>
        <p:nvSpPr>
          <p:cNvPr id="34" name="Text 9">
            <a:extLst>
              <a:ext uri="{FF2B5EF4-FFF2-40B4-BE49-F238E27FC236}">
                <a16:creationId xmlns:a16="http://schemas.microsoft.com/office/drawing/2014/main" id="{F131FE65-0953-4223-8645-C626F753EDE7}"/>
              </a:ext>
            </a:extLst>
          </p:cNvPr>
          <p:cNvSpPr>
            <a:spLocks noGrp="1"/>
          </p:cNvSpPr>
          <p:nvPr/>
        </p:nvSpPr>
        <p:spPr>
          <a:xfrm>
            <a:off x="5514975" y="2131158"/>
            <a:ext cx="1524000" cy="16560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ts val="1304"/>
              </a:lnSpc>
            </a:pPr>
            <a:r>
              <a:rPr lang="en-US" sz="900" b="1" u="none" dirty="0">
                <a:solidFill>
                  <a:srgbClr val="007E8F"/>
                </a:solidFill>
                <a:latin typeface="Noto Sans JP"/>
                <a:ea typeface="Noto Sans JP"/>
                <a:cs typeface="Noto Sans JP"/>
              </a:rPr>
              <a:t>Reported Problem-Instance Scale</a:t>
            </a:r>
          </a:p>
        </p:txBody>
      </p:sp>
      <p:pic>
        <p:nvPicPr>
          <p:cNvPr id="132" name="Image 2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282356" y="2306487"/>
            <a:ext cx="27338" cy="69581"/>
          </a:xfrm>
          <a:prstGeom prst="rect">
            <a:avLst/>
          </a:prstGeom>
        </p:spPr>
      </p:pic>
      <p:pic>
        <p:nvPicPr>
          <p:cNvPr id="133" name="Image 2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255164" y="2367091"/>
            <a:ext cx="62672" cy="43622"/>
          </a:xfrm>
          <a:prstGeom prst="rect">
            <a:avLst/>
          </a:prstGeom>
        </p:spPr>
      </p:pic>
      <p:pic>
        <p:nvPicPr>
          <p:cNvPr id="134" name="Image 2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759740" y="2405193"/>
            <a:ext cx="3053519" cy="196019"/>
          </a:xfrm>
          <a:prstGeom prst="rect">
            <a:avLst/>
          </a:prstGeom>
        </p:spPr>
      </p:pic>
      <p:sp>
        <p:nvSpPr>
          <p:cNvPr id="38" name="Text 10">
            <a:extLst>
              <a:ext uri="{FF2B5EF4-FFF2-40B4-BE49-F238E27FC236}">
                <a16:creationId xmlns:a16="http://schemas.microsoft.com/office/drawing/2014/main" id="{58A5E82E-B7A2-486F-9276-28F26503B05E}"/>
              </a:ext>
            </a:extLst>
          </p:cNvPr>
          <p:cNvSpPr>
            <a:spLocks noGrp="1"/>
          </p:cNvSpPr>
          <p:nvPr/>
        </p:nvSpPr>
        <p:spPr>
          <a:xfrm>
            <a:off x="5915025" y="2416908"/>
            <a:ext cx="723900" cy="16560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ts val="1304"/>
              </a:lnSpc>
            </a:pPr>
            <a:r>
              <a:rPr lang="en-US" sz="900" b="1" u="none" dirty="0">
                <a:solidFill>
                  <a:srgbClr val="007E8F"/>
                </a:solidFill>
                <a:latin typeface="Noto Sans JP"/>
                <a:ea typeface="Noto Sans JP"/>
                <a:cs typeface="Noto Sans JP"/>
              </a:rPr>
              <a:t>Mathematical Formulation</a:t>
            </a:r>
          </a:p>
        </p:txBody>
      </p:sp>
      <p:pic>
        <p:nvPicPr>
          <p:cNvPr id="136" name="Image 2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282356" y="2592237"/>
            <a:ext cx="27338" cy="69581"/>
          </a:xfrm>
          <a:prstGeom prst="rect">
            <a:avLst/>
          </a:prstGeom>
        </p:spPr>
      </p:pic>
      <p:pic>
        <p:nvPicPr>
          <p:cNvPr id="137" name="Image 2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255164" y="2652841"/>
            <a:ext cx="62672" cy="43622"/>
          </a:xfrm>
          <a:prstGeom prst="rect">
            <a:avLst/>
          </a:prstGeom>
        </p:spPr>
      </p:pic>
      <p:pic>
        <p:nvPicPr>
          <p:cNvPr id="138" name="Image 2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759740" y="2690943"/>
            <a:ext cx="3053519" cy="196019"/>
          </a:xfrm>
          <a:prstGeom prst="rect">
            <a:avLst/>
          </a:prstGeom>
        </p:spPr>
      </p:pic>
      <p:sp>
        <p:nvSpPr>
          <p:cNvPr id="42" name="Text 11">
            <a:extLst>
              <a:ext uri="{FF2B5EF4-FFF2-40B4-BE49-F238E27FC236}">
                <a16:creationId xmlns:a16="http://schemas.microsoft.com/office/drawing/2014/main" id="{7160553B-B8D2-483C-B4A3-23C8111C0145}"/>
              </a:ext>
            </a:extLst>
          </p:cNvPr>
          <p:cNvSpPr>
            <a:spLocks noGrp="1"/>
          </p:cNvSpPr>
          <p:nvPr/>
        </p:nvSpPr>
        <p:spPr>
          <a:xfrm>
            <a:off x="5691188" y="2702658"/>
            <a:ext cx="1171575" cy="16560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ts val="1304"/>
              </a:lnSpc>
            </a:pPr>
            <a:r>
              <a:rPr lang="en-US" sz="900" b="1" u="none" dirty="0">
                <a:solidFill>
                  <a:srgbClr val="007E8F"/>
                </a:solidFill>
                <a:latin typeface="Noto Sans JP"/>
                <a:ea typeface="Noto Sans JP"/>
                <a:cs typeface="Noto Sans JP"/>
              </a:rPr>
              <a:t>Quantum Encoding</a:t>
            </a:r>
          </a:p>
        </p:txBody>
      </p:sp>
      <p:pic>
        <p:nvPicPr>
          <p:cNvPr id="140" name="Image 2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282356" y="2877987"/>
            <a:ext cx="27338" cy="69581"/>
          </a:xfrm>
          <a:prstGeom prst="rect">
            <a:avLst/>
          </a:prstGeom>
        </p:spPr>
      </p:pic>
      <p:pic>
        <p:nvPicPr>
          <p:cNvPr id="141" name="Image 2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255164" y="2938591"/>
            <a:ext cx="62672" cy="43622"/>
          </a:xfrm>
          <a:prstGeom prst="rect">
            <a:avLst/>
          </a:prstGeom>
        </p:spPr>
      </p:pic>
      <p:pic>
        <p:nvPicPr>
          <p:cNvPr id="142" name="Image 3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4759740" y="2976693"/>
            <a:ext cx="3053519" cy="196019"/>
          </a:xfrm>
          <a:prstGeom prst="rect">
            <a:avLst/>
          </a:prstGeom>
        </p:spPr>
      </p:pic>
      <p:sp>
        <p:nvSpPr>
          <p:cNvPr id="46" name="Text 12">
            <a:extLst>
              <a:ext uri="{FF2B5EF4-FFF2-40B4-BE49-F238E27FC236}">
                <a16:creationId xmlns:a16="http://schemas.microsoft.com/office/drawing/2014/main" id="{34A75C3F-9D51-4EAB-ACEE-5FD82B9A8212}"/>
              </a:ext>
            </a:extLst>
          </p:cNvPr>
          <p:cNvSpPr>
            <a:spLocks noGrp="1"/>
          </p:cNvSpPr>
          <p:nvPr/>
        </p:nvSpPr>
        <p:spPr>
          <a:xfrm>
            <a:off x="5800725" y="2988408"/>
            <a:ext cx="952500" cy="16560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ts val="1304"/>
              </a:lnSpc>
            </a:pPr>
            <a:r>
              <a:rPr lang="en-US" sz="900" b="1" u="none" dirty="0">
                <a:solidFill>
                  <a:srgbClr val="007E8F"/>
                </a:solidFill>
                <a:latin typeface="Noto Sans JP"/>
                <a:ea typeface="Noto Sans JP"/>
                <a:cs typeface="Noto Sans JP"/>
              </a:rPr>
              <a:t>Reported Circuit Width</a:t>
            </a:r>
          </a:p>
        </p:txBody>
      </p:sp>
      <p:pic>
        <p:nvPicPr>
          <p:cNvPr id="144" name="Image 3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282356" y="3163737"/>
            <a:ext cx="27338" cy="69581"/>
          </a:xfrm>
          <a:prstGeom prst="rect">
            <a:avLst/>
          </a:prstGeom>
        </p:spPr>
      </p:pic>
      <p:pic>
        <p:nvPicPr>
          <p:cNvPr id="145" name="Image 3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255164" y="3224341"/>
            <a:ext cx="62672" cy="43622"/>
          </a:xfrm>
          <a:prstGeom prst="rect">
            <a:avLst/>
          </a:prstGeom>
        </p:spPr>
      </p:pic>
      <p:pic>
        <p:nvPicPr>
          <p:cNvPr id="146" name="Image 3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4759740" y="3262443"/>
            <a:ext cx="3053519" cy="196019"/>
          </a:xfrm>
          <a:prstGeom prst="rect">
            <a:avLst/>
          </a:prstGeom>
        </p:spPr>
      </p:pic>
      <p:sp>
        <p:nvSpPr>
          <p:cNvPr id="50" name="Text 13">
            <a:extLst>
              <a:ext uri="{FF2B5EF4-FFF2-40B4-BE49-F238E27FC236}">
                <a16:creationId xmlns:a16="http://schemas.microsoft.com/office/drawing/2014/main" id="{732898A7-0AF6-419F-A82D-22C5D11059FA}"/>
              </a:ext>
            </a:extLst>
          </p:cNvPr>
          <p:cNvSpPr>
            <a:spLocks noGrp="1"/>
          </p:cNvSpPr>
          <p:nvPr/>
        </p:nvSpPr>
        <p:spPr>
          <a:xfrm>
            <a:off x="5800725" y="3274158"/>
            <a:ext cx="952500" cy="16560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ts val="1304"/>
              </a:lnSpc>
            </a:pPr>
            <a:r>
              <a:rPr lang="en-US" altLang="ja-JP" sz="900" b="1" u="none" dirty="0">
                <a:solidFill>
                  <a:srgbClr val="007E8F"/>
                </a:solidFill>
                <a:latin typeface="Noto Sans JP"/>
                <a:ea typeface="Noto Sans JP"/>
                <a:cs typeface="Noto Sans JP"/>
              </a:rPr>
              <a:t>Evaluation Modality</a:t>
            </a:r>
          </a:p>
        </p:txBody>
      </p:sp>
      <p:pic>
        <p:nvPicPr>
          <p:cNvPr id="148" name="Image 3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282356" y="3449487"/>
            <a:ext cx="27338" cy="69581"/>
          </a:xfrm>
          <a:prstGeom prst="rect">
            <a:avLst/>
          </a:prstGeom>
        </p:spPr>
      </p:pic>
      <p:pic>
        <p:nvPicPr>
          <p:cNvPr id="149" name="Image 3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6255164" y="3510091"/>
            <a:ext cx="62672" cy="43622"/>
          </a:xfrm>
          <a:prstGeom prst="rect">
            <a:avLst/>
          </a:prstGeom>
        </p:spPr>
      </p:pic>
      <p:pic>
        <p:nvPicPr>
          <p:cNvPr id="150" name="Image 3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4759740" y="3548193"/>
            <a:ext cx="3053519" cy="196019"/>
          </a:xfrm>
          <a:prstGeom prst="rect">
            <a:avLst/>
          </a:prstGeom>
        </p:spPr>
      </p:pic>
      <p:sp>
        <p:nvSpPr>
          <p:cNvPr id="54" name="Text 14">
            <a:extLst>
              <a:ext uri="{FF2B5EF4-FFF2-40B4-BE49-F238E27FC236}">
                <a16:creationId xmlns:a16="http://schemas.microsoft.com/office/drawing/2014/main" id="{C57E122A-B6E6-4CB0-9A1C-BA24D5505DD6}"/>
              </a:ext>
            </a:extLst>
          </p:cNvPr>
          <p:cNvSpPr>
            <a:spLocks noGrp="1"/>
          </p:cNvSpPr>
          <p:nvPr/>
        </p:nvSpPr>
        <p:spPr>
          <a:xfrm>
            <a:off x="5629275" y="3559908"/>
            <a:ext cx="1295400" cy="16560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ts val="1304"/>
              </a:lnSpc>
            </a:pPr>
            <a:r>
              <a:rPr lang="en-US" altLang="ja-JP" sz="900" b="1" u="none" dirty="0">
                <a:solidFill>
                  <a:srgbClr val="007E8F"/>
                </a:solidFill>
                <a:latin typeface="Noto Sans JP"/>
                <a:ea typeface="Noto Sans JP"/>
                <a:cs typeface="Noto Sans JP"/>
              </a:rPr>
              <a:t>Alignment with Transport Application Requirements</a:t>
            </a:r>
          </a:p>
        </p:txBody>
      </p:sp>
      <p:pic>
        <p:nvPicPr>
          <p:cNvPr id="152" name="Image 3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3807240" y="2548068"/>
            <a:ext cx="767519" cy="386519"/>
          </a:xfrm>
          <a:prstGeom prst="rect">
            <a:avLst/>
          </a:prstGeom>
        </p:spPr>
      </p:pic>
      <p:sp>
        <p:nvSpPr>
          <p:cNvPr id="56" name="Text 15">
            <a:extLst>
              <a:ext uri="{FF2B5EF4-FFF2-40B4-BE49-F238E27FC236}">
                <a16:creationId xmlns:a16="http://schemas.microsoft.com/office/drawing/2014/main" id="{FEE5D88A-AE7F-4D43-97CA-83A95506EE53}"/>
              </a:ext>
            </a:extLst>
          </p:cNvPr>
          <p:cNvSpPr>
            <a:spLocks noGrp="1"/>
          </p:cNvSpPr>
          <p:nvPr/>
        </p:nvSpPr>
        <p:spPr>
          <a:xfrm>
            <a:off x="3758427" y="2109150"/>
            <a:ext cx="838200" cy="1656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900" b="1" u="none" dirty="0">
                <a:solidFill>
                  <a:srgbClr val="007E8F"/>
                </a:solidFill>
                <a:latin typeface="Noto Sans JP"/>
                <a:ea typeface="Noto Sans JP"/>
                <a:cs typeface="Noto Sans JP"/>
              </a:rPr>
              <a:t>Adapted for Literature-Based Application Comparison</a:t>
            </a:r>
            <a:endParaRPr sz="900" b="1" u="none" dirty="0">
              <a:solidFill>
                <a:srgbClr val="007E8F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57" name="Text 16">
            <a:extLst>
              <a:ext uri="{FF2B5EF4-FFF2-40B4-BE49-F238E27FC236}">
                <a16:creationId xmlns:a16="http://schemas.microsoft.com/office/drawing/2014/main" id="{CDE8442D-DA32-43ED-970A-CFDE5925D418}"/>
              </a:ext>
            </a:extLst>
          </p:cNvPr>
          <p:cNvSpPr>
            <a:spLocks noGrp="1"/>
          </p:cNvSpPr>
          <p:nvPr/>
        </p:nvSpPr>
        <p:spPr>
          <a:xfrm>
            <a:off x="333798" y="3716428"/>
            <a:ext cx="7819944" cy="65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ts val="1160"/>
              </a:lnSpc>
            </a:pPr>
            <a:r>
              <a:rPr lang="en-US" sz="1000" u="none" dirty="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・</a:t>
            </a:r>
            <a:r>
              <a:rPr lang="ja-JP" altLang="ja-JP" sz="1000"/>
              <a:t>This study adopts an application-oriented perspective by reviewing results reported in existing quantum-routing studies rather than executing a standardized benchmark suite.</a:t>
            </a:r>
            <a:endParaRPr lang="en-US" sz="1000" u="none" dirty="0">
              <a:solidFill>
                <a:srgbClr val="333333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58" name="Text 17">
            <a:extLst>
              <a:ext uri="{FF2B5EF4-FFF2-40B4-BE49-F238E27FC236}">
                <a16:creationId xmlns:a16="http://schemas.microsoft.com/office/drawing/2014/main" id="{E592E95F-B9AE-4B8C-9682-8C50AFE82868}"/>
              </a:ext>
            </a:extLst>
          </p:cNvPr>
          <p:cNvSpPr>
            <a:spLocks noGrp="1"/>
          </p:cNvSpPr>
          <p:nvPr/>
        </p:nvSpPr>
        <p:spPr>
          <a:xfrm>
            <a:off x="276278" y="307526"/>
            <a:ext cx="7819979" cy="2355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>
              <a:lnSpc>
                <a:spcPts val="1854"/>
              </a:lnSpc>
            </a:pPr>
            <a:r>
              <a:rPr lang="en-US" sz="2000" b="1" u="none" dirty="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Adapting Application-Oriented Benchmarking to This Study</a:t>
            </a:r>
          </a:p>
        </p:txBody>
      </p:sp>
      <p:sp>
        <p:nvSpPr>
          <p:cNvPr id="59" name="Text 18">
            <a:extLst>
              <a:ext uri="{FF2B5EF4-FFF2-40B4-BE49-F238E27FC236}">
                <a16:creationId xmlns:a16="http://schemas.microsoft.com/office/drawing/2014/main" id="{EC216F45-154B-4F47-91F6-0275D7A916CC}"/>
              </a:ext>
            </a:extLst>
          </p:cNvPr>
          <p:cNvSpPr>
            <a:spLocks noGrp="1"/>
          </p:cNvSpPr>
          <p:nvPr/>
        </p:nvSpPr>
        <p:spPr>
          <a:xfrm>
            <a:off x="276297" y="694188"/>
            <a:ext cx="7819945" cy="44169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>
              <a:lnSpc>
                <a:spcPts val="1739"/>
              </a:lnSpc>
            </a:pPr>
            <a:r>
              <a:rPr lang="en-US" sz="1600" u="none" dirty="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Rather than executing a standardized benchmark suite, this study reviews evidence </a:t>
            </a:r>
          </a:p>
          <a:p>
            <a:pPr>
              <a:lnSpc>
                <a:spcPts val="1739"/>
              </a:lnSpc>
            </a:pPr>
            <a:r>
              <a:rPr lang="en-US" sz="1600" u="none" dirty="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reported in existing transport-problem research.</a:t>
            </a:r>
          </a:p>
        </p:txBody>
      </p:sp>
      <p:pic>
        <p:nvPicPr>
          <p:cNvPr id="157" name="Image 3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276293" y="592730"/>
            <a:ext cx="7819949" cy="28575"/>
          </a:xfrm>
          <a:prstGeom prst="rect">
            <a:avLst/>
          </a:prstGeom>
        </p:spPr>
      </p:pic>
      <p:pic>
        <p:nvPicPr>
          <p:cNvPr id="158" name="Image 3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6970692" y="592730"/>
            <a:ext cx="1125550" cy="28575"/>
          </a:xfrm>
          <a:prstGeom prst="rect">
            <a:avLst/>
          </a:prstGeom>
        </p:spPr>
      </p:pic>
      <p:sp>
        <p:nvSpPr>
          <p:cNvPr id="3" name="Text 15">
            <a:extLst>
              <a:ext uri="{FF2B5EF4-FFF2-40B4-BE49-F238E27FC236}">
                <a16:creationId xmlns:a16="http://schemas.microsoft.com/office/drawing/2014/main" id="{2DA50989-8EA7-F293-AA0B-136AFD473BC1}"/>
              </a:ext>
            </a:extLst>
          </p:cNvPr>
          <p:cNvSpPr>
            <a:spLocks noGrp="1"/>
          </p:cNvSpPr>
          <p:nvPr/>
        </p:nvSpPr>
        <p:spPr>
          <a:xfrm>
            <a:off x="3762110" y="3136662"/>
            <a:ext cx="838200" cy="16560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ts val="1304"/>
              </a:lnSpc>
            </a:pPr>
            <a:r>
              <a:rPr lang="en-US" altLang="ja-JP" sz="1000" b="1" dirty="0">
                <a:solidFill>
                  <a:srgbClr val="3B6EA5"/>
                </a:solidFill>
              </a:rPr>
              <a:t>Core Dimensions</a:t>
            </a:r>
            <a:endParaRPr lang="en-US" altLang="ja-JP" sz="1000" dirty="0"/>
          </a:p>
        </p:txBody>
      </p:sp>
      <p:sp>
        <p:nvSpPr>
          <p:cNvPr id="7" name="左中かっこ 6">
            <a:extLst>
              <a:ext uri="{FF2B5EF4-FFF2-40B4-BE49-F238E27FC236}">
                <a16:creationId xmlns:a16="http://schemas.microsoft.com/office/drawing/2014/main" id="{355B4210-A9E5-2B2D-7B70-B59D2F9BF326}"/>
              </a:ext>
            </a:extLst>
          </p:cNvPr>
          <p:cNvSpPr/>
          <p:nvPr/>
        </p:nvSpPr>
        <p:spPr>
          <a:xfrm>
            <a:off x="4570002" y="2902345"/>
            <a:ext cx="230402" cy="867019"/>
          </a:xfrm>
          <a:prstGeom prst="leftBrace">
            <a:avLst/>
          </a:prstGeom>
          <a:noFill/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7175294-F519-07AB-86A8-3F830EDC345F}"/>
              </a:ext>
            </a:extLst>
          </p:cNvPr>
          <p:cNvSpPr txBox="1"/>
          <p:nvPr/>
        </p:nvSpPr>
        <p:spPr>
          <a:xfrm>
            <a:off x="281028" y="4266771"/>
            <a:ext cx="7819944" cy="233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72"/>
              </a:lnSpc>
            </a:pPr>
            <a:r>
              <a:rPr lang="en-US" altLang="ja-JP" sz="1000" u="none" dirty="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・</a:t>
            </a:r>
            <a:r>
              <a:rPr lang="ja-JP" altLang="ja-JP" sz="1000"/>
              <a:t>The analytical approach draws on the application-oriented benchmarking framework proposed by Lubinski et al. and related QED-C work.</a:t>
            </a:r>
            <a:endParaRPr lang="en-US" altLang="ja-JP" sz="1000" u="none" dirty="0">
              <a:solidFill>
                <a:srgbClr val="333333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811C0A4C-48C1-4551-FD2C-8D424650D876}"/>
              </a:ext>
            </a:extLst>
          </p:cNvPr>
          <p:cNvSpPr>
            <a:spLocks noGrp="1"/>
          </p:cNvSpPr>
          <p:nvPr/>
        </p:nvSpPr>
        <p:spPr>
          <a:xfrm>
            <a:off x="4800404" y="1379922"/>
            <a:ext cx="3012855" cy="29651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ts val="1507"/>
              </a:lnSpc>
            </a:pPr>
            <a:r>
              <a:rPr lang="en-US" altLang="ja-JP" sz="1050" b="1" u="none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Analytical Dimensions Used in This Study Problem Class</a:t>
            </a:r>
          </a:p>
        </p:txBody>
      </p:sp>
    </p:spTree>
    <p:extLst>
      <p:ext uri="{BB962C8B-B14F-4D97-AF65-F5344CB8AC3E}">
        <p14:creationId xmlns:p14="http://schemas.microsoft.com/office/powerpoint/2010/main" val="1493076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17">
            <a:extLst>
              <a:ext uri="{FF2B5EF4-FFF2-40B4-BE49-F238E27FC236}">
                <a16:creationId xmlns:a16="http://schemas.microsoft.com/office/drawing/2014/main" id="{C48333BB-9FE1-459E-8630-09A53F100772}"/>
              </a:ext>
            </a:extLst>
          </p:cNvPr>
          <p:cNvSpPr>
            <a:spLocks noGrp="1"/>
          </p:cNvSpPr>
          <p:nvPr/>
        </p:nvSpPr>
        <p:spPr>
          <a:xfrm>
            <a:off x="276278" y="307526"/>
            <a:ext cx="7819979" cy="2355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l">
              <a:lnSpc>
                <a:spcPts val="1854"/>
              </a:lnSpc>
              <a:buNone/>
            </a:pPr>
            <a:r>
              <a:rPr sz="1275" b="1" u="none" dirty="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Reported Circuit Width Across Transport Problem Instances</a:t>
            </a:r>
          </a:p>
        </p:txBody>
      </p:sp>
      <p:sp>
        <p:nvSpPr>
          <p:cNvPr id="34" name="Text 18">
            <a:extLst>
              <a:ext uri="{FF2B5EF4-FFF2-40B4-BE49-F238E27FC236}">
                <a16:creationId xmlns:a16="http://schemas.microsoft.com/office/drawing/2014/main" id="{00D5C90B-DA32-4523-BA8B-BE75FB6322B1}"/>
              </a:ext>
            </a:extLst>
          </p:cNvPr>
          <p:cNvSpPr>
            <a:spLocks noGrp="1"/>
          </p:cNvSpPr>
          <p:nvPr/>
        </p:nvSpPr>
        <p:spPr>
          <a:xfrm>
            <a:off x="234607" y="1540173"/>
            <a:ext cx="7934717" cy="44169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ts val="1739"/>
              </a:lnSpc>
            </a:pPr>
            <a:r>
              <a:rPr lang="en-US" altLang="ja-JP" sz="1000" u="none" dirty="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※Reported circuit width depends on the problem instance, formulation, encoding, and evaluation modality; it cannot be inferred from problem scale alone.</a:t>
            </a:r>
          </a:p>
          <a:p>
            <a:pPr>
              <a:lnSpc>
                <a:spcPts val="1739"/>
              </a:lnSpc>
            </a:pPr>
            <a:r>
              <a:rPr lang="en-US" altLang="ja-JP" sz="1000" u="none" dirty="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※Reported qubit count indicates circuit width, not total computational cost. Practical execution also depends on circuit depth, gate count, connectivity, noise, and compilation overhead.</a:t>
            </a:r>
          </a:p>
        </p:txBody>
      </p:sp>
      <p:pic>
        <p:nvPicPr>
          <p:cNvPr id="75" name="Image 1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6293" y="592730"/>
            <a:ext cx="7819949" cy="28575"/>
          </a:xfrm>
          <a:prstGeom prst="rect">
            <a:avLst/>
          </a:prstGeom>
        </p:spPr>
      </p:pic>
      <p:pic>
        <p:nvPicPr>
          <p:cNvPr id="76" name="Image 1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70692" y="592730"/>
            <a:ext cx="1125550" cy="28575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88DD8471-4A5E-C533-F973-D9069C99B3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5" r="24434" b="9923"/>
          <a:stretch>
            <a:fillRect/>
          </a:stretch>
        </p:blipFill>
        <p:spPr>
          <a:xfrm>
            <a:off x="4466125" y="2439087"/>
            <a:ext cx="3466399" cy="2324355"/>
          </a:xfrm>
          <a:prstGeom prst="rect">
            <a:avLst/>
          </a:prstGeom>
        </p:spPr>
      </p:pic>
      <p:pic>
        <p:nvPicPr>
          <p:cNvPr id="11" name="Image 7">
            <a:extLst>
              <a:ext uri="{FF2B5EF4-FFF2-40B4-BE49-F238E27FC236}">
                <a16:creationId xmlns:a16="http://schemas.microsoft.com/office/drawing/2014/main" id="{28761D4B-6322-1DA5-DAEB-2F8A47473E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19216" y="2424577"/>
            <a:ext cx="283042" cy="831333"/>
          </a:xfrm>
          <a:prstGeom prst="rect">
            <a:avLst/>
          </a:prstGeom>
        </p:spPr>
      </p:pic>
      <p:sp>
        <p:nvSpPr>
          <p:cNvPr id="13" name="Text 1">
            <a:extLst>
              <a:ext uri="{FF2B5EF4-FFF2-40B4-BE49-F238E27FC236}">
                <a16:creationId xmlns:a16="http://schemas.microsoft.com/office/drawing/2014/main" id="{5EC023D6-B81C-021B-C2DF-91A82103558D}"/>
              </a:ext>
            </a:extLst>
          </p:cNvPr>
          <p:cNvSpPr>
            <a:spLocks noGrp="1"/>
          </p:cNvSpPr>
          <p:nvPr/>
        </p:nvSpPr>
        <p:spPr>
          <a:xfrm>
            <a:off x="6819181" y="2326997"/>
            <a:ext cx="1438275" cy="16560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l">
              <a:lnSpc>
                <a:spcPts val="1304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S</a:t>
            </a:r>
            <a:r>
              <a:rPr lang="en-US" sz="1000" b="1" u="none" dirty="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imulator</a:t>
            </a:r>
            <a:endParaRPr sz="1000" b="1" u="none" dirty="0">
              <a:solidFill>
                <a:srgbClr val="333333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FD5D9076-137B-9132-43C1-F0DEE6AAC75F}"/>
              </a:ext>
            </a:extLst>
          </p:cNvPr>
          <p:cNvSpPr>
            <a:spLocks noGrp="1"/>
          </p:cNvSpPr>
          <p:nvPr/>
        </p:nvSpPr>
        <p:spPr>
          <a:xfrm>
            <a:off x="6636734" y="3355777"/>
            <a:ext cx="1438275" cy="16560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l">
              <a:lnSpc>
                <a:spcPts val="1304"/>
              </a:lnSpc>
              <a:buNone/>
            </a:pPr>
            <a:r>
              <a:rPr lang="en-US" sz="1000" b="1" u="none" dirty="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Resource Estimator</a:t>
            </a:r>
            <a:endParaRPr sz="1000" b="1" u="none" dirty="0">
              <a:solidFill>
                <a:srgbClr val="333333"/>
              </a:solidFill>
              <a:latin typeface="Noto Sans JP"/>
              <a:ea typeface="Noto Sans JP"/>
              <a:cs typeface="Noto Sans JP"/>
            </a:endParaRPr>
          </a:p>
        </p:txBody>
      </p:sp>
      <p:pic>
        <p:nvPicPr>
          <p:cNvPr id="22" name="Image 2">
            <a:extLst>
              <a:ext uri="{FF2B5EF4-FFF2-40B4-BE49-F238E27FC236}">
                <a16:creationId xmlns:a16="http://schemas.microsoft.com/office/drawing/2014/main" id="{D7DD053A-A117-5A52-4120-7BF04C6C79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15892" y="2018280"/>
            <a:ext cx="1616632" cy="264270"/>
          </a:xfrm>
          <a:prstGeom prst="rect">
            <a:avLst/>
          </a:prstGeom>
        </p:spPr>
      </p:pic>
      <p:sp>
        <p:nvSpPr>
          <p:cNvPr id="24" name="Text 1">
            <a:extLst>
              <a:ext uri="{FF2B5EF4-FFF2-40B4-BE49-F238E27FC236}">
                <a16:creationId xmlns:a16="http://schemas.microsoft.com/office/drawing/2014/main" id="{CC1030D5-03BF-3025-EEEE-EE70D35D06DF}"/>
              </a:ext>
            </a:extLst>
          </p:cNvPr>
          <p:cNvSpPr>
            <a:spLocks noGrp="1"/>
          </p:cNvSpPr>
          <p:nvPr/>
        </p:nvSpPr>
        <p:spPr>
          <a:xfrm>
            <a:off x="6722196" y="2044948"/>
            <a:ext cx="782105" cy="24823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ts val="1072"/>
              </a:lnSpc>
            </a:pPr>
            <a:r>
              <a:rPr lang="en-US" sz="1000" b="1" u="none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Evaluation Modality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7B8B623E-B1AC-8321-0BFF-D47EEA68FD75}"/>
              </a:ext>
            </a:extLst>
          </p:cNvPr>
          <p:cNvSpPr txBox="1"/>
          <p:nvPr/>
        </p:nvSpPr>
        <p:spPr>
          <a:xfrm>
            <a:off x="585423" y="2375289"/>
            <a:ext cx="39549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ja-JP" sz="1000" b="1" dirty="0"/>
              <a:t>Time-window routing problem for determining customer visit order</a:t>
            </a:r>
            <a:br>
              <a:rPr kumimoji="1" lang="en-US" altLang="ja-JP" sz="1000" dirty="0"/>
            </a:br>
            <a:r>
              <a:rPr kumimoji="1" lang="en-US" altLang="ja-JP" sz="1000" dirty="0"/>
              <a:t>Simplified formulation including only a subset of operational constraints 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04DE4D49-3F51-B75B-7F49-52C4D855AB55}"/>
              </a:ext>
            </a:extLst>
          </p:cNvPr>
          <p:cNvSpPr txBox="1"/>
          <p:nvPr/>
        </p:nvSpPr>
        <p:spPr>
          <a:xfrm>
            <a:off x="285758" y="2815634"/>
            <a:ext cx="43136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ja-JP" altLang="ja-JP" sz="1000" b="1"/>
              <a:t>Time-window routing problem for determining customer visit order</a:t>
            </a:r>
            <a:br>
              <a:rPr lang="ja-JP" altLang="ja-JP" sz="1000"/>
            </a:br>
            <a:r>
              <a:rPr lang="ja-JP" altLang="ja-JP" sz="1000" i="1"/>
              <a:t>Full formulation including all time-window, routing, and feasibility constraints defined in the study</a:t>
            </a:r>
            <a:r>
              <a:rPr lang="ja-JP" altLang="ja-JP" sz="1000"/>
              <a:t> 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1C7BC08-47F8-9656-28C0-B7FEC8B3A0D6}"/>
              </a:ext>
            </a:extLst>
          </p:cNvPr>
          <p:cNvSpPr txBox="1"/>
          <p:nvPr/>
        </p:nvSpPr>
        <p:spPr>
          <a:xfrm>
            <a:off x="190923" y="3477873"/>
            <a:ext cx="43813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ja-JP" altLang="ja-JP" sz="1000" b="1"/>
              <a:t>Calculation using a classical benchmark for vehicle-capacitated delivery routing</a:t>
            </a:r>
            <a:br>
              <a:rPr lang="ja-JP" altLang="ja-JP" sz="1000"/>
            </a:br>
            <a:r>
              <a:rPr lang="ja-JP" altLang="ja-JP" sz="1000" i="1"/>
              <a:t>Capacity constraints represented directly using higher-order binary terms</a:t>
            </a:r>
            <a:r>
              <a:rPr lang="ja-JP" altLang="ja-JP" sz="1000"/>
              <a:t> 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AE25AA11-9834-15F6-4BC1-0A889B4C38F5}"/>
              </a:ext>
            </a:extLst>
          </p:cNvPr>
          <p:cNvSpPr txBox="1"/>
          <p:nvPr/>
        </p:nvSpPr>
        <p:spPr>
          <a:xfrm>
            <a:off x="93130" y="4020614"/>
            <a:ext cx="44956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ja-JP" altLang="ja-JP" sz="1000" b="1"/>
              <a:t>Calculation using a classical benchmark for vehicle-capacitated delivery routing</a:t>
            </a:r>
            <a:br>
              <a:rPr lang="ja-JP" altLang="ja-JP" sz="1000"/>
            </a:br>
            <a:r>
              <a:rPr lang="ja-JP" altLang="ja-JP" sz="1000" i="1"/>
              <a:t>Capacity constraints converted into quadratic binary form using auxiliary variables</a:t>
            </a:r>
            <a:r>
              <a:rPr lang="ja-JP" altLang="ja-JP" sz="1000"/>
              <a:t> </a:t>
            </a:r>
          </a:p>
        </p:txBody>
      </p:sp>
      <p:sp>
        <p:nvSpPr>
          <p:cNvPr id="35" name="Text 23">
            <a:extLst>
              <a:ext uri="{FF2B5EF4-FFF2-40B4-BE49-F238E27FC236}">
                <a16:creationId xmlns:a16="http://schemas.microsoft.com/office/drawing/2014/main" id="{BDE3885C-58A8-DC20-D99C-0370BC8C477D}"/>
              </a:ext>
            </a:extLst>
          </p:cNvPr>
          <p:cNvSpPr>
            <a:spLocks noGrp="1"/>
          </p:cNvSpPr>
          <p:nvPr/>
        </p:nvSpPr>
        <p:spPr>
          <a:xfrm>
            <a:off x="234607" y="666407"/>
            <a:ext cx="7819945" cy="6354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ts val="1739"/>
              </a:lnSpc>
            </a:pPr>
            <a:r>
              <a:rPr lang="en-US" altLang="ja-JP" sz="1600" dirty="0"/>
              <a:t>M</a:t>
            </a:r>
            <a:r>
              <a:rPr lang="ja-JP" altLang="ja-JP" sz="1600"/>
              <a:t>anually extracted the problem instance, reported qubit count, formulation, encoding, and evaluation modality from each reviewed quantum-routing study and organized them for comparison; representative cases are shown below.</a:t>
            </a:r>
            <a:endParaRPr lang="en-US" altLang="ja-JP" sz="1600" dirty="0"/>
          </a:p>
        </p:txBody>
      </p:sp>
      <p:pic>
        <p:nvPicPr>
          <p:cNvPr id="36" name="Image 2">
            <a:extLst>
              <a:ext uri="{FF2B5EF4-FFF2-40B4-BE49-F238E27FC236}">
                <a16:creationId xmlns:a16="http://schemas.microsoft.com/office/drawing/2014/main" id="{32CF90B8-7CD4-CC74-24A0-C9804C754E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9295" y="2024556"/>
            <a:ext cx="1616632" cy="264270"/>
          </a:xfrm>
          <a:prstGeom prst="rect">
            <a:avLst/>
          </a:prstGeom>
        </p:spPr>
      </p:pic>
      <p:sp>
        <p:nvSpPr>
          <p:cNvPr id="37" name="Text 1">
            <a:extLst>
              <a:ext uri="{FF2B5EF4-FFF2-40B4-BE49-F238E27FC236}">
                <a16:creationId xmlns:a16="http://schemas.microsoft.com/office/drawing/2014/main" id="{E95B0C7D-317E-82AD-4A5E-77757068FA42}"/>
              </a:ext>
            </a:extLst>
          </p:cNvPr>
          <p:cNvSpPr>
            <a:spLocks noGrp="1"/>
          </p:cNvSpPr>
          <p:nvPr/>
        </p:nvSpPr>
        <p:spPr>
          <a:xfrm>
            <a:off x="4855599" y="2051224"/>
            <a:ext cx="782105" cy="24823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ts val="1072"/>
              </a:lnSpc>
            </a:pPr>
            <a:r>
              <a:rPr lang="en-US" sz="1000" b="1" u="none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Reported Circuit Width </a:t>
            </a:r>
          </a:p>
        </p:txBody>
      </p:sp>
    </p:spTree>
    <p:extLst>
      <p:ext uri="{BB962C8B-B14F-4D97-AF65-F5344CB8AC3E}">
        <p14:creationId xmlns:p14="http://schemas.microsoft.com/office/powerpoint/2010/main" val="119311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Image 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3491" y="1389478"/>
            <a:ext cx="2767769" cy="338894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365895EB-7CA0-4DD2-AEE3-1937420E281C}"/>
              </a:ext>
            </a:extLst>
          </p:cNvPr>
          <p:cNvSpPr>
            <a:spLocks noGrp="1"/>
          </p:cNvSpPr>
          <p:nvPr/>
        </p:nvSpPr>
        <p:spPr>
          <a:xfrm>
            <a:off x="757237" y="1455258"/>
            <a:ext cx="2181225" cy="19132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ctr">
              <a:lnSpc>
                <a:spcPts val="1507"/>
              </a:lnSpc>
              <a:buNone/>
            </a:pPr>
            <a:r>
              <a:rPr sz="1200" b="1" u="none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Survey of quantum routing studies</a:t>
            </a:r>
          </a:p>
        </p:txBody>
      </p:sp>
      <p:pic>
        <p:nvPicPr>
          <p:cNvPr id="51" name="Image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51850" y="1714562"/>
            <a:ext cx="30100" cy="260225"/>
          </a:xfrm>
          <a:prstGeom prst="rect">
            <a:avLst/>
          </a:prstGeom>
        </p:spPr>
      </p:pic>
      <p:pic>
        <p:nvPicPr>
          <p:cNvPr id="52" name="Imag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06989" y="1913352"/>
            <a:ext cx="100772" cy="100772"/>
          </a:xfrm>
          <a:prstGeom prst="rect">
            <a:avLst/>
          </a:prstGeom>
        </p:spPr>
      </p:pic>
      <p:pic>
        <p:nvPicPr>
          <p:cNvPr id="53" name="Imag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0731" y="2005844"/>
            <a:ext cx="2773288" cy="344413"/>
          </a:xfrm>
          <a:prstGeom prst="rect">
            <a:avLst/>
          </a:prstGeom>
        </p:spPr>
      </p:pic>
      <p:sp>
        <p:nvSpPr>
          <p:cNvPr id="8" name="Text 1">
            <a:extLst>
              <a:ext uri="{FF2B5EF4-FFF2-40B4-BE49-F238E27FC236}">
                <a16:creationId xmlns:a16="http://schemas.microsoft.com/office/drawing/2014/main" id="{DC8873CE-74C6-470F-9726-4D7374E1584A}"/>
              </a:ext>
            </a:extLst>
          </p:cNvPr>
          <p:cNvSpPr>
            <a:spLocks noGrp="1"/>
          </p:cNvSpPr>
          <p:nvPr/>
        </p:nvSpPr>
        <p:spPr>
          <a:xfrm>
            <a:off x="1090613" y="2074384"/>
            <a:ext cx="1514475" cy="19132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ctr">
              <a:lnSpc>
                <a:spcPts val="1507"/>
              </a:lnSpc>
              <a:buNone/>
            </a:pPr>
            <a:r>
              <a:rPr sz="1200" b="1" u="none" dirty="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Reported circuit width</a:t>
            </a:r>
          </a:p>
        </p:txBody>
      </p:sp>
      <p:pic>
        <p:nvPicPr>
          <p:cNvPr id="55" name="Imag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851850" y="2333687"/>
            <a:ext cx="30100" cy="498350"/>
          </a:xfrm>
          <a:prstGeom prst="rect">
            <a:avLst/>
          </a:prstGeom>
        </p:spPr>
      </p:pic>
      <p:pic>
        <p:nvPicPr>
          <p:cNvPr id="56" name="Imag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06989" y="2770602"/>
            <a:ext cx="100772" cy="100772"/>
          </a:xfrm>
          <a:prstGeom prst="rect">
            <a:avLst/>
          </a:prstGeom>
        </p:spPr>
      </p:pic>
      <p:pic>
        <p:nvPicPr>
          <p:cNvPr id="57" name="Image 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0731" y="2503902"/>
            <a:ext cx="2800868" cy="230029"/>
          </a:xfrm>
          <a:prstGeom prst="rect">
            <a:avLst/>
          </a:prstGeom>
        </p:spPr>
      </p:pic>
      <p:sp>
        <p:nvSpPr>
          <p:cNvPr id="12" name="Text 2">
            <a:extLst>
              <a:ext uri="{FF2B5EF4-FFF2-40B4-BE49-F238E27FC236}">
                <a16:creationId xmlns:a16="http://schemas.microsoft.com/office/drawing/2014/main" id="{86B22E67-2808-4696-90BA-BE3480F262C8}"/>
              </a:ext>
            </a:extLst>
          </p:cNvPr>
          <p:cNvSpPr>
            <a:spLocks noGrp="1"/>
          </p:cNvSpPr>
          <p:nvPr/>
        </p:nvSpPr>
        <p:spPr>
          <a:xfrm>
            <a:off x="909638" y="2551837"/>
            <a:ext cx="1876425" cy="13619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ctr">
              <a:lnSpc>
                <a:spcPts val="1072"/>
              </a:lnSpc>
              <a:buNone/>
            </a:pPr>
            <a:r>
              <a:rPr sz="1000" b="1" u="none" dirty="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Insufficient without application definition</a:t>
            </a:r>
          </a:p>
        </p:txBody>
      </p:sp>
      <p:pic>
        <p:nvPicPr>
          <p:cNvPr id="59" name="Image 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0731" y="2865853"/>
            <a:ext cx="2767770" cy="434144"/>
          </a:xfrm>
          <a:prstGeom prst="rect">
            <a:avLst/>
          </a:prstGeom>
        </p:spPr>
      </p:pic>
      <p:pic>
        <p:nvPicPr>
          <p:cNvPr id="61" name="Image 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851850" y="3286187"/>
            <a:ext cx="30100" cy="260225"/>
          </a:xfrm>
          <a:prstGeom prst="rect">
            <a:avLst/>
          </a:prstGeom>
        </p:spPr>
      </p:pic>
      <p:pic>
        <p:nvPicPr>
          <p:cNvPr id="62" name="Image 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806989" y="3484977"/>
            <a:ext cx="100772" cy="100772"/>
          </a:xfrm>
          <a:prstGeom prst="rect">
            <a:avLst/>
          </a:prstGeom>
        </p:spPr>
      </p:pic>
      <p:pic>
        <p:nvPicPr>
          <p:cNvPr id="63" name="Image 1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3491" y="3580227"/>
            <a:ext cx="2767769" cy="434143"/>
          </a:xfrm>
          <a:prstGeom prst="rect">
            <a:avLst/>
          </a:prstGeom>
        </p:spPr>
      </p:pic>
      <p:sp>
        <p:nvSpPr>
          <p:cNvPr id="18" name="Text 4">
            <a:extLst>
              <a:ext uri="{FF2B5EF4-FFF2-40B4-BE49-F238E27FC236}">
                <a16:creationId xmlns:a16="http://schemas.microsoft.com/office/drawing/2014/main" id="{15FBABEB-49F5-4F8B-BD43-E21C1071186A}"/>
              </a:ext>
            </a:extLst>
          </p:cNvPr>
          <p:cNvSpPr>
            <a:spLocks noGrp="1"/>
          </p:cNvSpPr>
          <p:nvPr/>
        </p:nvSpPr>
        <p:spPr>
          <a:xfrm>
            <a:off x="628650" y="3687574"/>
            <a:ext cx="2438400" cy="1913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ts val="1507"/>
              </a:lnSpc>
            </a:pPr>
            <a:r>
              <a:rPr lang="en-US" sz="1000" b="1" u="none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Basis for Interpreting Future Resource Requirements</a:t>
            </a:r>
            <a:endParaRPr sz="1000" b="1" u="none" dirty="0">
              <a:solidFill>
                <a:srgbClr val="FFFFFF"/>
              </a:solidFill>
              <a:latin typeface="Noto Sans JP"/>
              <a:ea typeface="Noto Sans JP"/>
              <a:cs typeface="Noto Sans JP"/>
            </a:endParaRPr>
          </a:p>
        </p:txBody>
      </p:sp>
      <p:pic>
        <p:nvPicPr>
          <p:cNvPr id="65" name="Image 1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521490" y="1389478"/>
            <a:ext cx="2101019" cy="291269"/>
          </a:xfrm>
          <a:prstGeom prst="rect">
            <a:avLst/>
          </a:prstGeom>
        </p:spPr>
      </p:pic>
      <p:sp>
        <p:nvSpPr>
          <p:cNvPr id="20" name="Text 5">
            <a:extLst>
              <a:ext uri="{FF2B5EF4-FFF2-40B4-BE49-F238E27FC236}">
                <a16:creationId xmlns:a16="http://schemas.microsoft.com/office/drawing/2014/main" id="{2106A674-C7CA-4889-845F-7564B545FDC1}"/>
              </a:ext>
            </a:extLst>
          </p:cNvPr>
          <p:cNvSpPr>
            <a:spLocks noGrp="1"/>
          </p:cNvSpPr>
          <p:nvPr/>
        </p:nvSpPr>
        <p:spPr>
          <a:xfrm>
            <a:off x="3781425" y="1436209"/>
            <a:ext cx="1562100" cy="19132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ctr">
              <a:lnSpc>
                <a:spcPts val="1507"/>
              </a:lnSpc>
              <a:buNone/>
            </a:pPr>
            <a:r>
              <a:rPr sz="1050" b="1" u="none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Problem-instance scale</a:t>
            </a:r>
          </a:p>
        </p:txBody>
      </p:sp>
      <p:pic>
        <p:nvPicPr>
          <p:cNvPr id="67" name="Image 1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521491" y="1675228"/>
            <a:ext cx="2101019" cy="243644"/>
          </a:xfrm>
          <a:prstGeom prst="rect">
            <a:avLst/>
          </a:prstGeom>
        </p:spPr>
      </p:pic>
      <p:sp>
        <p:nvSpPr>
          <p:cNvPr id="22" name="Text 6">
            <a:extLst>
              <a:ext uri="{FF2B5EF4-FFF2-40B4-BE49-F238E27FC236}">
                <a16:creationId xmlns:a16="http://schemas.microsoft.com/office/drawing/2014/main" id="{46D3B452-4C64-40A7-981D-EA9F756FA0C8}"/>
              </a:ext>
            </a:extLst>
          </p:cNvPr>
          <p:cNvSpPr>
            <a:spLocks noGrp="1"/>
          </p:cNvSpPr>
          <p:nvPr/>
        </p:nvSpPr>
        <p:spPr>
          <a:xfrm>
            <a:off x="3776663" y="1715518"/>
            <a:ext cx="1571625" cy="16560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ctr">
              <a:lnSpc>
                <a:spcPts val="1304"/>
              </a:lnSpc>
              <a:buNone/>
            </a:pPr>
            <a:r>
              <a:rPr sz="900" b="1" u="none">
                <a:solidFill>
                  <a:srgbClr val="007E8F"/>
                </a:solidFill>
                <a:latin typeface="Noto Sans JP"/>
                <a:ea typeface="Noto Sans JP"/>
                <a:cs typeface="Noto Sans JP"/>
              </a:rPr>
              <a:t>What must be represented?</a:t>
            </a:r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864FA5B6-D2CB-466A-A279-995690CEE726}"/>
              </a:ext>
            </a:extLst>
          </p:cNvPr>
          <p:cNvSpPr>
            <a:spLocks noGrp="1"/>
          </p:cNvSpPr>
          <p:nvPr/>
        </p:nvSpPr>
        <p:spPr>
          <a:xfrm>
            <a:off x="3552825" y="2013734"/>
            <a:ext cx="1828800" cy="148286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l">
              <a:lnSpc>
                <a:spcPts val="1729"/>
              </a:lnSpc>
              <a:buNone/>
            </a:pPr>
            <a:r>
              <a:rPr sz="1000" u="none" dirty="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・Customers or delivery locations</a:t>
            </a:r>
          </a:p>
          <a:p>
            <a:pPr marL="0" indent="0" algn="l">
              <a:lnSpc>
                <a:spcPts val="1729"/>
              </a:lnSpc>
              <a:buNone/>
            </a:pPr>
            <a:r>
              <a:rPr sz="1000" u="none" dirty="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・Vehicles and depots</a:t>
            </a:r>
          </a:p>
          <a:p>
            <a:pPr marL="0" indent="0" algn="l">
              <a:lnSpc>
                <a:spcPts val="1729"/>
              </a:lnSpc>
              <a:buNone/>
            </a:pPr>
            <a:r>
              <a:rPr sz="1000" u="none" dirty="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・Route candidates </a:t>
            </a:r>
          </a:p>
          <a:p>
            <a:pPr marL="0" indent="0" algn="l">
              <a:lnSpc>
                <a:spcPts val="1729"/>
              </a:lnSpc>
              <a:buNone/>
            </a:pPr>
            <a:r>
              <a:rPr sz="1000" u="none" dirty="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・Geographic coverage</a:t>
            </a:r>
          </a:p>
        </p:txBody>
      </p:sp>
      <p:pic>
        <p:nvPicPr>
          <p:cNvPr id="70" name="Image 1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807490" y="1389478"/>
            <a:ext cx="2101019" cy="291269"/>
          </a:xfrm>
          <a:prstGeom prst="rect">
            <a:avLst/>
          </a:prstGeom>
        </p:spPr>
      </p:pic>
      <p:sp>
        <p:nvSpPr>
          <p:cNvPr id="25" name="Text 8">
            <a:extLst>
              <a:ext uri="{FF2B5EF4-FFF2-40B4-BE49-F238E27FC236}">
                <a16:creationId xmlns:a16="http://schemas.microsoft.com/office/drawing/2014/main" id="{F0951B13-C34E-48B2-8655-542CF0677728}"/>
              </a:ext>
            </a:extLst>
          </p:cNvPr>
          <p:cNvSpPr>
            <a:spLocks noGrp="1"/>
          </p:cNvSpPr>
          <p:nvPr/>
        </p:nvSpPr>
        <p:spPr>
          <a:xfrm>
            <a:off x="6057900" y="1436209"/>
            <a:ext cx="1581150" cy="19132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ts val="1507"/>
              </a:lnSpc>
            </a:pPr>
            <a:r>
              <a:rPr lang="en-US" sz="1050" b="1" u="none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Operational Constraints</a:t>
            </a:r>
            <a:endParaRPr sz="1050" b="1" u="none" dirty="0">
              <a:solidFill>
                <a:srgbClr val="FFFFFF"/>
              </a:solidFill>
              <a:latin typeface="Noto Sans JP"/>
              <a:ea typeface="Noto Sans JP"/>
              <a:cs typeface="Noto Sans JP"/>
            </a:endParaRPr>
          </a:p>
        </p:txBody>
      </p:sp>
      <p:pic>
        <p:nvPicPr>
          <p:cNvPr id="72" name="Image 1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807491" y="1675228"/>
            <a:ext cx="2101019" cy="243644"/>
          </a:xfrm>
          <a:prstGeom prst="rect">
            <a:avLst/>
          </a:prstGeom>
        </p:spPr>
      </p:pic>
      <p:sp>
        <p:nvSpPr>
          <p:cNvPr id="27" name="Text 9">
            <a:extLst>
              <a:ext uri="{FF2B5EF4-FFF2-40B4-BE49-F238E27FC236}">
                <a16:creationId xmlns:a16="http://schemas.microsoft.com/office/drawing/2014/main" id="{B6D620D1-FE7F-4E92-826D-2D2238450FD0}"/>
              </a:ext>
            </a:extLst>
          </p:cNvPr>
          <p:cNvSpPr>
            <a:spLocks noGrp="1"/>
          </p:cNvSpPr>
          <p:nvPr/>
        </p:nvSpPr>
        <p:spPr>
          <a:xfrm>
            <a:off x="6162675" y="1715518"/>
            <a:ext cx="1371600" cy="16560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ctr">
              <a:lnSpc>
                <a:spcPts val="1304"/>
              </a:lnSpc>
              <a:buNone/>
            </a:pPr>
            <a:r>
              <a:rPr sz="900" b="1" u="none">
                <a:solidFill>
                  <a:srgbClr val="007E8F"/>
                </a:solidFill>
                <a:latin typeface="Noto Sans JP"/>
                <a:ea typeface="Noto Sans JP"/>
                <a:cs typeface="Noto Sans JP"/>
              </a:rPr>
              <a:t>What must be satisfied?</a:t>
            </a: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D3E63C5D-3CCF-43C4-A98B-C8CBF8FA4046}"/>
              </a:ext>
            </a:extLst>
          </p:cNvPr>
          <p:cNvSpPr>
            <a:spLocks noGrp="1"/>
          </p:cNvSpPr>
          <p:nvPr/>
        </p:nvSpPr>
        <p:spPr>
          <a:xfrm>
            <a:off x="5791822" y="2204622"/>
            <a:ext cx="2132354" cy="191782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171450" indent="-171450" algn="l">
              <a:lnSpc>
                <a:spcPts val="1729"/>
              </a:lnSpc>
              <a:buFontTx/>
              <a:buChar char="-"/>
            </a:pPr>
            <a:r>
              <a:rPr sz="1000" u="none" dirty="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Payload capacity</a:t>
            </a:r>
            <a:endParaRPr lang="en-US" sz="1000" u="none" dirty="0">
              <a:solidFill>
                <a:srgbClr val="333333"/>
              </a:solidFill>
              <a:latin typeface="Noto Sans JP"/>
              <a:ea typeface="Noto Sans JP"/>
              <a:cs typeface="Noto Sans JP"/>
            </a:endParaRPr>
          </a:p>
          <a:p>
            <a:pPr marL="171450" indent="-171450" algn="l">
              <a:lnSpc>
                <a:spcPts val="1729"/>
              </a:lnSpc>
              <a:buFontTx/>
              <a:buChar char="-"/>
            </a:pPr>
            <a:r>
              <a:rPr sz="1000" u="none" dirty="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Operating time and service</a:t>
            </a:r>
            <a:endParaRPr lang="en-US" sz="1000" u="none" dirty="0">
              <a:solidFill>
                <a:srgbClr val="333333"/>
              </a:solidFill>
              <a:latin typeface="Noto Sans JP"/>
              <a:ea typeface="Noto Sans JP"/>
              <a:cs typeface="Noto Sans JP"/>
            </a:endParaRPr>
          </a:p>
          <a:p>
            <a:pPr algn="l">
              <a:lnSpc>
                <a:spcPts val="1729"/>
              </a:lnSpc>
            </a:pPr>
            <a:r>
              <a:rPr lang="en-US" sz="100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      </a:t>
            </a:r>
            <a:r>
              <a:rPr sz="1000" u="none" dirty="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time</a:t>
            </a:r>
            <a:endParaRPr lang="en-US" sz="1000" dirty="0">
              <a:solidFill>
                <a:srgbClr val="333333"/>
              </a:solidFill>
              <a:latin typeface="Noto Sans JP"/>
              <a:ea typeface="Noto Sans JP"/>
              <a:cs typeface="Noto Sans JP"/>
            </a:endParaRPr>
          </a:p>
          <a:p>
            <a:pPr marL="171450" indent="-171450" algn="l">
              <a:lnSpc>
                <a:spcPts val="1729"/>
              </a:lnSpc>
              <a:buFontTx/>
              <a:buChar char="-"/>
            </a:pPr>
            <a:r>
              <a:rPr sz="1000" u="none" dirty="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Travel distance and usable</a:t>
            </a:r>
            <a:endParaRPr lang="en-US" sz="1000" u="none" dirty="0">
              <a:solidFill>
                <a:srgbClr val="333333"/>
              </a:solidFill>
              <a:latin typeface="Noto Sans JP"/>
              <a:ea typeface="Noto Sans JP"/>
              <a:cs typeface="Noto Sans JP"/>
            </a:endParaRPr>
          </a:p>
          <a:p>
            <a:pPr algn="l">
              <a:lnSpc>
                <a:spcPts val="1729"/>
              </a:lnSpc>
            </a:pPr>
            <a:r>
              <a:rPr lang="en-US" sz="100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      </a:t>
            </a:r>
            <a:r>
              <a:rPr sz="1000" u="none" dirty="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range</a:t>
            </a:r>
            <a:endParaRPr lang="en-US" sz="1000" dirty="0">
              <a:solidFill>
                <a:srgbClr val="333333"/>
              </a:solidFill>
              <a:latin typeface="Noto Sans JP"/>
              <a:ea typeface="Noto Sans JP"/>
              <a:cs typeface="Noto Sans JP"/>
            </a:endParaRPr>
          </a:p>
          <a:p>
            <a:pPr marL="171450" indent="-171450" algn="l">
              <a:lnSpc>
                <a:spcPts val="1729"/>
              </a:lnSpc>
              <a:buFontTx/>
              <a:buChar char="-"/>
            </a:pPr>
            <a:r>
              <a:rPr sz="1000" u="none" dirty="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Time windows</a:t>
            </a:r>
            <a:endParaRPr lang="en-US" sz="1000" dirty="0">
              <a:solidFill>
                <a:srgbClr val="333333"/>
              </a:solidFill>
              <a:latin typeface="Noto Sans JP"/>
              <a:ea typeface="Noto Sans JP"/>
              <a:cs typeface="Noto Sans JP"/>
            </a:endParaRPr>
          </a:p>
          <a:p>
            <a:pPr marL="171450" indent="-171450" algn="l">
              <a:lnSpc>
                <a:spcPts val="1729"/>
              </a:lnSpc>
              <a:buFontTx/>
              <a:buChar char="-"/>
            </a:pPr>
            <a:r>
              <a:rPr lang="en-US" sz="100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 B</a:t>
            </a:r>
            <a:r>
              <a:rPr lang="ja-JP" altLang="ja-JP" sz="1000"/>
              <a:t>attery and state-of-charge conditions</a:t>
            </a:r>
            <a:endParaRPr lang="en-US" altLang="ja-JP" sz="1000" dirty="0"/>
          </a:p>
          <a:p>
            <a:pPr marL="171450" indent="-171450" algn="l">
              <a:lnSpc>
                <a:spcPts val="1729"/>
              </a:lnSpc>
              <a:buFontTx/>
              <a:buChar char="-"/>
            </a:pPr>
            <a:r>
              <a:rPr sz="1000" u="none" dirty="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Charging access and</a:t>
            </a:r>
            <a:r>
              <a:rPr sz="1000" dirty="0"/>
              <a:t> </a:t>
            </a:r>
            <a:r>
              <a:rPr sz="1000" u="none" dirty="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charging duration</a:t>
            </a:r>
            <a:endParaRPr lang="en-US" sz="1000" u="none" dirty="0">
              <a:solidFill>
                <a:srgbClr val="333333"/>
              </a:solidFill>
              <a:latin typeface="Noto Sans JP"/>
              <a:ea typeface="Noto Sans JP"/>
              <a:cs typeface="Noto Sans JP"/>
            </a:endParaRPr>
          </a:p>
          <a:p>
            <a:pPr marL="171450" indent="-171450" algn="l">
              <a:lnSpc>
                <a:spcPts val="1729"/>
              </a:lnSpc>
              <a:buFontTx/>
              <a:buChar char="-"/>
            </a:pPr>
            <a:r>
              <a:rPr sz="1000" u="none" dirty="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Heterogeneous fleet or</a:t>
            </a:r>
            <a:r>
              <a:rPr sz="1000" dirty="0"/>
              <a:t> </a:t>
            </a:r>
            <a:r>
              <a:rPr sz="1000" u="none" dirty="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multi-depot </a:t>
            </a:r>
            <a:endParaRPr lang="en-US" sz="1000" u="none" dirty="0">
              <a:solidFill>
                <a:srgbClr val="333333"/>
              </a:solidFill>
              <a:latin typeface="Noto Sans JP"/>
              <a:ea typeface="Noto Sans JP"/>
              <a:cs typeface="Noto Sans JP"/>
            </a:endParaRPr>
          </a:p>
          <a:p>
            <a:pPr algn="l">
              <a:lnSpc>
                <a:spcPts val="1729"/>
              </a:lnSpc>
            </a:pPr>
            <a:r>
              <a:rPr lang="en-US" sz="1000" dirty="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      </a:t>
            </a:r>
            <a:r>
              <a:rPr sz="1000" u="none" dirty="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conditions</a:t>
            </a:r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993C048B-8650-4883-A741-553E7C34108D}"/>
              </a:ext>
            </a:extLst>
          </p:cNvPr>
          <p:cNvSpPr>
            <a:spLocks noGrp="1"/>
          </p:cNvSpPr>
          <p:nvPr/>
        </p:nvSpPr>
        <p:spPr>
          <a:xfrm>
            <a:off x="276278" y="307526"/>
            <a:ext cx="7819979" cy="2355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l">
              <a:lnSpc>
                <a:spcPts val="1854"/>
              </a:lnSpc>
              <a:buNone/>
            </a:pPr>
            <a:r>
              <a:rPr sz="2000" b="1" u="none" dirty="0">
                <a:solidFill>
                  <a:srgbClr val="333333"/>
                </a:solidFill>
                <a:ea typeface="Noto Sans JP"/>
                <a:cs typeface="Noto Sans JP"/>
              </a:rPr>
              <a:t>Survey Finding: Application-Side Definition Is Required</a:t>
            </a:r>
          </a:p>
        </p:txBody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42E5FD21-9DB7-4833-8586-91B44E1E6538}"/>
              </a:ext>
            </a:extLst>
          </p:cNvPr>
          <p:cNvSpPr>
            <a:spLocks noGrp="1"/>
          </p:cNvSpPr>
          <p:nvPr/>
        </p:nvSpPr>
        <p:spPr>
          <a:xfrm>
            <a:off x="276297" y="647694"/>
            <a:ext cx="7819945" cy="44169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ts val="1739"/>
              </a:lnSpc>
            </a:pPr>
            <a:r>
              <a:rPr lang="en-US" sz="1600" u="none" dirty="0">
                <a:solidFill>
                  <a:srgbClr val="333333"/>
                </a:solidFill>
                <a:ea typeface="Noto Sans JP"/>
                <a:cs typeface="Noto Sans JP"/>
              </a:rPr>
              <a:t>The survey indicated that reported circuit width cannot be interpreted without defining the application-side problem instance and required operational constraints.</a:t>
            </a:r>
            <a:endParaRPr sz="1600" u="none" dirty="0">
              <a:solidFill>
                <a:srgbClr val="333333"/>
              </a:solidFill>
              <a:ea typeface="Noto Sans JP"/>
              <a:cs typeface="Noto Sans JP"/>
            </a:endParaRPr>
          </a:p>
        </p:txBody>
      </p:sp>
      <p:pic>
        <p:nvPicPr>
          <p:cNvPr id="77" name="Image 1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76293" y="592730"/>
            <a:ext cx="7819949" cy="28575"/>
          </a:xfrm>
          <a:prstGeom prst="rect">
            <a:avLst/>
          </a:prstGeom>
        </p:spPr>
      </p:pic>
      <p:pic>
        <p:nvPicPr>
          <p:cNvPr id="78" name="Image 1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970692" y="592730"/>
            <a:ext cx="1125550" cy="28575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E7CC82D2-ADFF-339B-8817-B3B7B82CD020}"/>
              </a:ext>
            </a:extLst>
          </p:cNvPr>
          <p:cNvSpPr>
            <a:spLocks noGrp="1"/>
          </p:cNvSpPr>
          <p:nvPr/>
        </p:nvSpPr>
        <p:spPr>
          <a:xfrm>
            <a:off x="723900" y="2904547"/>
            <a:ext cx="2247900" cy="34497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ctr">
              <a:lnSpc>
                <a:spcPts val="1644"/>
              </a:lnSpc>
              <a:buNone/>
            </a:pPr>
            <a:r>
              <a:rPr sz="1000" b="1" u="none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Application-side definition</a:t>
            </a:r>
          </a:p>
          <a:p>
            <a:pPr marL="0" indent="0" algn="ctr">
              <a:lnSpc>
                <a:spcPts val="1072"/>
              </a:lnSpc>
              <a:buNone/>
            </a:pPr>
            <a:r>
              <a:rPr sz="800" b="1" u="none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Problem-instance scale × Operational constraints</a:t>
            </a:r>
          </a:p>
        </p:txBody>
      </p:sp>
    </p:spTree>
    <p:extLst>
      <p:ext uri="{BB962C8B-B14F-4D97-AF65-F5344CB8AC3E}">
        <p14:creationId xmlns:p14="http://schemas.microsoft.com/office/powerpoint/2010/main" val="1755535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Imag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30862" y="3440538"/>
            <a:ext cx="5530025" cy="24575"/>
          </a:xfrm>
          <a:prstGeom prst="rect">
            <a:avLst/>
          </a:prstGeom>
        </p:spPr>
      </p:pic>
      <p:pic>
        <p:nvPicPr>
          <p:cNvPr id="69" name="Imag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30862" y="2992863"/>
            <a:ext cx="5530025" cy="24575"/>
          </a:xfrm>
          <a:prstGeom prst="rect">
            <a:avLst/>
          </a:prstGeom>
        </p:spPr>
      </p:pic>
      <p:pic>
        <p:nvPicPr>
          <p:cNvPr id="70" name="Imag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30862" y="2535663"/>
            <a:ext cx="5530025" cy="24575"/>
          </a:xfrm>
          <a:prstGeom prst="rect">
            <a:avLst/>
          </a:prstGeom>
        </p:spPr>
      </p:pic>
      <p:pic>
        <p:nvPicPr>
          <p:cNvPr id="71" name="Image 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30862" y="2087988"/>
            <a:ext cx="5530025" cy="24575"/>
          </a:xfrm>
          <a:prstGeom prst="rect">
            <a:avLst/>
          </a:prstGeom>
        </p:spPr>
      </p:pic>
      <p:pic>
        <p:nvPicPr>
          <p:cNvPr id="72" name="Image 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83362" y="1764138"/>
            <a:ext cx="24575" cy="1910525"/>
          </a:xfrm>
          <a:prstGeom prst="rect">
            <a:avLst/>
          </a:prstGeom>
        </p:spPr>
      </p:pic>
      <p:pic>
        <p:nvPicPr>
          <p:cNvPr id="73" name="Image 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93112" y="1764138"/>
            <a:ext cx="24575" cy="1910525"/>
          </a:xfrm>
          <a:prstGeom prst="rect">
            <a:avLst/>
          </a:prstGeom>
        </p:spPr>
      </p:pic>
      <p:pic>
        <p:nvPicPr>
          <p:cNvPr id="74" name="Image 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02862" y="1764138"/>
            <a:ext cx="24575" cy="1910525"/>
          </a:xfrm>
          <a:prstGeom prst="rect">
            <a:avLst/>
          </a:prstGeom>
        </p:spPr>
      </p:pic>
      <p:pic>
        <p:nvPicPr>
          <p:cNvPr id="75" name="Image 1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322575" y="3666375"/>
            <a:ext cx="5641850" cy="30100"/>
          </a:xfrm>
          <a:prstGeom prst="rect">
            <a:avLst/>
          </a:prstGeom>
        </p:spPr>
      </p:pic>
      <p:pic>
        <p:nvPicPr>
          <p:cNvPr id="76" name="Image 1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328100" y="1755850"/>
            <a:ext cx="30100" cy="1927100"/>
          </a:xfrm>
          <a:prstGeom prst="rect">
            <a:avLst/>
          </a:prstGeom>
        </p:spPr>
      </p:pic>
      <p:sp>
        <p:nvSpPr>
          <p:cNvPr id="16" name="Text 1">
            <a:extLst>
              <a:ext uri="{FF2B5EF4-FFF2-40B4-BE49-F238E27FC236}">
                <a16:creationId xmlns:a16="http://schemas.microsoft.com/office/drawing/2014/main" id="{E94AAAB4-005E-4A6F-B878-C03DED020B44}"/>
              </a:ext>
            </a:extLst>
          </p:cNvPr>
          <p:cNvSpPr>
            <a:spLocks noGrp="1"/>
          </p:cNvSpPr>
          <p:nvPr/>
        </p:nvSpPr>
        <p:spPr>
          <a:xfrm>
            <a:off x="-202788" y="2510182"/>
            <a:ext cx="1343025" cy="19132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ctr">
              <a:lnSpc>
                <a:spcPts val="1507"/>
              </a:lnSpc>
              <a:buNone/>
            </a:pPr>
            <a:r>
              <a:rPr sz="1050" b="1" u="none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Constraint </a:t>
            </a:r>
          </a:p>
          <a:p>
            <a:pPr marL="0" indent="0" algn="ctr">
              <a:lnSpc>
                <a:spcPts val="1507"/>
              </a:lnSpc>
              <a:buNone/>
            </a:pPr>
            <a:r>
              <a:rPr sz="1050" b="1" u="none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coverage</a:t>
            </a:r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5BA595A7-E094-4168-9F90-78C478D0AAD9}"/>
              </a:ext>
            </a:extLst>
          </p:cNvPr>
          <p:cNvSpPr>
            <a:spLocks noGrp="1"/>
          </p:cNvSpPr>
          <p:nvPr/>
        </p:nvSpPr>
        <p:spPr>
          <a:xfrm>
            <a:off x="4662487" y="4114050"/>
            <a:ext cx="962025" cy="19132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ctr">
              <a:lnSpc>
                <a:spcPts val="1507"/>
              </a:lnSpc>
              <a:buNone/>
            </a:pPr>
            <a:r>
              <a:rPr sz="1050" b="1" u="none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Problem scale</a:t>
            </a:r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B9F077AA-E039-486F-A9C7-64FFF82EE388}"/>
              </a:ext>
            </a:extLst>
          </p:cNvPr>
          <p:cNvSpPr>
            <a:spLocks noGrp="1"/>
          </p:cNvSpPr>
          <p:nvPr/>
        </p:nvSpPr>
        <p:spPr>
          <a:xfrm>
            <a:off x="1504950" y="3357006"/>
            <a:ext cx="733425" cy="16560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r">
              <a:lnSpc>
                <a:spcPts val="1304"/>
              </a:lnSpc>
              <a:buNone/>
            </a:pPr>
            <a:r>
              <a:rPr sz="900" u="none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Basic routing</a:t>
            </a:r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D4359437-08FD-4D6C-A45F-81BBC8B65823}"/>
              </a:ext>
            </a:extLst>
          </p:cNvPr>
          <p:cNvSpPr>
            <a:spLocks noGrp="1"/>
          </p:cNvSpPr>
          <p:nvPr/>
        </p:nvSpPr>
        <p:spPr>
          <a:xfrm>
            <a:off x="695325" y="2909331"/>
            <a:ext cx="1543050" cy="16560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r">
              <a:lnSpc>
                <a:spcPts val="1304"/>
              </a:lnSpc>
              <a:buNone/>
            </a:pPr>
            <a:r>
              <a:rPr sz="900" u="none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Capacity and operating time</a:t>
            </a:r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3305F8DC-2316-40C1-9919-C01536DB7E68}"/>
              </a:ext>
            </a:extLst>
          </p:cNvPr>
          <p:cNvSpPr>
            <a:spLocks noGrp="1"/>
          </p:cNvSpPr>
          <p:nvPr/>
        </p:nvSpPr>
        <p:spPr>
          <a:xfrm>
            <a:off x="1143000" y="2381692"/>
            <a:ext cx="1095375" cy="32837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r">
              <a:lnSpc>
                <a:spcPts val="1282"/>
              </a:lnSpc>
              <a:buNone/>
            </a:pPr>
            <a:r>
              <a:rPr sz="900" u="none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SOC, and</a:t>
            </a:r>
          </a:p>
          <a:p>
            <a:pPr marL="0" indent="0" algn="r">
              <a:lnSpc>
                <a:spcPts val="1304"/>
              </a:lnSpc>
              <a:buNone/>
            </a:pPr>
            <a:r>
              <a:rPr sz="900" u="none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charging conditions</a:t>
            </a:r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73C1D8D3-5472-41F2-8E9E-8D8E2B6CD11E}"/>
              </a:ext>
            </a:extLst>
          </p:cNvPr>
          <p:cNvSpPr>
            <a:spLocks noGrp="1"/>
          </p:cNvSpPr>
          <p:nvPr/>
        </p:nvSpPr>
        <p:spPr>
          <a:xfrm>
            <a:off x="685800" y="1934017"/>
            <a:ext cx="1552575" cy="32837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r">
              <a:lnSpc>
                <a:spcPts val="1282"/>
              </a:lnSpc>
              <a:buNone/>
            </a:pPr>
            <a:r>
              <a:rPr sz="900" u="none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Operationally representative</a:t>
            </a:r>
          </a:p>
          <a:p>
            <a:pPr marL="0" indent="0" algn="r">
              <a:lnSpc>
                <a:spcPts val="1304"/>
              </a:lnSpc>
              <a:buNone/>
            </a:pPr>
            <a:r>
              <a:rPr sz="900" u="none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conditions</a:t>
            </a:r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773FDA19-1559-4C6A-A2AF-B38072574049}"/>
              </a:ext>
            </a:extLst>
          </p:cNvPr>
          <p:cNvSpPr>
            <a:spLocks noGrp="1"/>
          </p:cNvSpPr>
          <p:nvPr/>
        </p:nvSpPr>
        <p:spPr>
          <a:xfrm>
            <a:off x="2857500" y="3738006"/>
            <a:ext cx="838200" cy="16560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ctr">
              <a:lnSpc>
                <a:spcPts val="1304"/>
              </a:lnSpc>
              <a:buNone/>
            </a:pPr>
            <a:r>
              <a:rPr sz="900" u="none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Few customers</a:t>
            </a:r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39065725-6A6A-459A-B2B4-34CB0C9B9AB0}"/>
              </a:ext>
            </a:extLst>
          </p:cNvPr>
          <p:cNvSpPr>
            <a:spLocks noGrp="1"/>
          </p:cNvSpPr>
          <p:nvPr/>
        </p:nvSpPr>
        <p:spPr>
          <a:xfrm>
            <a:off x="4676775" y="3743767"/>
            <a:ext cx="819150" cy="32837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ctr">
              <a:lnSpc>
                <a:spcPts val="1282"/>
              </a:lnSpc>
              <a:buNone/>
            </a:pPr>
            <a:r>
              <a:rPr sz="900" u="none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More vehicles</a:t>
            </a:r>
          </a:p>
          <a:p>
            <a:pPr marL="0" indent="0" algn="ctr">
              <a:lnSpc>
                <a:spcPts val="1304"/>
              </a:lnSpc>
              <a:buNone/>
            </a:pPr>
            <a:r>
              <a:rPr sz="900" u="none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and customers</a:t>
            </a:r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987B5177-B1EB-4C97-8B97-C7C1F7608D72}"/>
              </a:ext>
            </a:extLst>
          </p:cNvPr>
          <p:cNvSpPr>
            <a:spLocks noGrp="1"/>
          </p:cNvSpPr>
          <p:nvPr/>
        </p:nvSpPr>
        <p:spPr>
          <a:xfrm>
            <a:off x="6362700" y="3743767"/>
            <a:ext cx="1066800" cy="32837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ctr">
              <a:lnSpc>
                <a:spcPts val="1282"/>
              </a:lnSpc>
              <a:buNone/>
            </a:pPr>
            <a:r>
              <a:rPr sz="900" u="none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Larger variable or</a:t>
            </a:r>
          </a:p>
          <a:p>
            <a:pPr marL="0" indent="0" algn="ctr">
              <a:lnSpc>
                <a:spcPts val="1304"/>
              </a:lnSpc>
              <a:buNone/>
            </a:pPr>
            <a:r>
              <a:rPr sz="900" u="none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qubit requirements</a:t>
            </a:r>
          </a:p>
        </p:txBody>
      </p:sp>
      <p:pic>
        <p:nvPicPr>
          <p:cNvPr id="86" name="Image 1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989450" y="3437775"/>
            <a:ext cx="1974725" cy="30100"/>
          </a:xfrm>
          <a:prstGeom prst="rect">
            <a:avLst/>
          </a:prstGeom>
        </p:spPr>
      </p:pic>
      <p:pic>
        <p:nvPicPr>
          <p:cNvPr id="87" name="Image 1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280600" y="2460700"/>
            <a:ext cx="30100" cy="746000"/>
          </a:xfrm>
          <a:prstGeom prst="rect">
            <a:avLst/>
          </a:prstGeom>
        </p:spPr>
      </p:pic>
      <p:pic>
        <p:nvPicPr>
          <p:cNvPr id="88" name="Image 1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084700" y="2085225"/>
            <a:ext cx="1688975" cy="30100"/>
          </a:xfrm>
          <a:prstGeom prst="rect">
            <a:avLst/>
          </a:prstGeom>
        </p:spPr>
      </p:pic>
      <p:pic>
        <p:nvPicPr>
          <p:cNvPr id="89" name="Image 1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900100" y="2413075"/>
            <a:ext cx="30100" cy="746000"/>
          </a:xfrm>
          <a:prstGeom prst="rect">
            <a:avLst/>
          </a:prstGeom>
        </p:spPr>
      </p:pic>
      <p:pic>
        <p:nvPicPr>
          <p:cNvPr id="90" name="Image 1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616615" y="3250041"/>
            <a:ext cx="1339019" cy="386519"/>
          </a:xfrm>
          <a:prstGeom prst="rect">
            <a:avLst/>
          </a:prstGeom>
        </p:spPr>
      </p:pic>
      <p:sp>
        <p:nvSpPr>
          <p:cNvPr id="30" name="Text 10">
            <a:extLst>
              <a:ext uri="{FF2B5EF4-FFF2-40B4-BE49-F238E27FC236}">
                <a16:creationId xmlns:a16="http://schemas.microsoft.com/office/drawing/2014/main" id="{88E613DA-56AB-4AB5-B805-3012EB58D91F}"/>
              </a:ext>
            </a:extLst>
          </p:cNvPr>
          <p:cNvSpPr>
            <a:spLocks noGrp="1"/>
          </p:cNvSpPr>
          <p:nvPr/>
        </p:nvSpPr>
        <p:spPr>
          <a:xfrm>
            <a:off x="2871788" y="3334871"/>
            <a:ext cx="809625" cy="19132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ctr">
              <a:lnSpc>
                <a:spcPts val="1507"/>
              </a:lnSpc>
              <a:buNone/>
            </a:pPr>
            <a:r>
              <a:rPr sz="1050" u="none" dirty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Toy </a:t>
            </a:r>
            <a:r>
              <a:rPr lang="en-US" sz="1050" u="none" dirty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I</a:t>
            </a:r>
            <a:r>
              <a:rPr sz="1050" u="none" dirty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nstance</a:t>
            </a:r>
          </a:p>
        </p:txBody>
      </p:sp>
      <p:pic>
        <p:nvPicPr>
          <p:cNvPr id="92" name="Image 1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518606" y="1799481"/>
            <a:ext cx="1535038" cy="582538"/>
          </a:xfrm>
          <a:prstGeom prst="rect">
            <a:avLst/>
          </a:prstGeom>
        </p:spPr>
      </p:pic>
      <p:sp>
        <p:nvSpPr>
          <p:cNvPr id="32" name="Text 11">
            <a:extLst>
              <a:ext uri="{FF2B5EF4-FFF2-40B4-BE49-F238E27FC236}">
                <a16:creationId xmlns:a16="http://schemas.microsoft.com/office/drawing/2014/main" id="{5E786BB9-95B1-44AF-AD69-BBC113909E78}"/>
              </a:ext>
            </a:extLst>
          </p:cNvPr>
          <p:cNvSpPr>
            <a:spLocks noGrp="1"/>
          </p:cNvSpPr>
          <p:nvPr/>
        </p:nvSpPr>
        <p:spPr>
          <a:xfrm>
            <a:off x="2709863" y="1835089"/>
            <a:ext cx="1133475" cy="48684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ts val="1265"/>
              </a:lnSpc>
            </a:pPr>
            <a:r>
              <a:rPr lang="en-US" sz="900" u="none" dirty="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Small Instance with Rich Operational Constraints</a:t>
            </a:r>
            <a:endParaRPr sz="900" u="none" dirty="0">
              <a:solidFill>
                <a:srgbClr val="333333"/>
              </a:solidFill>
              <a:latin typeface="Noto Sans JP"/>
              <a:ea typeface="Noto Sans JP"/>
              <a:cs typeface="Noto Sans JP"/>
            </a:endParaRPr>
          </a:p>
        </p:txBody>
      </p:sp>
      <p:pic>
        <p:nvPicPr>
          <p:cNvPr id="94" name="Image 1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042856" y="3199656"/>
            <a:ext cx="1725538" cy="487288"/>
          </a:xfrm>
          <a:prstGeom prst="rect">
            <a:avLst/>
          </a:prstGeom>
        </p:spPr>
      </p:pic>
      <p:sp>
        <p:nvSpPr>
          <p:cNvPr id="34" name="Text 12">
            <a:extLst>
              <a:ext uri="{FF2B5EF4-FFF2-40B4-BE49-F238E27FC236}">
                <a16:creationId xmlns:a16="http://schemas.microsoft.com/office/drawing/2014/main" id="{6B3F5104-6F08-4047-9187-54DE3BF6208B}"/>
              </a:ext>
            </a:extLst>
          </p:cNvPr>
          <p:cNvSpPr>
            <a:spLocks noGrp="1"/>
          </p:cNvSpPr>
          <p:nvPr/>
        </p:nvSpPr>
        <p:spPr>
          <a:xfrm>
            <a:off x="6362700" y="3286567"/>
            <a:ext cx="1066800" cy="32837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ts val="1282"/>
              </a:lnSpc>
            </a:pPr>
            <a:r>
              <a:rPr lang="en-US" sz="900" u="none" dirty="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Large Instance with Basic Constraints</a:t>
            </a:r>
            <a:endParaRPr sz="900" u="none" dirty="0">
              <a:solidFill>
                <a:srgbClr val="333333"/>
              </a:solidFill>
              <a:latin typeface="Noto Sans JP"/>
              <a:ea typeface="Noto Sans JP"/>
              <a:cs typeface="Noto Sans JP"/>
            </a:endParaRPr>
          </a:p>
        </p:txBody>
      </p:sp>
      <p:pic>
        <p:nvPicPr>
          <p:cNvPr id="96" name="Image 1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855116" y="1696276"/>
            <a:ext cx="2101019" cy="635360"/>
          </a:xfrm>
          <a:prstGeom prst="rect">
            <a:avLst/>
          </a:prstGeom>
        </p:spPr>
      </p:pic>
      <p:sp>
        <p:nvSpPr>
          <p:cNvPr id="36" name="Text 13">
            <a:extLst>
              <a:ext uri="{FF2B5EF4-FFF2-40B4-BE49-F238E27FC236}">
                <a16:creationId xmlns:a16="http://schemas.microsoft.com/office/drawing/2014/main" id="{0B8B735E-587C-4097-BFAB-0EA9ADC6AF55}"/>
              </a:ext>
            </a:extLst>
          </p:cNvPr>
          <p:cNvSpPr>
            <a:spLocks noGrp="1"/>
          </p:cNvSpPr>
          <p:nvPr/>
        </p:nvSpPr>
        <p:spPr>
          <a:xfrm>
            <a:off x="5827406" y="1801100"/>
            <a:ext cx="2197027" cy="38728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ts val="1543"/>
              </a:lnSpc>
            </a:pPr>
            <a:r>
              <a:rPr lang="en-US" sz="1050" b="1" u="none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Operationally Representative Application Requirements Potential within this space</a:t>
            </a:r>
            <a:endParaRPr sz="1050" b="1" u="none" dirty="0">
              <a:solidFill>
                <a:srgbClr val="FFFFFF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37" name="Text 14">
            <a:extLst>
              <a:ext uri="{FF2B5EF4-FFF2-40B4-BE49-F238E27FC236}">
                <a16:creationId xmlns:a16="http://schemas.microsoft.com/office/drawing/2014/main" id="{8DD31D47-FF58-421E-94A9-35205B246B49}"/>
              </a:ext>
            </a:extLst>
          </p:cNvPr>
          <p:cNvSpPr>
            <a:spLocks noGrp="1"/>
          </p:cNvSpPr>
          <p:nvPr/>
        </p:nvSpPr>
        <p:spPr>
          <a:xfrm>
            <a:off x="276278" y="307526"/>
            <a:ext cx="7819979" cy="2355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l">
              <a:lnSpc>
                <a:spcPts val="1854"/>
              </a:lnSpc>
              <a:buNone/>
            </a:pPr>
            <a:r>
              <a:rPr sz="2000" b="1" u="none" dirty="0">
                <a:solidFill>
                  <a:srgbClr val="333333"/>
                </a:solidFill>
                <a:ea typeface="Noto Sans JP"/>
                <a:cs typeface="Noto Sans JP"/>
              </a:rPr>
              <a:t>Problem Scale Alone Is Not Sufficient</a:t>
            </a:r>
          </a:p>
        </p:txBody>
      </p:sp>
      <p:sp>
        <p:nvSpPr>
          <p:cNvPr id="38" name="Text 15">
            <a:extLst>
              <a:ext uri="{FF2B5EF4-FFF2-40B4-BE49-F238E27FC236}">
                <a16:creationId xmlns:a16="http://schemas.microsoft.com/office/drawing/2014/main" id="{85EE5527-2A27-4637-B8FE-493C4A80DB13}"/>
              </a:ext>
            </a:extLst>
          </p:cNvPr>
          <p:cNvSpPr>
            <a:spLocks noGrp="1"/>
          </p:cNvSpPr>
          <p:nvPr/>
        </p:nvSpPr>
        <p:spPr>
          <a:xfrm>
            <a:off x="276297" y="758534"/>
            <a:ext cx="7819945" cy="22076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ts val="1738"/>
              </a:lnSpc>
            </a:pPr>
            <a:r>
              <a:rPr lang="en-US" altLang="ja-JP" sz="1600" dirty="0">
                <a:ea typeface="Noto Sans JP"/>
                <a:cs typeface="Noto Sans JP"/>
              </a:rPr>
              <a:t>.</a:t>
            </a:r>
            <a:r>
              <a:rPr lang="ja-JP" altLang="ja-JP" sz="1600"/>
              <a:t> A larger problem instance is not necessarily more representative of real-world transportation operations.</a:t>
            </a:r>
            <a:endParaRPr lang="en-US" altLang="ja-JP" sz="1600" dirty="0">
              <a:ea typeface="Noto Sans JP"/>
              <a:cs typeface="Noto Sans JP"/>
            </a:endParaRPr>
          </a:p>
        </p:txBody>
      </p:sp>
      <p:pic>
        <p:nvPicPr>
          <p:cNvPr id="100" name="Image 2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76293" y="592730"/>
            <a:ext cx="7819949" cy="28575"/>
          </a:xfrm>
          <a:prstGeom prst="rect">
            <a:avLst/>
          </a:prstGeom>
        </p:spPr>
      </p:pic>
      <p:pic>
        <p:nvPicPr>
          <p:cNvPr id="101" name="Image 2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970692" y="592730"/>
            <a:ext cx="1125550" cy="28575"/>
          </a:xfrm>
          <a:prstGeom prst="rect">
            <a:avLst/>
          </a:prstGeom>
        </p:spPr>
      </p:pic>
      <p:sp>
        <p:nvSpPr>
          <p:cNvPr id="2" name="円/楕円 1">
            <a:extLst>
              <a:ext uri="{FF2B5EF4-FFF2-40B4-BE49-F238E27FC236}">
                <a16:creationId xmlns:a16="http://schemas.microsoft.com/office/drawing/2014/main" id="{DFC01CB2-80D9-70CE-911E-2FD5B48EA717}"/>
              </a:ext>
            </a:extLst>
          </p:cNvPr>
          <p:cNvSpPr>
            <a:spLocks noGrp="1"/>
          </p:cNvSpPr>
          <p:nvPr/>
        </p:nvSpPr>
        <p:spPr>
          <a:xfrm>
            <a:off x="4941277" y="2262393"/>
            <a:ext cx="1617785" cy="55114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1" name="Text 6">
            <a:extLst>
              <a:ext uri="{FF2B5EF4-FFF2-40B4-BE49-F238E27FC236}">
                <a16:creationId xmlns:a16="http://schemas.microsoft.com/office/drawing/2014/main" id="{C6C79C0E-DBC1-6CD7-3174-FCE7BD764292}"/>
              </a:ext>
            </a:extLst>
          </p:cNvPr>
          <p:cNvSpPr>
            <a:spLocks noGrp="1"/>
          </p:cNvSpPr>
          <p:nvPr/>
        </p:nvSpPr>
        <p:spPr>
          <a:xfrm>
            <a:off x="4916508" y="2464696"/>
            <a:ext cx="1552575" cy="32837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lnSpc>
                <a:spcPts val="1282"/>
              </a:lnSpc>
              <a:buNone/>
            </a:pPr>
            <a:r>
              <a:rPr sz="900" b="1" u="none" dirty="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Potential within this space</a:t>
            </a:r>
          </a:p>
          <a:p>
            <a:pPr algn="r">
              <a:lnSpc>
                <a:spcPts val="1282"/>
              </a:lnSpc>
              <a:buNone/>
            </a:pPr>
            <a:endParaRPr sz="900" u="none" dirty="0">
              <a:solidFill>
                <a:srgbClr val="333333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9" name="slide19-summary">
            <a:extLst>
              <a:ext uri="{FF2B5EF4-FFF2-40B4-BE49-F238E27FC236}">
                <a16:creationId xmlns:a16="http://schemas.microsoft.com/office/drawing/2014/main" id="{E34F4DC4-9232-5BC8-0E2B-0D3E54BCA994}"/>
              </a:ext>
            </a:extLst>
          </p:cNvPr>
          <p:cNvSpPr>
            <a:spLocks noGrp="1"/>
          </p:cNvSpPr>
          <p:nvPr/>
        </p:nvSpPr>
        <p:spPr>
          <a:xfrm>
            <a:off x="468724" y="1320607"/>
            <a:ext cx="752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008A9A"/>
                </a:solidFill>
              </a:defRPr>
            </a:pPr>
            <a:r>
              <a:rPr lang="en-US" sz="1600" b="1" dirty="0">
                <a:solidFill>
                  <a:srgbClr val="008A9A"/>
                </a:solidFill>
              </a:rPr>
              <a:t>Positioning Quantum-VRP Studies by Problem-Instance Scale and Operational-Constraint Coverage</a:t>
            </a:r>
          </a:p>
        </p:txBody>
      </p:sp>
    </p:spTree>
    <p:extLst>
      <p:ext uri="{BB962C8B-B14F-4D97-AF65-F5344CB8AC3E}">
        <p14:creationId xmlns:p14="http://schemas.microsoft.com/office/powerpoint/2010/main" val="5673610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Image 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3383" y="1450043"/>
            <a:ext cx="1389708" cy="306335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29599544-8542-4430-97DE-8C691A73E3C7}"/>
              </a:ext>
            </a:extLst>
          </p:cNvPr>
          <p:cNvSpPr>
            <a:spLocks noGrp="1"/>
          </p:cNvSpPr>
          <p:nvPr/>
        </p:nvSpPr>
        <p:spPr>
          <a:xfrm>
            <a:off x="881062" y="1516916"/>
            <a:ext cx="495300" cy="16560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ctr">
              <a:lnSpc>
                <a:spcPts val="1304"/>
              </a:lnSpc>
              <a:buNone/>
            </a:pPr>
            <a:r>
              <a:rPr lang="en-US" sz="1200" b="1" u="none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Original question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6F7BCF88-8390-429B-8837-3C9CA055464A}"/>
              </a:ext>
            </a:extLst>
          </p:cNvPr>
          <p:cNvSpPr>
            <a:spLocks noGrp="1"/>
          </p:cNvSpPr>
          <p:nvPr/>
        </p:nvSpPr>
        <p:spPr>
          <a:xfrm>
            <a:off x="1993983" y="1473364"/>
            <a:ext cx="2628900" cy="220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l">
              <a:lnSpc>
                <a:spcPts val="1738"/>
              </a:lnSpc>
              <a:buNone/>
            </a:pPr>
            <a:r>
              <a:rPr lang="en-US" sz="1200" b="1" u="none" dirty="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Problem scale and qubit requirements for social implementation</a:t>
            </a: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7F2A1014-C71C-4A6E-8147-784CC1FA8BB1}"/>
              </a:ext>
            </a:extLst>
          </p:cNvPr>
          <p:cNvSpPr>
            <a:spLocks noGrp="1"/>
          </p:cNvSpPr>
          <p:nvPr/>
        </p:nvSpPr>
        <p:spPr>
          <a:xfrm>
            <a:off x="547688" y="1847207"/>
            <a:ext cx="4381500" cy="19132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>
              <a:lnSpc>
                <a:spcPts val="1507"/>
              </a:lnSpc>
            </a:pPr>
            <a:r>
              <a:rPr lang="en-US" sz="1200" b="1" u="none" dirty="0">
                <a:solidFill>
                  <a:srgbClr val="007E8F"/>
                </a:solidFill>
                <a:latin typeface="Noto Sans JP"/>
                <a:ea typeface="Noto Sans JP"/>
                <a:cs typeface="Noto Sans JP"/>
              </a:rPr>
              <a:t>Evaluation Process Used to Review Quantum-Technology Application Studies</a:t>
            </a:r>
          </a:p>
        </p:txBody>
      </p:sp>
      <p:pic>
        <p:nvPicPr>
          <p:cNvPr id="63" name="Image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975" y="2124323"/>
            <a:ext cx="7254050" cy="24575"/>
          </a:xfrm>
          <a:prstGeom prst="rect">
            <a:avLst/>
          </a:prstGeom>
        </p:spPr>
      </p:pic>
      <p:pic>
        <p:nvPicPr>
          <p:cNvPr id="64" name="Imag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3978" y="2130041"/>
            <a:ext cx="1672394" cy="579232"/>
          </a:xfrm>
          <a:prstGeom prst="rect">
            <a:avLst/>
          </a:prstGeom>
        </p:spPr>
      </p:pic>
      <p:sp>
        <p:nvSpPr>
          <p:cNvPr id="10" name="Text 4">
            <a:extLst>
              <a:ext uri="{FF2B5EF4-FFF2-40B4-BE49-F238E27FC236}">
                <a16:creationId xmlns:a16="http://schemas.microsoft.com/office/drawing/2014/main" id="{8ED43186-7D04-4E3D-9A45-124A6D4BFCB7}"/>
              </a:ext>
            </a:extLst>
          </p:cNvPr>
          <p:cNvSpPr>
            <a:spLocks noGrp="1"/>
          </p:cNvSpPr>
          <p:nvPr/>
        </p:nvSpPr>
        <p:spPr>
          <a:xfrm>
            <a:off x="924560" y="2284989"/>
            <a:ext cx="952500" cy="16560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ts val="1304"/>
              </a:lnSpc>
            </a:pPr>
            <a:r>
              <a:rPr lang="en-US" sz="900" b="1" u="none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Define Application </a:t>
            </a:r>
          </a:p>
          <a:p>
            <a:pPr algn="ctr">
              <a:lnSpc>
                <a:spcPts val="1304"/>
              </a:lnSpc>
            </a:pPr>
            <a:r>
              <a:rPr lang="en-US" sz="900" b="1" u="none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Requirements</a:t>
            </a:r>
          </a:p>
        </p:txBody>
      </p:sp>
      <p:pic>
        <p:nvPicPr>
          <p:cNvPr id="68" name="Imag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978" y="2619626"/>
            <a:ext cx="1672394" cy="1787723"/>
          </a:xfrm>
          <a:prstGeom prst="rect">
            <a:avLst/>
          </a:prstGeom>
        </p:spPr>
      </p:pic>
      <p:sp>
        <p:nvSpPr>
          <p:cNvPr id="13" name="Text 6">
            <a:extLst>
              <a:ext uri="{FF2B5EF4-FFF2-40B4-BE49-F238E27FC236}">
                <a16:creationId xmlns:a16="http://schemas.microsoft.com/office/drawing/2014/main" id="{8E51DA56-5EA5-4D68-B43F-D4DF8A02279A}"/>
              </a:ext>
            </a:extLst>
          </p:cNvPr>
          <p:cNvSpPr>
            <a:spLocks noGrp="1"/>
          </p:cNvSpPr>
          <p:nvPr/>
        </p:nvSpPr>
        <p:spPr>
          <a:xfrm>
            <a:off x="570987" y="2528417"/>
            <a:ext cx="1672394" cy="178772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ja-JP" sz="1000" dirty="0">
                <a:solidFill>
                  <a:srgbClr val="25313F"/>
                </a:solidFill>
              </a:rPr>
              <a:t>Problem scale</a:t>
            </a:r>
            <a:endParaRPr lang="en-US" altLang="ja-JP" sz="1000" dirty="0"/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ja-JP" sz="1000" dirty="0">
                <a:solidFill>
                  <a:srgbClr val="25313F"/>
                </a:solidFill>
              </a:rPr>
              <a:t>Operational constraints</a:t>
            </a:r>
            <a:endParaRPr lang="en-US" altLang="ja-JP" sz="1000" dirty="0"/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ja-JP" sz="1000" dirty="0"/>
              <a:t>Required Technology and 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ja-JP" sz="1000" dirty="0"/>
              <a:t>Validation Stages Validation content by stage</a:t>
            </a:r>
          </a:p>
        </p:txBody>
      </p:sp>
      <p:pic>
        <p:nvPicPr>
          <p:cNvPr id="70" name="Imag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07052" y="3267325"/>
            <a:ext cx="100771" cy="138871"/>
          </a:xfrm>
          <a:prstGeom prst="rect">
            <a:avLst/>
          </a:prstGeom>
        </p:spPr>
      </p:pic>
      <p:pic>
        <p:nvPicPr>
          <p:cNvPr id="71" name="Imag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22562" y="3331236"/>
            <a:ext cx="98300" cy="30100"/>
          </a:xfrm>
          <a:prstGeom prst="rect">
            <a:avLst/>
          </a:prstGeom>
        </p:spPr>
      </p:pic>
      <p:pic>
        <p:nvPicPr>
          <p:cNvPr id="72" name="Image 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21353" y="2124323"/>
            <a:ext cx="1672394" cy="500822"/>
          </a:xfrm>
          <a:prstGeom prst="rect">
            <a:avLst/>
          </a:prstGeom>
        </p:spPr>
      </p:pic>
      <p:pic>
        <p:nvPicPr>
          <p:cNvPr id="76" name="Image 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21353" y="2619626"/>
            <a:ext cx="1672394" cy="1787723"/>
          </a:xfrm>
          <a:prstGeom prst="rect">
            <a:avLst/>
          </a:prstGeom>
        </p:spPr>
      </p:pic>
      <p:sp>
        <p:nvSpPr>
          <p:cNvPr id="21" name="Text 10">
            <a:extLst>
              <a:ext uri="{FF2B5EF4-FFF2-40B4-BE49-F238E27FC236}">
                <a16:creationId xmlns:a16="http://schemas.microsoft.com/office/drawing/2014/main" id="{8AEA437D-9009-4537-BDBF-607D10296DEB}"/>
              </a:ext>
            </a:extLst>
          </p:cNvPr>
          <p:cNvSpPr>
            <a:spLocks noGrp="1"/>
          </p:cNvSpPr>
          <p:nvPr/>
        </p:nvSpPr>
        <p:spPr>
          <a:xfrm>
            <a:off x="2466656" y="2639258"/>
            <a:ext cx="1610809" cy="17306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ja-JP" sz="1000" dirty="0">
                <a:solidFill>
                  <a:srgbClr val="25313F"/>
                </a:solidFill>
              </a:rPr>
              <a:t>Represented scale</a:t>
            </a:r>
            <a:endParaRPr lang="en-US" altLang="ja-JP" sz="1000" dirty="0"/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ja-JP" sz="1000" dirty="0">
                <a:solidFill>
                  <a:srgbClr val="25313F"/>
                </a:solidFill>
              </a:rPr>
              <a:t>Included constraints</a:t>
            </a:r>
            <a:endParaRPr lang="en-US" altLang="ja-JP" sz="1000" dirty="0">
              <a:solidFill>
                <a:srgbClr val="333333"/>
              </a:solidFill>
              <a:ea typeface="Noto Sans JP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ja-JP" sz="1000" dirty="0"/>
              <a:t>Evaluation modality and validation status</a:t>
            </a:r>
          </a:p>
        </p:txBody>
      </p:sp>
      <p:pic>
        <p:nvPicPr>
          <p:cNvPr id="78" name="Image 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64427" y="3267325"/>
            <a:ext cx="100771" cy="138871"/>
          </a:xfrm>
          <a:prstGeom prst="rect">
            <a:avLst/>
          </a:prstGeom>
        </p:spPr>
      </p:pic>
      <p:pic>
        <p:nvPicPr>
          <p:cNvPr id="79" name="Image 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079937" y="3331236"/>
            <a:ext cx="98300" cy="30100"/>
          </a:xfrm>
          <a:prstGeom prst="rect">
            <a:avLst/>
          </a:prstGeom>
        </p:spPr>
      </p:pic>
      <p:pic>
        <p:nvPicPr>
          <p:cNvPr id="80" name="Image 1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78728" y="2124323"/>
            <a:ext cx="1672394" cy="500822"/>
          </a:xfrm>
          <a:prstGeom prst="rect">
            <a:avLst/>
          </a:prstGeom>
        </p:spPr>
      </p:pic>
      <p:sp>
        <p:nvSpPr>
          <p:cNvPr id="26" name="Text 12">
            <a:extLst>
              <a:ext uri="{FF2B5EF4-FFF2-40B4-BE49-F238E27FC236}">
                <a16:creationId xmlns:a16="http://schemas.microsoft.com/office/drawing/2014/main" id="{558ACA17-8C53-46E6-A69A-F8F40C567D41}"/>
              </a:ext>
            </a:extLst>
          </p:cNvPr>
          <p:cNvSpPr>
            <a:spLocks noGrp="1"/>
          </p:cNvSpPr>
          <p:nvPr/>
        </p:nvSpPr>
        <p:spPr>
          <a:xfrm>
            <a:off x="4572000" y="2326541"/>
            <a:ext cx="1066800" cy="16560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ctr">
              <a:lnSpc>
                <a:spcPts val="1304"/>
              </a:lnSpc>
              <a:buNone/>
            </a:pPr>
            <a:endParaRPr sz="900" b="1" u="none" dirty="0">
              <a:solidFill>
                <a:srgbClr val="FFFFFF"/>
              </a:solidFill>
              <a:latin typeface="Noto Sans JP"/>
              <a:ea typeface="Noto Sans JP"/>
              <a:cs typeface="Noto Sans JP"/>
            </a:endParaRPr>
          </a:p>
        </p:txBody>
      </p:sp>
      <p:pic>
        <p:nvPicPr>
          <p:cNvPr id="84" name="Image 1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78728" y="2627000"/>
            <a:ext cx="1672394" cy="1780349"/>
          </a:xfrm>
          <a:prstGeom prst="rect">
            <a:avLst/>
          </a:prstGeom>
        </p:spPr>
      </p:pic>
      <p:sp>
        <p:nvSpPr>
          <p:cNvPr id="29" name="Text 14">
            <a:extLst>
              <a:ext uri="{FF2B5EF4-FFF2-40B4-BE49-F238E27FC236}">
                <a16:creationId xmlns:a16="http://schemas.microsoft.com/office/drawing/2014/main" id="{4A88543F-0291-478E-BE09-3F1FD72CF661}"/>
              </a:ext>
            </a:extLst>
          </p:cNvPr>
          <p:cNvSpPr>
            <a:spLocks noGrp="1"/>
          </p:cNvSpPr>
          <p:nvPr/>
        </p:nvSpPr>
        <p:spPr>
          <a:xfrm>
            <a:off x="4278728" y="2627000"/>
            <a:ext cx="1672393" cy="178034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ja-JP" sz="1000" dirty="0">
                <a:solidFill>
                  <a:srgbClr val="25313F"/>
                </a:solidFill>
              </a:rPr>
              <a:t>Missing scale</a:t>
            </a:r>
            <a:endParaRPr lang="en-US" altLang="ja-JP" sz="1000" dirty="0"/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ja-JP" sz="1000" dirty="0">
                <a:solidFill>
                  <a:srgbClr val="25313F"/>
                </a:solidFill>
              </a:rPr>
              <a:t> Missing constraints</a:t>
            </a:r>
            <a:endParaRPr lang="en-US" altLang="ja-JP" sz="1000" dirty="0"/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ja-JP" sz="1000" dirty="0">
                <a:solidFill>
                  <a:srgbClr val="25313F"/>
                </a:solidFill>
              </a:rPr>
              <a:t>Transpiration and hardware-related considerations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ja-JP" altLang="ja-JP" sz="1000"/>
              <a:t>Gap between required and reported solution quality</a:t>
            </a:r>
            <a:endParaRPr sz="1000" u="none" dirty="0">
              <a:solidFill>
                <a:srgbClr val="333333"/>
              </a:solidFill>
              <a:latin typeface="Noto Sans JP"/>
              <a:ea typeface="Noto Sans JP"/>
              <a:cs typeface="Noto Sans JP"/>
            </a:endParaRPr>
          </a:p>
        </p:txBody>
      </p:sp>
      <p:pic>
        <p:nvPicPr>
          <p:cNvPr id="86" name="Image 1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021802" y="3267325"/>
            <a:ext cx="100771" cy="138871"/>
          </a:xfrm>
          <a:prstGeom prst="rect">
            <a:avLst/>
          </a:prstGeom>
        </p:spPr>
      </p:pic>
      <p:pic>
        <p:nvPicPr>
          <p:cNvPr id="87" name="Image 1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937312" y="3331236"/>
            <a:ext cx="98300" cy="30100"/>
          </a:xfrm>
          <a:prstGeom prst="rect">
            <a:avLst/>
          </a:prstGeom>
        </p:spPr>
      </p:pic>
      <p:pic>
        <p:nvPicPr>
          <p:cNvPr id="88" name="Image 1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136103" y="2124323"/>
            <a:ext cx="1899288" cy="500822"/>
          </a:xfrm>
          <a:prstGeom prst="rect">
            <a:avLst/>
          </a:prstGeom>
        </p:spPr>
      </p:pic>
      <p:sp>
        <p:nvSpPr>
          <p:cNvPr id="34" name="Text 16">
            <a:extLst>
              <a:ext uri="{FF2B5EF4-FFF2-40B4-BE49-F238E27FC236}">
                <a16:creationId xmlns:a16="http://schemas.microsoft.com/office/drawing/2014/main" id="{BC4423D6-FA6E-489E-B053-58272EC713AB}"/>
              </a:ext>
            </a:extLst>
          </p:cNvPr>
          <p:cNvSpPr>
            <a:spLocks noGrp="1"/>
          </p:cNvSpPr>
          <p:nvPr/>
        </p:nvSpPr>
        <p:spPr>
          <a:xfrm>
            <a:off x="6557109" y="2272926"/>
            <a:ext cx="1057275" cy="16560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ts val="1304"/>
              </a:lnSpc>
            </a:pPr>
            <a:r>
              <a:rPr lang="en-US" sz="900" b="1" u="none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Interpret Future Resource </a:t>
            </a:r>
          </a:p>
          <a:p>
            <a:pPr algn="ctr">
              <a:lnSpc>
                <a:spcPts val="1304"/>
              </a:lnSpc>
            </a:pPr>
            <a:r>
              <a:rPr lang="en-US" sz="900" b="1" u="none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Requirements</a:t>
            </a:r>
          </a:p>
        </p:txBody>
      </p:sp>
      <p:pic>
        <p:nvPicPr>
          <p:cNvPr id="92" name="Image 1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136103" y="2619626"/>
            <a:ext cx="1899288" cy="1780349"/>
          </a:xfrm>
          <a:prstGeom prst="rect">
            <a:avLst/>
          </a:prstGeom>
        </p:spPr>
      </p:pic>
      <p:sp>
        <p:nvSpPr>
          <p:cNvPr id="37" name="Text 18">
            <a:extLst>
              <a:ext uri="{FF2B5EF4-FFF2-40B4-BE49-F238E27FC236}">
                <a16:creationId xmlns:a16="http://schemas.microsoft.com/office/drawing/2014/main" id="{AC33F80C-431B-4BF0-A73C-607B95BD7F7E}"/>
              </a:ext>
            </a:extLst>
          </p:cNvPr>
          <p:cNvSpPr>
            <a:spLocks noGrp="1"/>
          </p:cNvSpPr>
          <p:nvPr/>
        </p:nvSpPr>
        <p:spPr>
          <a:xfrm>
            <a:off x="6189147" y="2744820"/>
            <a:ext cx="1295400" cy="672199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>
              <a:lnSpc>
                <a:spcPts val="1470"/>
              </a:lnSpc>
            </a:pPr>
            <a:r>
              <a:rPr sz="900" b="1" u="none" dirty="0">
                <a:solidFill>
                  <a:srgbClr val="007E8F"/>
                </a:solidFill>
                <a:latin typeface="Noto Sans JP"/>
                <a:ea typeface="Noto Sans JP"/>
                <a:cs typeface="Noto Sans JP"/>
              </a:rPr>
              <a:t>【</a:t>
            </a:r>
            <a:r>
              <a:rPr lang="en-US" sz="900" b="1" u="none" dirty="0">
                <a:solidFill>
                  <a:srgbClr val="007E8F"/>
                </a:solidFill>
                <a:latin typeface="Noto Sans JP"/>
                <a:ea typeface="Noto Sans JP"/>
                <a:cs typeface="Noto Sans JP"/>
              </a:rPr>
              <a:t>Prerequisites</a:t>
            </a:r>
            <a:r>
              <a:rPr sz="900" b="1" u="none" dirty="0">
                <a:solidFill>
                  <a:srgbClr val="007E8F"/>
                </a:solidFill>
                <a:latin typeface="Noto Sans JP"/>
                <a:ea typeface="Noto Sans JP"/>
                <a:cs typeface="Noto Sans JP"/>
              </a:rPr>
              <a:t>】</a:t>
            </a:r>
            <a:endParaRPr lang="en-US" sz="900" b="1" u="none" dirty="0">
              <a:solidFill>
                <a:srgbClr val="007E8F"/>
              </a:solidFill>
              <a:latin typeface="Noto Sans JP"/>
              <a:ea typeface="Noto Sans JP"/>
              <a:cs typeface="Noto Sans JP"/>
            </a:endParaRPr>
          </a:p>
          <a:p>
            <a:pPr marL="171450" indent="-171450" algn="l">
              <a:lnSpc>
                <a:spcPts val="1470"/>
              </a:lnSpc>
              <a:buFontTx/>
              <a:buChar char="-"/>
            </a:pPr>
            <a:r>
              <a:rPr lang="en-US" sz="900" u="none" dirty="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Target problem definition</a:t>
            </a:r>
          </a:p>
          <a:p>
            <a:pPr marL="171450" indent="-171450" algn="l">
              <a:lnSpc>
                <a:spcPts val="1470"/>
              </a:lnSpc>
              <a:buFontTx/>
              <a:buChar char="-"/>
            </a:pPr>
            <a:r>
              <a:rPr lang="en-US" sz="900" u="none" dirty="0">
                <a:solidFill>
                  <a:srgbClr val="333333"/>
                </a:solidFill>
                <a:latin typeface="Noto Sans JP"/>
                <a:ea typeface="Noto Sans JP"/>
                <a:cs typeface="Noto Sans JP"/>
              </a:rPr>
              <a:t>Required-constraint definition</a:t>
            </a:r>
          </a:p>
          <a:p>
            <a:pPr>
              <a:lnSpc>
                <a:spcPts val="1470"/>
              </a:lnSpc>
            </a:pPr>
            <a:endParaRPr sz="900" u="none" dirty="0">
              <a:solidFill>
                <a:srgbClr val="333333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39" name="Text 20">
            <a:extLst>
              <a:ext uri="{FF2B5EF4-FFF2-40B4-BE49-F238E27FC236}">
                <a16:creationId xmlns:a16="http://schemas.microsoft.com/office/drawing/2014/main" id="{79358D9A-7AA9-4B59-9BED-BC5DA18759AB}"/>
              </a:ext>
            </a:extLst>
          </p:cNvPr>
          <p:cNvSpPr>
            <a:spLocks noGrp="1"/>
          </p:cNvSpPr>
          <p:nvPr/>
        </p:nvSpPr>
        <p:spPr>
          <a:xfrm>
            <a:off x="110018" y="307526"/>
            <a:ext cx="7819979" cy="2355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>
              <a:lnSpc>
                <a:spcPts val="1854"/>
              </a:lnSpc>
            </a:pPr>
            <a:r>
              <a:rPr lang="en-US" sz="2000" b="1" u="none" dirty="0">
                <a:solidFill>
                  <a:srgbClr val="333333"/>
                </a:solidFill>
                <a:ea typeface="Noto Sans JP"/>
                <a:cs typeface="Noto Sans JP"/>
              </a:rPr>
              <a:t>Evaluation Process for Application-Oriented Quantum-Technology Assessment</a:t>
            </a:r>
          </a:p>
        </p:txBody>
      </p:sp>
      <p:sp>
        <p:nvSpPr>
          <p:cNvPr id="40" name="Text 21">
            <a:extLst>
              <a:ext uri="{FF2B5EF4-FFF2-40B4-BE49-F238E27FC236}">
                <a16:creationId xmlns:a16="http://schemas.microsoft.com/office/drawing/2014/main" id="{12CC65BE-BAA6-48F4-AE08-0B202D59E7DF}"/>
              </a:ext>
            </a:extLst>
          </p:cNvPr>
          <p:cNvSpPr>
            <a:spLocks noGrp="1"/>
          </p:cNvSpPr>
          <p:nvPr/>
        </p:nvSpPr>
        <p:spPr>
          <a:xfrm>
            <a:off x="304839" y="673809"/>
            <a:ext cx="7819945" cy="44169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>
              <a:lnSpc>
                <a:spcPts val="1739"/>
              </a:lnSpc>
            </a:pPr>
            <a:r>
              <a:rPr lang="en-US" sz="1600" u="none" dirty="0">
                <a:solidFill>
                  <a:srgbClr val="333333"/>
                </a:solidFill>
                <a:ea typeface="Noto Sans JP"/>
                <a:cs typeface="Noto Sans JP"/>
              </a:rPr>
              <a:t>The target problem and required constraints must be defined, and the gap between application </a:t>
            </a:r>
          </a:p>
          <a:p>
            <a:pPr>
              <a:lnSpc>
                <a:spcPts val="1739"/>
              </a:lnSpc>
            </a:pPr>
            <a:r>
              <a:rPr lang="en-US" sz="1600" u="none" dirty="0">
                <a:solidFill>
                  <a:srgbClr val="333333"/>
                </a:solidFill>
                <a:ea typeface="Noto Sans JP"/>
                <a:cs typeface="Noto Sans JP"/>
              </a:rPr>
              <a:t>requirements and the current technological level must be identified.</a:t>
            </a:r>
          </a:p>
        </p:txBody>
      </p:sp>
      <p:pic>
        <p:nvPicPr>
          <p:cNvPr id="97" name="Image 1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76293" y="592730"/>
            <a:ext cx="7819949" cy="28575"/>
          </a:xfrm>
          <a:prstGeom prst="rect">
            <a:avLst/>
          </a:prstGeom>
        </p:spPr>
      </p:pic>
      <p:pic>
        <p:nvPicPr>
          <p:cNvPr id="98" name="Image 1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970692" y="592730"/>
            <a:ext cx="1125550" cy="28575"/>
          </a:xfrm>
          <a:prstGeom prst="rect">
            <a:avLst/>
          </a:prstGeom>
        </p:spPr>
      </p:pic>
      <p:sp>
        <p:nvSpPr>
          <p:cNvPr id="2" name="Text 19">
            <a:extLst>
              <a:ext uri="{FF2B5EF4-FFF2-40B4-BE49-F238E27FC236}">
                <a16:creationId xmlns:a16="http://schemas.microsoft.com/office/drawing/2014/main" id="{CB1C916F-8994-E410-FB3E-C4DD00F456B7}"/>
              </a:ext>
            </a:extLst>
          </p:cNvPr>
          <p:cNvSpPr>
            <a:spLocks noGrp="1"/>
          </p:cNvSpPr>
          <p:nvPr/>
        </p:nvSpPr>
        <p:spPr>
          <a:xfrm>
            <a:off x="6161437" y="3311927"/>
            <a:ext cx="1899288" cy="114917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ts val="1470"/>
              </a:lnSpc>
            </a:pPr>
            <a:r>
              <a:rPr lang="en-US" altLang="ja-JP" sz="900" b="1" dirty="0">
                <a:solidFill>
                  <a:srgbClr val="0B7784"/>
                </a:solidFill>
              </a:rPr>
              <a:t>resource estimates become meaningful only after the target problem and required constraints have been defined.</a:t>
            </a:r>
            <a:endParaRPr lang="en-US" sz="900" b="1" u="none" dirty="0">
              <a:solidFill>
                <a:srgbClr val="333333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7BB8BCA-A7E8-8872-1EBF-A26F839EA2CE}"/>
              </a:ext>
            </a:extLst>
          </p:cNvPr>
          <p:cNvSpPr txBox="1"/>
          <p:nvPr/>
        </p:nvSpPr>
        <p:spPr>
          <a:xfrm>
            <a:off x="4372004" y="2131489"/>
            <a:ext cx="1508927" cy="507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</a:pPr>
            <a:r>
              <a:rPr lang="en-US" altLang="ja-JP" sz="900" b="1" dirty="0">
                <a:solidFill>
                  <a:srgbClr val="FFFFFF"/>
                </a:solidFill>
                <a:latin typeface="Noto Sans JP"/>
              </a:rPr>
              <a:t>Identify the Application–Technology Gap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38476185-3ED1-3ADE-B379-7C59416D055A}"/>
              </a:ext>
            </a:extLst>
          </p:cNvPr>
          <p:cNvSpPr txBox="1"/>
          <p:nvPr/>
        </p:nvSpPr>
        <p:spPr>
          <a:xfrm>
            <a:off x="2421353" y="2163997"/>
            <a:ext cx="1672394" cy="411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1304"/>
              </a:lnSpc>
              <a:buNone/>
            </a:pPr>
            <a:r>
              <a:rPr lang="en-US" altLang="ja-JP" sz="900" b="1" u="none" dirty="0">
                <a:solidFill>
                  <a:srgbClr val="FFFFFF"/>
                </a:solidFill>
                <a:latin typeface="Noto Sans JP"/>
              </a:rPr>
              <a:t>Assess Current</a:t>
            </a:r>
          </a:p>
          <a:p>
            <a:pPr marL="0" indent="0" algn="ctr">
              <a:lnSpc>
                <a:spcPts val="1304"/>
              </a:lnSpc>
              <a:buNone/>
            </a:pPr>
            <a:r>
              <a:rPr lang="en-US" altLang="ja-JP" sz="900" b="1" dirty="0">
                <a:solidFill>
                  <a:srgbClr val="FFFFFF"/>
                </a:solidFill>
                <a:latin typeface="Noto Sans JP"/>
              </a:rPr>
              <a:t>Quantum Coverage</a:t>
            </a:r>
            <a:endParaRPr lang="en-US" altLang="ja-JP" sz="900" b="1" u="none" dirty="0">
              <a:solidFill>
                <a:srgbClr val="FFFFFF"/>
              </a:solidFill>
              <a:latin typeface="Noto Sans JP"/>
            </a:endParaRPr>
          </a:p>
        </p:txBody>
      </p:sp>
    </p:spTree>
    <p:extLst>
      <p:ext uri="{BB962C8B-B14F-4D97-AF65-F5344CB8AC3E}">
        <p14:creationId xmlns:p14="http://schemas.microsoft.com/office/powerpoint/2010/main" val="16712397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20">
            <a:extLst>
              <a:ext uri="{FF2B5EF4-FFF2-40B4-BE49-F238E27FC236}">
                <a16:creationId xmlns:a16="http://schemas.microsoft.com/office/drawing/2014/main" id="{B2802CE0-53A5-BC79-A297-6ED18C99ECD3}"/>
              </a:ext>
            </a:extLst>
          </p:cNvPr>
          <p:cNvSpPr>
            <a:spLocks noGrp="1"/>
          </p:cNvSpPr>
          <p:nvPr/>
        </p:nvSpPr>
        <p:spPr>
          <a:xfrm>
            <a:off x="276278" y="307526"/>
            <a:ext cx="7819979" cy="2355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>
              <a:lnSpc>
                <a:spcPts val="1854"/>
              </a:lnSpc>
            </a:pPr>
            <a:r>
              <a:rPr lang="en-US" sz="2000" b="1" dirty="0"/>
              <a:t>Exploratory Workflow for Transport-Constraint Evaluation</a:t>
            </a:r>
            <a:endParaRPr sz="2000" b="1" dirty="0"/>
          </a:p>
        </p:txBody>
      </p:sp>
      <p:pic>
        <p:nvPicPr>
          <p:cNvPr id="62" name="Image 1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6293" y="592730"/>
            <a:ext cx="7819949" cy="28575"/>
          </a:xfrm>
          <a:prstGeom prst="rect">
            <a:avLst/>
          </a:prstGeom>
        </p:spPr>
      </p:pic>
      <p:pic>
        <p:nvPicPr>
          <p:cNvPr id="63" name="Image 1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70692" y="592730"/>
            <a:ext cx="1125550" cy="28575"/>
          </a:xfrm>
          <a:prstGeom prst="rect">
            <a:avLst/>
          </a:prstGeom>
        </p:spPr>
      </p:pic>
      <p:sp>
        <p:nvSpPr>
          <p:cNvPr id="45" name="Text 12">
            <a:extLst>
              <a:ext uri="{FF2B5EF4-FFF2-40B4-BE49-F238E27FC236}">
                <a16:creationId xmlns:a16="http://schemas.microsoft.com/office/drawing/2014/main" id="{1A365018-2F86-C36A-135F-4A848F5DA040}"/>
              </a:ext>
            </a:extLst>
          </p:cNvPr>
          <p:cNvSpPr>
            <a:spLocks noGrp="1"/>
          </p:cNvSpPr>
          <p:nvPr/>
        </p:nvSpPr>
        <p:spPr>
          <a:xfrm>
            <a:off x="276297" y="711577"/>
            <a:ext cx="7819945" cy="44218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ts val="1741"/>
              </a:lnSpc>
              <a:buNone/>
            </a:pPr>
            <a:r>
              <a:rPr lang="en-US" altLang="ja-JP" sz="1600" dirty="0"/>
              <a:t>D</a:t>
            </a:r>
            <a:r>
              <a:rPr lang="ja-JP" altLang="ja-JP" sz="1600"/>
              <a:t>eveloped an exploratory workflow to examine transport-specific problem scale, operational constraints, and their representation in current quantum-VRP studies.</a:t>
            </a:r>
            <a:endParaRPr sz="1600" dirty="0"/>
          </a:p>
        </p:txBody>
      </p:sp>
      <p:sp>
        <p:nvSpPr>
          <p:cNvPr id="49" name="slide14-stage-1">
            <a:extLst>
              <a:ext uri="{FF2B5EF4-FFF2-40B4-BE49-F238E27FC236}">
                <a16:creationId xmlns:a16="http://schemas.microsoft.com/office/drawing/2014/main" id="{BDFFF699-AA3C-4F42-A60C-4E01F0ADA49C}"/>
              </a:ext>
            </a:extLst>
          </p:cNvPr>
          <p:cNvSpPr>
            <a:spLocks noGrp="1"/>
          </p:cNvSpPr>
          <p:nvPr/>
        </p:nvSpPr>
        <p:spPr>
          <a:xfrm>
            <a:off x="419100" y="2286818"/>
            <a:ext cx="1104900" cy="990600"/>
          </a:xfrm>
          <a:prstGeom prst="rect">
            <a:avLst/>
          </a:prstGeom>
          <a:solidFill>
            <a:srgbClr val="E8F3F5"/>
          </a:solidFill>
          <a:ln w="11430">
            <a:solidFill>
              <a:srgbClr val="2A9FAD"/>
            </a:solidFill>
            <a:prstDash val="solid"/>
          </a:ln>
        </p:spPr>
        <p:txBody>
          <a:bodyPr anchor="ctr"/>
          <a:lstStyle/>
          <a:p>
            <a:pPr algn="ctr">
              <a:defRPr sz="1088" b="1">
                <a:solidFill>
                  <a:srgbClr val="2F2F2F"/>
                </a:solidFill>
              </a:defRPr>
            </a:pPr>
            <a:r>
              <a:rPr lang="ja-JP" altLang="ja-JP" sz="1088" b="1"/>
              <a:t>Open-Data Inputs</a:t>
            </a:r>
            <a:endParaRPr lang="en-US" sz="1000" b="1" dirty="0">
              <a:solidFill>
                <a:srgbClr val="2F2F2F"/>
              </a:solidFill>
            </a:endParaRPr>
          </a:p>
        </p:txBody>
      </p:sp>
      <p:sp>
        <p:nvSpPr>
          <p:cNvPr id="50" name="slide14-stage-2">
            <a:extLst>
              <a:ext uri="{FF2B5EF4-FFF2-40B4-BE49-F238E27FC236}">
                <a16:creationId xmlns:a16="http://schemas.microsoft.com/office/drawing/2014/main" id="{63821A24-B8D3-41C7-89F0-D774A055AC35}"/>
              </a:ext>
            </a:extLst>
          </p:cNvPr>
          <p:cNvSpPr>
            <a:spLocks noGrp="1"/>
          </p:cNvSpPr>
          <p:nvPr/>
        </p:nvSpPr>
        <p:spPr>
          <a:xfrm>
            <a:off x="1676400" y="2286818"/>
            <a:ext cx="1104900" cy="990600"/>
          </a:xfrm>
          <a:prstGeom prst="rect">
            <a:avLst/>
          </a:prstGeom>
          <a:solidFill>
            <a:srgbClr val="E8F3F5"/>
          </a:solidFill>
          <a:ln w="11430">
            <a:solidFill>
              <a:srgbClr val="2A9FAD"/>
            </a:solidFill>
            <a:prstDash val="solid"/>
          </a:ln>
        </p:spPr>
        <p:txBody>
          <a:bodyPr anchor="ctr"/>
          <a:lstStyle/>
          <a:p>
            <a:pPr algn="ctr">
              <a:defRPr sz="1088" b="1">
                <a:solidFill>
                  <a:srgbClr val="2F2F2F"/>
                </a:solidFill>
              </a:defRPr>
            </a:pPr>
            <a:r>
              <a:rPr lang="ja-JP" altLang="ja-JP" sz="1088" b="1"/>
              <a:t>Synthetic Scenario Generation</a:t>
            </a:r>
            <a:endParaRPr sz="1000" b="1" dirty="0">
              <a:solidFill>
                <a:srgbClr val="2F2F2F"/>
              </a:solidFill>
            </a:endParaRPr>
          </a:p>
        </p:txBody>
      </p:sp>
      <p:sp>
        <p:nvSpPr>
          <p:cNvPr id="51" name="slide14-stage-3">
            <a:extLst>
              <a:ext uri="{FF2B5EF4-FFF2-40B4-BE49-F238E27FC236}">
                <a16:creationId xmlns:a16="http://schemas.microsoft.com/office/drawing/2014/main" id="{C85B7ECB-00F7-46AF-9EE4-15144A98BDB1}"/>
              </a:ext>
            </a:extLst>
          </p:cNvPr>
          <p:cNvSpPr>
            <a:spLocks noGrp="1"/>
          </p:cNvSpPr>
          <p:nvPr/>
        </p:nvSpPr>
        <p:spPr>
          <a:xfrm>
            <a:off x="2933700" y="2286818"/>
            <a:ext cx="1104900" cy="990600"/>
          </a:xfrm>
          <a:prstGeom prst="rect">
            <a:avLst/>
          </a:prstGeom>
          <a:solidFill>
            <a:srgbClr val="E8F3F5"/>
          </a:solidFill>
          <a:ln w="11430">
            <a:solidFill>
              <a:srgbClr val="2A9FAD"/>
            </a:solidFill>
            <a:prstDash val="solid"/>
          </a:ln>
        </p:spPr>
        <p:txBody>
          <a:bodyPr anchor="ctr"/>
          <a:lstStyle/>
          <a:p>
            <a:pPr algn="ctr">
              <a:defRPr sz="1088" b="1">
                <a:solidFill>
                  <a:srgbClr val="2F2F2F"/>
                </a:solidFill>
              </a:defRPr>
            </a:pPr>
            <a:r>
              <a:rPr lang="ja-JP" altLang="ja-JP" sz="1088" b="1"/>
              <a:t>Route-Proxy Construction</a:t>
            </a:r>
            <a:endParaRPr sz="1000" b="1" dirty="0">
              <a:solidFill>
                <a:srgbClr val="2F2F2F"/>
              </a:solidFill>
            </a:endParaRPr>
          </a:p>
        </p:txBody>
      </p:sp>
      <p:sp>
        <p:nvSpPr>
          <p:cNvPr id="52" name="slide14-stage-4">
            <a:extLst>
              <a:ext uri="{FF2B5EF4-FFF2-40B4-BE49-F238E27FC236}">
                <a16:creationId xmlns:a16="http://schemas.microsoft.com/office/drawing/2014/main" id="{F52E679A-2DC8-419A-B141-846DF70EFA04}"/>
              </a:ext>
            </a:extLst>
          </p:cNvPr>
          <p:cNvSpPr>
            <a:spLocks noGrp="1"/>
          </p:cNvSpPr>
          <p:nvPr/>
        </p:nvSpPr>
        <p:spPr>
          <a:xfrm>
            <a:off x="4191000" y="2286818"/>
            <a:ext cx="1104900" cy="990600"/>
          </a:xfrm>
          <a:prstGeom prst="rect">
            <a:avLst/>
          </a:prstGeom>
          <a:solidFill>
            <a:srgbClr val="E8F3F5"/>
          </a:solidFill>
          <a:ln w="11430">
            <a:solidFill>
              <a:srgbClr val="2A9FAD"/>
            </a:solidFill>
            <a:prstDash val="solid"/>
          </a:ln>
        </p:spPr>
        <p:txBody>
          <a:bodyPr anchor="ctr"/>
          <a:lstStyle/>
          <a:p>
            <a:pPr algn="ctr">
              <a:defRPr sz="938" b="1">
                <a:solidFill>
                  <a:srgbClr val="2F2F2F"/>
                </a:solidFill>
              </a:defRPr>
            </a:pPr>
            <a:r>
              <a:rPr lang="ja-JP" altLang="ja-JP" sz="938" b="1"/>
              <a:t>Operational-Constraint Evaluation</a:t>
            </a:r>
            <a:endParaRPr sz="1000" b="1" dirty="0">
              <a:solidFill>
                <a:srgbClr val="2F2F2F"/>
              </a:solidFill>
            </a:endParaRPr>
          </a:p>
        </p:txBody>
      </p:sp>
      <p:sp>
        <p:nvSpPr>
          <p:cNvPr id="53" name="slide14-stage-5">
            <a:extLst>
              <a:ext uri="{FF2B5EF4-FFF2-40B4-BE49-F238E27FC236}">
                <a16:creationId xmlns:a16="http://schemas.microsoft.com/office/drawing/2014/main" id="{1B82627A-4CB0-4681-B1A6-164D4BE86E2D}"/>
              </a:ext>
            </a:extLst>
          </p:cNvPr>
          <p:cNvSpPr>
            <a:spLocks noGrp="1"/>
          </p:cNvSpPr>
          <p:nvPr/>
        </p:nvSpPr>
        <p:spPr>
          <a:xfrm>
            <a:off x="5448300" y="2286818"/>
            <a:ext cx="1104900" cy="990600"/>
          </a:xfrm>
          <a:prstGeom prst="rect">
            <a:avLst/>
          </a:prstGeom>
          <a:solidFill>
            <a:srgbClr val="E8F3F5"/>
          </a:solidFill>
          <a:ln w="11430">
            <a:solidFill>
              <a:srgbClr val="2A9FAD"/>
            </a:solidFill>
            <a:prstDash val="solid"/>
          </a:ln>
        </p:spPr>
        <p:txBody>
          <a:bodyPr anchor="ctr"/>
          <a:lstStyle/>
          <a:p>
            <a:pPr algn="ctr">
              <a:defRPr sz="1088" b="1">
                <a:solidFill>
                  <a:srgbClr val="2F2F2F"/>
                </a:solidFill>
              </a:defRPr>
            </a:pPr>
            <a:r>
              <a:rPr lang="ja-JP" altLang="ja-JP" sz="1088" b="1"/>
              <a:t>Configuration and Parameter Checks</a:t>
            </a:r>
            <a:endParaRPr sz="1000" b="1" dirty="0">
              <a:solidFill>
                <a:srgbClr val="2F2F2F"/>
              </a:solidFill>
            </a:endParaRPr>
          </a:p>
        </p:txBody>
      </p:sp>
      <p:sp>
        <p:nvSpPr>
          <p:cNvPr id="54" name="slide14-stage-6">
            <a:extLst>
              <a:ext uri="{FF2B5EF4-FFF2-40B4-BE49-F238E27FC236}">
                <a16:creationId xmlns:a16="http://schemas.microsoft.com/office/drawing/2014/main" id="{550F312E-7DC1-4C9E-B960-BC5896EE83E5}"/>
              </a:ext>
            </a:extLst>
          </p:cNvPr>
          <p:cNvSpPr>
            <a:spLocks noGrp="1"/>
          </p:cNvSpPr>
          <p:nvPr/>
        </p:nvSpPr>
        <p:spPr>
          <a:xfrm>
            <a:off x="6705600" y="2286818"/>
            <a:ext cx="1257300" cy="990600"/>
          </a:xfrm>
          <a:prstGeom prst="rect">
            <a:avLst/>
          </a:prstGeom>
          <a:solidFill>
            <a:srgbClr val="008A9A"/>
          </a:solidFill>
          <a:ln w="11430">
            <a:solidFill>
              <a:srgbClr val="2A9FAD"/>
            </a:solidFill>
            <a:prstDash val="solid"/>
          </a:ln>
        </p:spPr>
        <p:txBody>
          <a:bodyPr anchor="ctr"/>
          <a:lstStyle/>
          <a:p>
            <a:pPr algn="ctr">
              <a:defRPr sz="938" b="1">
                <a:solidFill>
                  <a:srgbClr val="FFFFFF"/>
                </a:solidFill>
              </a:defRPr>
            </a:pPr>
            <a:r>
              <a:rPr lang="ja-JP" altLang="ja-JP" sz="938" b="1"/>
              <a:t>Comparison with Quantum-VRP Studies</a:t>
            </a:r>
            <a:endParaRPr sz="1000" b="1" dirty="0">
              <a:solidFill>
                <a:srgbClr val="FFFFFF"/>
              </a:solidFill>
            </a:endParaRPr>
          </a:p>
        </p:txBody>
      </p:sp>
      <p:cxnSp>
        <p:nvCxnSpPr>
          <p:cNvPr id="72" name="直線矢印コネクタ 71"/>
          <p:cNvCxnSpPr>
            <a:stCxn id="49" idx="3"/>
            <a:endCxn id="50" idx="1"/>
          </p:cNvCxnSpPr>
          <p:nvPr/>
        </p:nvCxnSpPr>
        <p:spPr>
          <a:xfrm>
            <a:off x="1524000" y="2782118"/>
            <a:ext cx="152400" cy="0"/>
          </a:xfrm>
          <a:prstGeom prst="straightConnector1">
            <a:avLst/>
          </a:prstGeom>
          <a:ln w="15240">
            <a:solidFill>
              <a:srgbClr val="2A9FAD"/>
            </a:solidFill>
            <a:prstDash val="solid"/>
            <a:tailEnd type="triangle" w="sm" len="sm"/>
          </a:ln>
        </p:spPr>
      </p:cxnSp>
      <p:cxnSp>
        <p:nvCxnSpPr>
          <p:cNvPr id="73" name="直線矢印コネクタ 72"/>
          <p:cNvCxnSpPr>
            <a:stCxn id="50" idx="3"/>
            <a:endCxn id="51" idx="1"/>
          </p:cNvCxnSpPr>
          <p:nvPr/>
        </p:nvCxnSpPr>
        <p:spPr>
          <a:xfrm>
            <a:off x="2781300" y="2782118"/>
            <a:ext cx="152400" cy="0"/>
          </a:xfrm>
          <a:prstGeom prst="straightConnector1">
            <a:avLst/>
          </a:prstGeom>
          <a:ln w="15240">
            <a:solidFill>
              <a:srgbClr val="2A9FAD"/>
            </a:solidFill>
            <a:prstDash val="solid"/>
            <a:tailEnd type="triangle" w="sm" len="sm"/>
          </a:ln>
        </p:spPr>
      </p:cxnSp>
      <p:cxnSp>
        <p:nvCxnSpPr>
          <p:cNvPr id="74" name="直線矢印コネクタ 73"/>
          <p:cNvCxnSpPr>
            <a:stCxn id="51" idx="3"/>
            <a:endCxn id="52" idx="1"/>
          </p:cNvCxnSpPr>
          <p:nvPr/>
        </p:nvCxnSpPr>
        <p:spPr>
          <a:xfrm>
            <a:off x="4038600" y="2782118"/>
            <a:ext cx="152400" cy="0"/>
          </a:xfrm>
          <a:prstGeom prst="straightConnector1">
            <a:avLst/>
          </a:prstGeom>
          <a:ln w="15240">
            <a:solidFill>
              <a:srgbClr val="2A9FAD"/>
            </a:solidFill>
            <a:prstDash val="solid"/>
            <a:tailEnd type="triangle" w="sm" len="sm"/>
          </a:ln>
        </p:spPr>
      </p:cxnSp>
      <p:cxnSp>
        <p:nvCxnSpPr>
          <p:cNvPr id="75" name="直線矢印コネクタ 74"/>
          <p:cNvCxnSpPr>
            <a:stCxn id="52" idx="3"/>
            <a:endCxn id="53" idx="1"/>
          </p:cNvCxnSpPr>
          <p:nvPr/>
        </p:nvCxnSpPr>
        <p:spPr>
          <a:xfrm>
            <a:off x="5295900" y="2782118"/>
            <a:ext cx="152400" cy="0"/>
          </a:xfrm>
          <a:prstGeom prst="straightConnector1">
            <a:avLst/>
          </a:prstGeom>
          <a:ln w="15240">
            <a:solidFill>
              <a:srgbClr val="2A9FAD"/>
            </a:solidFill>
            <a:prstDash val="solid"/>
            <a:tailEnd type="triangle" w="sm" len="sm"/>
          </a:ln>
        </p:spPr>
      </p:cxnSp>
      <p:cxnSp>
        <p:nvCxnSpPr>
          <p:cNvPr id="76" name="直線矢印コネクタ 75"/>
          <p:cNvCxnSpPr>
            <a:stCxn id="53" idx="3"/>
            <a:endCxn id="54" idx="1"/>
          </p:cNvCxnSpPr>
          <p:nvPr/>
        </p:nvCxnSpPr>
        <p:spPr>
          <a:xfrm>
            <a:off x="6553200" y="2782118"/>
            <a:ext cx="152400" cy="0"/>
          </a:xfrm>
          <a:prstGeom prst="straightConnector1">
            <a:avLst/>
          </a:prstGeom>
          <a:ln w="15240">
            <a:solidFill>
              <a:srgbClr val="2A9FAD"/>
            </a:solidFill>
            <a:prstDash val="solid"/>
            <a:tailEnd type="triangle" w="sm" len="sm"/>
          </a:ln>
        </p:spPr>
      </p:cxnSp>
      <p:pic>
        <p:nvPicPr>
          <p:cNvPr id="3" name="Image 0">
            <a:extLst>
              <a:ext uri="{FF2B5EF4-FFF2-40B4-BE49-F238E27FC236}">
                <a16:creationId xmlns:a16="http://schemas.microsoft.com/office/drawing/2014/main" id="{DF0CF2A6-5302-C7DB-1EE5-37A932AD08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99621" y="1693330"/>
            <a:ext cx="3830358" cy="362306"/>
          </a:xfrm>
          <a:prstGeom prst="rect">
            <a:avLst/>
          </a:prstGeom>
        </p:spPr>
      </p:pic>
      <p:sp>
        <p:nvSpPr>
          <p:cNvPr id="4" name="Text 6">
            <a:extLst>
              <a:ext uri="{FF2B5EF4-FFF2-40B4-BE49-F238E27FC236}">
                <a16:creationId xmlns:a16="http://schemas.microsoft.com/office/drawing/2014/main" id="{9780E2C4-BEE7-6083-4282-80BA24AB7FE6}"/>
              </a:ext>
            </a:extLst>
          </p:cNvPr>
          <p:cNvSpPr>
            <a:spLocks noGrp="1"/>
          </p:cNvSpPr>
          <p:nvPr/>
        </p:nvSpPr>
        <p:spPr>
          <a:xfrm>
            <a:off x="2327399" y="1727164"/>
            <a:ext cx="1552575" cy="27597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>
              <a:lnSpc>
                <a:spcPts val="2173"/>
              </a:lnSpc>
            </a:pPr>
            <a:r>
              <a:rPr lang="en-US" sz="1500" b="1" u="none" dirty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Application-Side Evaluation Workflow</a:t>
            </a:r>
          </a:p>
        </p:txBody>
      </p:sp>
    </p:spTree>
    <p:extLst>
      <p:ext uri="{BB962C8B-B14F-4D97-AF65-F5344CB8AC3E}">
        <p14:creationId xmlns:p14="http://schemas.microsoft.com/office/powerpoint/2010/main" val="18812341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882F0-01A5-8091-1CF7-C18533DC4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20">
            <a:extLst>
              <a:ext uri="{FF2B5EF4-FFF2-40B4-BE49-F238E27FC236}">
                <a16:creationId xmlns:a16="http://schemas.microsoft.com/office/drawing/2014/main" id="{6D330748-AEA5-FAC4-2E48-2947C8F96EAE}"/>
              </a:ext>
            </a:extLst>
          </p:cNvPr>
          <p:cNvSpPr>
            <a:spLocks noGrp="1"/>
          </p:cNvSpPr>
          <p:nvPr/>
        </p:nvSpPr>
        <p:spPr>
          <a:xfrm>
            <a:off x="276278" y="307526"/>
            <a:ext cx="7819979" cy="2355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>
              <a:lnSpc>
                <a:spcPts val="1854"/>
              </a:lnSpc>
            </a:pPr>
            <a:r>
              <a:rPr lang="en-US" sz="2000" b="1" dirty="0"/>
              <a:t>Open Data Inputs and Their Analytical Roles</a:t>
            </a:r>
            <a:endParaRPr sz="2000" b="1" dirty="0"/>
          </a:p>
        </p:txBody>
      </p:sp>
      <p:pic>
        <p:nvPicPr>
          <p:cNvPr id="62" name="Image 16">
            <a:extLst>
              <a:ext uri="{FF2B5EF4-FFF2-40B4-BE49-F238E27FC236}">
                <a16:creationId xmlns:a16="http://schemas.microsoft.com/office/drawing/2014/main" id="{1D12F330-2D15-AE8C-A6DA-B864E88EDB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6293" y="592730"/>
            <a:ext cx="7819949" cy="28575"/>
          </a:xfrm>
          <a:prstGeom prst="rect">
            <a:avLst/>
          </a:prstGeom>
        </p:spPr>
      </p:pic>
      <p:pic>
        <p:nvPicPr>
          <p:cNvPr id="63" name="Image 17">
            <a:extLst>
              <a:ext uri="{FF2B5EF4-FFF2-40B4-BE49-F238E27FC236}">
                <a16:creationId xmlns:a16="http://schemas.microsoft.com/office/drawing/2014/main" id="{29B4EA0E-63C7-ADFF-234E-AB4E105884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70692" y="592730"/>
            <a:ext cx="1125550" cy="28575"/>
          </a:xfrm>
          <a:prstGeom prst="rect">
            <a:avLst/>
          </a:prstGeom>
        </p:spPr>
      </p:pic>
      <p:sp>
        <p:nvSpPr>
          <p:cNvPr id="45" name="Text 12">
            <a:extLst>
              <a:ext uri="{FF2B5EF4-FFF2-40B4-BE49-F238E27FC236}">
                <a16:creationId xmlns:a16="http://schemas.microsoft.com/office/drawing/2014/main" id="{41646C0C-A62A-3BF8-F4CE-683372100746}"/>
              </a:ext>
            </a:extLst>
          </p:cNvPr>
          <p:cNvSpPr>
            <a:spLocks noGrp="1"/>
          </p:cNvSpPr>
          <p:nvPr/>
        </p:nvSpPr>
        <p:spPr>
          <a:xfrm>
            <a:off x="276297" y="711577"/>
            <a:ext cx="7819945" cy="44218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>
              <a:lnSpc>
                <a:spcPts val="1741"/>
              </a:lnSpc>
              <a:buNone/>
            </a:pPr>
            <a:r>
              <a:rPr lang="ja-JP" altLang="ja-JP" sz="1600"/>
              <a:t>Open data were used to define the spatial and technical conditions of the scenarios, while </a:t>
            </a:r>
            <a:endParaRPr lang="en-US" altLang="ja-JP" sz="1600" dirty="0"/>
          </a:p>
          <a:p>
            <a:pPr>
              <a:lnSpc>
                <a:spcPts val="1741"/>
              </a:lnSpc>
              <a:buNone/>
            </a:pPr>
            <a:r>
              <a:rPr lang="ja-JP" altLang="ja-JP" sz="1600"/>
              <a:t>customer demand, route construction, and operational outcomes remained synthetic or proxied.</a:t>
            </a:r>
            <a:endParaRPr sz="1600" dirty="0"/>
          </a:p>
        </p:txBody>
      </p:sp>
      <p:graphicFrame>
        <p:nvGraphicFramePr>
          <p:cNvPr id="2" name="表 1">
            <a:extLst>
              <a:ext uri="{FF2B5EF4-FFF2-40B4-BE49-F238E27FC236}">
                <a16:creationId xmlns:a16="http://schemas.microsoft.com/office/drawing/2014/main" id="{645251B9-5F90-A379-0F7E-F2711C1BFC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0797268"/>
              </p:ext>
            </p:extLst>
          </p:nvPr>
        </p:nvGraphicFramePr>
        <p:xfrm>
          <a:off x="722300" y="1313826"/>
          <a:ext cx="6938682" cy="3415364"/>
        </p:xfrm>
        <a:graphic>
          <a:graphicData uri="http://schemas.openxmlformats.org/drawingml/2006/table">
            <a:tbl>
              <a:tblPr/>
              <a:tblGrid>
                <a:gridCol w="1734671">
                  <a:extLst>
                    <a:ext uri="{9D8B030D-6E8A-4147-A177-3AD203B41FA5}">
                      <a16:colId xmlns:a16="http://schemas.microsoft.com/office/drawing/2014/main" val="2009638339"/>
                    </a:ext>
                  </a:extLst>
                </a:gridCol>
                <a:gridCol w="1285913">
                  <a:extLst>
                    <a:ext uri="{9D8B030D-6E8A-4147-A177-3AD203B41FA5}">
                      <a16:colId xmlns:a16="http://schemas.microsoft.com/office/drawing/2014/main" val="3217609435"/>
                    </a:ext>
                  </a:extLst>
                </a:gridCol>
                <a:gridCol w="2183427">
                  <a:extLst>
                    <a:ext uri="{9D8B030D-6E8A-4147-A177-3AD203B41FA5}">
                      <a16:colId xmlns:a16="http://schemas.microsoft.com/office/drawing/2014/main" val="2517982794"/>
                    </a:ext>
                  </a:extLst>
                </a:gridCol>
                <a:gridCol w="1734671">
                  <a:extLst>
                    <a:ext uri="{9D8B030D-6E8A-4147-A177-3AD203B41FA5}">
                      <a16:colId xmlns:a16="http://schemas.microsoft.com/office/drawing/2014/main" val="2493461268"/>
                    </a:ext>
                  </a:extLst>
                </a:gridCol>
              </a:tblGrid>
              <a:tr h="2082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000" b="1"/>
                        <a:t>Open-data input</a:t>
                      </a:r>
                    </a:p>
                  </a:txBody>
                  <a:tcPr marL="25783" marR="25783" marT="12892" marB="128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ja-JP" sz="1000" b="1"/>
                        <a:t>Records Used</a:t>
                      </a:r>
                      <a:endParaRPr lang="ja-JP" sz="1000" b="1"/>
                    </a:p>
                  </a:txBody>
                  <a:tcPr marL="25783" marR="25783" marT="12892" marB="128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ja-JP" sz="1000" b="1"/>
                        <a:t>Analytical Role</a:t>
                      </a:r>
                      <a:endParaRPr lang="ja-JP" sz="1000" b="1"/>
                    </a:p>
                  </a:txBody>
                  <a:tcPr marL="25783" marR="25783" marT="12892" marB="128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000" b="1"/>
                        <a:t>What it does not represent</a:t>
                      </a:r>
                    </a:p>
                  </a:txBody>
                  <a:tcPr marL="25783" marR="25783" marT="12892" marB="128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5459983"/>
                  </a:ext>
                </a:extLst>
              </a:tr>
              <a:tr h="8102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000" b="1"/>
                        <a:t>e-Stat Tokyo population mesh</a:t>
                      </a:r>
                      <a:endParaRPr lang="ja-JP" sz="1000"/>
                    </a:p>
                  </a:txBody>
                  <a:tcPr marL="25783" marR="25783" marT="12892" marB="128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sz="1000"/>
                        <a:t>5,448 mesh cells</a:t>
                      </a:r>
                    </a:p>
                  </a:txBody>
                  <a:tcPr marL="25783" marR="25783" marT="12892" marB="128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000"/>
                        <a:t>Used as population weights for sampling synthetic customer locations and as the spatial population context</a:t>
                      </a:r>
                    </a:p>
                  </a:txBody>
                  <a:tcPr marL="25783" marR="25783" marT="12892" marB="128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ja-JP" sz="1000"/>
                        <a:t>Observed customer demand or delivery records</a:t>
                      </a:r>
                      <a:endParaRPr lang="ja-JP" sz="1000"/>
                    </a:p>
                  </a:txBody>
                  <a:tcPr marL="25783" marR="25783" marT="12892" marB="128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983363"/>
                  </a:ext>
                </a:extLst>
              </a:tr>
              <a:tr h="9671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000" b="1"/>
                        <a:t>Open Charge Map connections clipped to Tokyo</a:t>
                      </a:r>
                      <a:endParaRPr lang="ja-JP" sz="1000"/>
                    </a:p>
                  </a:txBody>
                  <a:tcPr marL="25783" marR="25783" marT="12892" marB="128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sz="1000"/>
                        <a:t>137 charger-connection records</a:t>
                      </a:r>
                    </a:p>
                  </a:txBody>
                  <a:tcPr marL="25783" marR="25783" marT="12892" marB="128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000"/>
                        <a:t>Used to screen charger candidates, calculate nearest-candidate distance, and evaluate geographic access and simplified charging support</a:t>
                      </a:r>
                    </a:p>
                  </a:txBody>
                  <a:tcPr marL="25783" marR="25783" marT="12892" marB="128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ja-JP" sz="1000"/>
                        <a:t>Real-time availability, queues, or actual charger use</a:t>
                      </a:r>
                      <a:endParaRPr lang="ja-JP" sz="1000"/>
                    </a:p>
                  </a:txBody>
                  <a:tcPr marL="25783" marR="25783" marT="12892" marB="128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5377638"/>
                  </a:ext>
                </a:extLst>
              </a:tr>
              <a:tr h="7148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000" b="1"/>
                        <a:t>Public logistics-facility depot proxy snapshot</a:t>
                      </a:r>
                      <a:endParaRPr lang="ja-JP" sz="1000"/>
                    </a:p>
                  </a:txBody>
                  <a:tcPr marL="25783" marR="25783" marT="12892" marB="128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sz="1000"/>
                        <a:t>440 depot candidates</a:t>
                      </a:r>
                    </a:p>
                  </a:txBody>
                  <a:tcPr marL="25783" marR="25783" marT="12892" marB="128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000"/>
                        <a:t>Used to define candidate depot locations and select a depot proxy for route construction</a:t>
                      </a:r>
                    </a:p>
                  </a:txBody>
                  <a:tcPr marL="25783" marR="25783" marT="12892" marB="128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ja-JP" sz="1000"/>
                        <a:t>Actual company depots or operational capacity</a:t>
                      </a:r>
                      <a:endParaRPr lang="ja-JP" sz="1000"/>
                    </a:p>
                  </a:txBody>
                  <a:tcPr marL="25783" marR="25783" marT="12892" marB="128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1177346"/>
                  </a:ext>
                </a:extLst>
              </a:tr>
              <a:tr h="7148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000" b="1"/>
                        <a:t>Public vehicle-specification snapshot</a:t>
                      </a:r>
                      <a:endParaRPr lang="ja-JP" sz="1000"/>
                    </a:p>
                  </a:txBody>
                  <a:tcPr marL="25783" marR="25783" marT="12892" marB="128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sz="1000"/>
                        <a:t>10 vehicle records</a:t>
                      </a:r>
                    </a:p>
                  </a:txBody>
                  <a:tcPr marL="25783" marR="25783" marT="12892" marB="128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000"/>
                        <a:t>Used to define battery capacity, catalog range, payload capacity, and the usable-range assumption</a:t>
                      </a:r>
                    </a:p>
                  </a:txBody>
                  <a:tcPr marL="25783" marR="25783" marT="12892" marB="128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ja-JP" sz="1000"/>
                    </a:p>
                  </a:txBody>
                  <a:tcPr marL="25783" marR="25783" marT="12892" marB="128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81469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09382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20">
            <a:extLst>
              <a:ext uri="{FF2B5EF4-FFF2-40B4-BE49-F238E27FC236}">
                <a16:creationId xmlns:a16="http://schemas.microsoft.com/office/drawing/2014/main" id="{14ACB284-4D41-EBA4-6FBA-DA07BADF20C8}"/>
              </a:ext>
            </a:extLst>
          </p:cNvPr>
          <p:cNvSpPr>
            <a:spLocks noGrp="1"/>
          </p:cNvSpPr>
          <p:nvPr/>
        </p:nvSpPr>
        <p:spPr>
          <a:xfrm>
            <a:off x="276278" y="307526"/>
            <a:ext cx="7819979" cy="2355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>
              <a:lnSpc>
                <a:spcPts val="1854"/>
              </a:lnSpc>
              <a:buNone/>
            </a:pPr>
            <a:r>
              <a:rPr sz="2000" b="1"/>
              <a:t>Problem Scale and Scenario Design</a:t>
            </a:r>
          </a:p>
        </p:txBody>
      </p:sp>
      <p:pic>
        <p:nvPicPr>
          <p:cNvPr id="44" name="Image 1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6293" y="592730"/>
            <a:ext cx="7819949" cy="28575"/>
          </a:xfrm>
          <a:prstGeom prst="rect">
            <a:avLst/>
          </a:prstGeom>
        </p:spPr>
      </p:pic>
      <p:pic>
        <p:nvPicPr>
          <p:cNvPr id="45" name="Image 1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70692" y="592730"/>
            <a:ext cx="1125550" cy="28575"/>
          </a:xfrm>
          <a:prstGeom prst="rect">
            <a:avLst/>
          </a:prstGeom>
        </p:spPr>
      </p:pic>
      <p:graphicFrame>
        <p:nvGraphicFramePr>
          <p:cNvPr id="47" name="表 4"/>
          <p:cNvGraphicFramePr/>
          <p:nvPr>
            <p:extLst>
              <p:ext uri="{D42A27DB-BD31-4B8C-83A1-F6EECF244321}">
                <p14:modId xmlns:p14="http://schemas.microsoft.com/office/powerpoint/2010/main" val="306411386"/>
              </p:ext>
            </p:extLst>
          </p:nvPr>
        </p:nvGraphicFramePr>
        <p:xfrm>
          <a:off x="276278" y="670993"/>
          <a:ext cx="7572743" cy="4015312"/>
        </p:xfrm>
        <a:graphic>
          <a:graphicData uri="http://schemas.openxmlformats.org/drawingml/2006/table">
            <a:tbl>
              <a:tblPr/>
              <a:tblGrid>
                <a:gridCol w="27377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8753">
                  <a:extLst>
                    <a:ext uri="{9D8B030D-6E8A-4147-A177-3AD203B41FA5}">
                      <a16:colId xmlns:a16="http://schemas.microsoft.com/office/drawing/2014/main" val="29189071"/>
                    </a:ext>
                  </a:extLst>
                </a:gridCol>
                <a:gridCol w="20662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09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000" b="1">
                          <a:latin typeface="+mn-lt"/>
                        </a:rPr>
                        <a:t>Category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000" b="1">
                          <a:latin typeface="+mn-lt"/>
                        </a:rPr>
                        <a:t>Evaluation Dimension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000" b="1">
                          <a:latin typeface="+mn-lt"/>
                        </a:rPr>
                        <a:t>Current Setting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957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000" b="1">
                          <a:latin typeface="+mn-lt"/>
                        </a:rPr>
                        <a:t>Problem Scale</a:t>
                      </a:r>
                      <a:endParaRPr lang="ja-JP" sz="1000">
                        <a:latin typeface="+mn-lt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000">
                          <a:latin typeface="+mn-lt"/>
                        </a:rPr>
                        <a:t>Number of customers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sz="1000">
                          <a:latin typeface="+mn-lt"/>
                        </a:rPr>
                        <a:t>25, 50, 100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957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ja-JP" sz="1000">
                        <a:latin typeface="+mn-lt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000">
                          <a:latin typeface="+mn-lt"/>
                        </a:rPr>
                        <a:t>Number of vehicles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sz="1000">
                          <a:latin typeface="+mn-lt"/>
                        </a:rPr>
                        <a:t>1, 3, 5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957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ja-JP" sz="1000">
                        <a:latin typeface="+mn-lt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000">
                          <a:latin typeface="+mn-lt"/>
                        </a:rPr>
                        <a:t>Charger-availability condition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sz="1000">
                          <a:latin typeface="+mn-lt"/>
                        </a:rPr>
                        <a:t>Conservative, Balanced, Broad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957">
                <a:tc row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000" b="1">
                          <a:latin typeface="+mn-lt"/>
                        </a:rPr>
                        <a:t>Operational Assumptions</a:t>
                      </a:r>
                      <a:endParaRPr lang="ja-JP" sz="1000">
                        <a:latin typeface="+mn-lt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000">
                          <a:latin typeface="+mn-lt"/>
                        </a:rPr>
                        <a:t>Usable driving range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sz="1000">
                          <a:latin typeface="+mn-lt"/>
                        </a:rPr>
                        <a:t>81.2 km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0957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ja-JP" sz="1000">
                        <a:latin typeface="+mn-lt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000">
                          <a:latin typeface="+mn-lt"/>
                        </a:rPr>
                        <a:t>Vehicle payload capacity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sz="1000">
                          <a:latin typeface="+mn-lt"/>
                        </a:rPr>
                        <a:t>2,000 kg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0957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ja-JP" sz="1000">
                        <a:latin typeface="+mn-lt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000">
                          <a:latin typeface="+mn-lt"/>
                        </a:rPr>
                        <a:t>Operating-time limit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sz="1000">
                          <a:latin typeface="+mn-lt"/>
                        </a:rPr>
                        <a:t>480 min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0957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ja-JP" sz="1000">
                        <a:latin typeface="+mn-lt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000">
                          <a:latin typeface="+mn-lt"/>
                        </a:rPr>
                        <a:t>Assumed travel speed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sz="1000">
                          <a:latin typeface="+mn-lt"/>
                        </a:rPr>
                        <a:t>25 km/h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957">
                <a:tc row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000" b="1">
                          <a:latin typeface="+mn-lt"/>
                        </a:rPr>
                        <a:t>Scenario Design</a:t>
                      </a:r>
                      <a:endParaRPr lang="ja-JP" sz="1000">
                        <a:latin typeface="+mn-lt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000">
                          <a:latin typeface="+mn-lt"/>
                        </a:rPr>
                        <a:t>Factorial scenario structure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sz="1000">
                          <a:latin typeface="+mn-lt"/>
                        </a:rPr>
                        <a:t>3 × 3 × 3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0957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ja-JP" sz="1000">
                        <a:latin typeface="+mn-lt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000">
                          <a:latin typeface="+mn-lt"/>
                        </a:rPr>
                        <a:t>Total scenario configurations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sz="1000">
                          <a:latin typeface="+mn-lt"/>
                        </a:rPr>
                        <a:t>27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0957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ja-JP" sz="1000">
                        <a:latin typeface="+mn-lt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000">
                          <a:latin typeface="+mn-lt"/>
                        </a:rPr>
                        <a:t>Independent random seeds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sz="1000">
                          <a:latin typeface="+mn-lt"/>
                        </a:rPr>
                        <a:t>100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0957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ja-JP" sz="1000">
                        <a:latin typeface="+mn-lt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000">
                          <a:latin typeface="+mn-lt"/>
                        </a:rPr>
                        <a:t>Configurations by customer-count 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sz="1000">
                          <a:latin typeface="+mn-lt"/>
                        </a:rPr>
                        <a:t>300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0957">
                <a:tc row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000" b="1">
                          <a:latin typeface="+mn-lt"/>
                        </a:rPr>
                        <a:t>Evaluation Volume</a:t>
                      </a:r>
                      <a:endParaRPr lang="ja-JP" sz="1000">
                        <a:latin typeface="+mn-lt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000">
                          <a:latin typeface="+mn-lt"/>
                        </a:rPr>
                        <a:t>Conditional evaluations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sz="1000">
                          <a:latin typeface="+mn-lt"/>
                        </a:rPr>
                        <a:t>2,700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0957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ja-JP" sz="1000">
                        <a:latin typeface="+mn-lt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000">
                          <a:latin typeface="+mn-lt"/>
                        </a:rPr>
                        <a:t>Route-condition evaluations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sz="1000">
                          <a:latin typeface="+mn-lt"/>
                        </a:rPr>
                        <a:t>8,100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0957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ja-JP" sz="1000">
                        <a:latin typeface="+mn-lt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000">
                          <a:latin typeface="+mn-lt"/>
                        </a:rPr>
                        <a:t>Synthetic customer records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sz="1000">
                          <a:latin typeface="+mn-lt"/>
                        </a:rPr>
                        <a:t>17,500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0957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ja-JP" sz="1000">
                        <a:latin typeface="+mn-lt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000">
                          <a:latin typeface="+mn-lt"/>
                        </a:rPr>
                        <a:t>Bootstrap iterations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sz="1000">
                          <a:latin typeface="+mn-lt"/>
                        </a:rPr>
                        <a:t>1,000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31879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20">
            <a:extLst>
              <a:ext uri="{FF2B5EF4-FFF2-40B4-BE49-F238E27FC236}">
                <a16:creationId xmlns:a16="http://schemas.microsoft.com/office/drawing/2014/main" id="{1F92AE35-19BA-4E91-E41D-DEDD2CCF0672}"/>
              </a:ext>
            </a:extLst>
          </p:cNvPr>
          <p:cNvSpPr>
            <a:spLocks noGrp="1"/>
          </p:cNvSpPr>
          <p:nvPr/>
        </p:nvSpPr>
        <p:spPr>
          <a:xfrm>
            <a:off x="276278" y="307526"/>
            <a:ext cx="7819979" cy="2355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>
              <a:lnSpc>
                <a:spcPts val="1854"/>
              </a:lnSpc>
              <a:buNone/>
            </a:pPr>
            <a:r>
              <a:rPr b="1"/>
              <a:t>Generated Scenario Map and Route Proxy</a:t>
            </a:r>
          </a:p>
        </p:txBody>
      </p:sp>
      <p:pic>
        <p:nvPicPr>
          <p:cNvPr id="47" name="Image 1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6293" y="592730"/>
            <a:ext cx="7819949" cy="28575"/>
          </a:xfrm>
          <a:prstGeom prst="rect">
            <a:avLst/>
          </a:prstGeom>
        </p:spPr>
      </p:pic>
      <p:pic>
        <p:nvPicPr>
          <p:cNvPr id="48" name="Image 1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70692" y="592730"/>
            <a:ext cx="1125550" cy="28575"/>
          </a:xfrm>
          <a:prstGeom prst="rect">
            <a:avLst/>
          </a:prstGeom>
        </p:spPr>
      </p:pic>
      <p:sp>
        <p:nvSpPr>
          <p:cNvPr id="2" name="Text 12">
            <a:extLst>
              <a:ext uri="{FF2B5EF4-FFF2-40B4-BE49-F238E27FC236}">
                <a16:creationId xmlns:a16="http://schemas.microsoft.com/office/drawing/2014/main" id="{8D174697-C980-5073-1BD8-5BFD53DCFB95}"/>
              </a:ext>
            </a:extLst>
          </p:cNvPr>
          <p:cNvSpPr>
            <a:spLocks noGrp="1"/>
          </p:cNvSpPr>
          <p:nvPr/>
        </p:nvSpPr>
        <p:spPr>
          <a:xfrm>
            <a:off x="276297" y="666359"/>
            <a:ext cx="7819945" cy="44218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ts val="1741"/>
              </a:lnSpc>
              <a:buNone/>
            </a:pPr>
            <a:r>
              <a:rPr lang="ja-JP" altLang="ja-JP" sz="1600"/>
              <a:t>constructed a common route proxy to compare how customer configurations and vehicle assignments affect the evaluated operational constraints</a:t>
            </a:r>
            <a:endParaRPr sz="1600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04801DF-0A86-FFA9-CA11-DB43FBEE7EA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4914"/>
          <a:stretch>
            <a:fillRect/>
          </a:stretch>
        </p:blipFill>
        <p:spPr>
          <a:xfrm>
            <a:off x="975541" y="1153596"/>
            <a:ext cx="6421452" cy="3259311"/>
          </a:xfrm>
          <a:prstGeom prst="rect">
            <a:avLst/>
          </a:prstGeom>
        </p:spPr>
      </p:pic>
      <p:sp>
        <p:nvSpPr>
          <p:cNvPr id="5" name="slide16-limit-note">
            <a:extLst>
              <a:ext uri="{FF2B5EF4-FFF2-40B4-BE49-F238E27FC236}">
                <a16:creationId xmlns:a16="http://schemas.microsoft.com/office/drawing/2014/main" id="{1583E2A1-CEB2-B2B7-35DC-E01D5E8D2534}"/>
              </a:ext>
            </a:extLst>
          </p:cNvPr>
          <p:cNvSpPr>
            <a:spLocks noGrp="1"/>
          </p:cNvSpPr>
          <p:nvPr/>
        </p:nvSpPr>
        <p:spPr>
          <a:xfrm>
            <a:off x="428625" y="4362450"/>
            <a:ext cx="752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63" b="0">
                <a:solidFill>
                  <a:srgbClr val="666666"/>
                </a:solidFill>
              </a:defRPr>
            </a:pPr>
            <a:endParaRPr sz="863" b="0" dirty="0">
              <a:solidFill>
                <a:srgbClr val="666666"/>
              </a:solidFill>
            </a:endParaRPr>
          </a:p>
        </p:txBody>
      </p:sp>
      <p:sp>
        <p:nvSpPr>
          <p:cNvPr id="6" name="slide19-summary">
            <a:extLst>
              <a:ext uri="{FF2B5EF4-FFF2-40B4-BE49-F238E27FC236}">
                <a16:creationId xmlns:a16="http://schemas.microsoft.com/office/drawing/2014/main" id="{2385F351-71F2-5F3B-FC70-6BAB41934726}"/>
              </a:ext>
            </a:extLst>
          </p:cNvPr>
          <p:cNvSpPr>
            <a:spLocks noGrp="1"/>
          </p:cNvSpPr>
          <p:nvPr/>
        </p:nvSpPr>
        <p:spPr>
          <a:xfrm>
            <a:off x="428625" y="4407349"/>
            <a:ext cx="752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008A9A"/>
                </a:solidFill>
              </a:defRPr>
            </a:pPr>
            <a:endParaRPr sz="1600" b="1" dirty="0"/>
          </a:p>
        </p:txBody>
      </p:sp>
      <p:sp>
        <p:nvSpPr>
          <p:cNvPr id="9" name="Text 12">
            <a:extLst>
              <a:ext uri="{FF2B5EF4-FFF2-40B4-BE49-F238E27FC236}">
                <a16:creationId xmlns:a16="http://schemas.microsoft.com/office/drawing/2014/main" id="{5DB1BF4E-880F-27F4-7EAB-8467CE955B9C}"/>
              </a:ext>
            </a:extLst>
          </p:cNvPr>
          <p:cNvSpPr>
            <a:spLocks noGrp="1"/>
          </p:cNvSpPr>
          <p:nvPr/>
        </p:nvSpPr>
        <p:spPr>
          <a:xfrm>
            <a:off x="712304" y="4227083"/>
            <a:ext cx="7819945" cy="44218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>
              <a:lnSpc>
                <a:spcPts val="1741"/>
              </a:lnSpc>
            </a:pPr>
            <a:r>
              <a:rPr lang="en-US" altLang="ja-JP" sz="1000" dirty="0"/>
              <a:t>※</a:t>
            </a:r>
            <a:r>
              <a:rPr lang="ja-JP" altLang="ja-JP" sz="1000"/>
              <a:t>The map is illustrative and does not represent an optimized EVRP solution, an observed delivery route, or an actual road-network route.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982877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20">
            <a:extLst>
              <a:ext uri="{FF2B5EF4-FFF2-40B4-BE49-F238E27FC236}">
                <a16:creationId xmlns:a16="http://schemas.microsoft.com/office/drawing/2014/main" id="{A20DB508-5491-F322-5A14-76852065E4FF}"/>
              </a:ext>
            </a:extLst>
          </p:cNvPr>
          <p:cNvSpPr>
            <a:spLocks noGrp="1"/>
          </p:cNvSpPr>
          <p:nvPr/>
        </p:nvSpPr>
        <p:spPr>
          <a:xfrm>
            <a:off x="276278" y="307526"/>
            <a:ext cx="7819979" cy="2355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>
              <a:lnSpc>
                <a:spcPts val="1854"/>
              </a:lnSpc>
              <a:buNone/>
            </a:pPr>
            <a:r>
              <a:rPr sz="2000" b="1"/>
              <a:t>Provisional Evaluation of Operational Constraints</a:t>
            </a:r>
          </a:p>
        </p:txBody>
      </p:sp>
      <p:pic>
        <p:nvPicPr>
          <p:cNvPr id="44" name="Image 1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6293" y="592730"/>
            <a:ext cx="7819949" cy="28575"/>
          </a:xfrm>
          <a:prstGeom prst="rect">
            <a:avLst/>
          </a:prstGeom>
        </p:spPr>
      </p:pic>
      <p:pic>
        <p:nvPicPr>
          <p:cNvPr id="45" name="Image 1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70692" y="592730"/>
            <a:ext cx="1125550" cy="28575"/>
          </a:xfrm>
          <a:prstGeom prst="rect">
            <a:avLst/>
          </a:prstGeom>
        </p:spPr>
      </p:pic>
      <p:sp>
        <p:nvSpPr>
          <p:cNvPr id="2" name="Text 12">
            <a:extLst>
              <a:ext uri="{FF2B5EF4-FFF2-40B4-BE49-F238E27FC236}">
                <a16:creationId xmlns:a16="http://schemas.microsoft.com/office/drawing/2014/main" id="{B025CE68-EC96-5B45-D78B-BBC7D325AC87}"/>
              </a:ext>
            </a:extLst>
          </p:cNvPr>
          <p:cNvSpPr>
            <a:spLocks noGrp="1"/>
          </p:cNvSpPr>
          <p:nvPr/>
        </p:nvSpPr>
        <p:spPr>
          <a:xfrm>
            <a:off x="276297" y="628450"/>
            <a:ext cx="7819945" cy="44218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ts val="1741"/>
              </a:lnSpc>
              <a:buNone/>
            </a:pPr>
            <a:r>
              <a:rPr lang="ja-JP" altLang="ja-JP" sz="1600"/>
              <a:t>Under the current synthetic conditions, we summarized each operational constraint by its model-conditional unmet rate, evaluation method, and current analytical basis.</a:t>
            </a:r>
            <a:endParaRPr sz="1600" dirty="0"/>
          </a:p>
        </p:txBody>
      </p:sp>
      <p:graphicFrame>
        <p:nvGraphicFramePr>
          <p:cNvPr id="47" name="表 3"/>
          <p:cNvGraphicFramePr/>
          <p:nvPr>
            <p:extLst>
              <p:ext uri="{D42A27DB-BD31-4B8C-83A1-F6EECF244321}">
                <p14:modId xmlns:p14="http://schemas.microsoft.com/office/powerpoint/2010/main" val="2411444305"/>
              </p:ext>
            </p:extLst>
          </p:nvPr>
        </p:nvGraphicFramePr>
        <p:xfrm>
          <a:off x="581003" y="1124792"/>
          <a:ext cx="7012920" cy="3494976"/>
        </p:xfrm>
        <a:graphic>
          <a:graphicData uri="http://schemas.openxmlformats.org/drawingml/2006/table">
            <a:tbl>
              <a:tblPr/>
              <a:tblGrid>
                <a:gridCol w="1753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25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939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32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04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 i="0" dirty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  <a:cs typeface="-apple-system"/>
                        </a:rPr>
                        <a:t>Constraint</a:t>
                      </a:r>
                    </a:p>
                  </a:txBody>
                  <a:tcPr marL="74921" marR="74921" marT="37461" marB="37461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ja-JP" sz="1000" b="1"/>
                        <a:t>Model-Conditional Unmet Rate</a:t>
                      </a:r>
                      <a:endParaRPr sz="1000" b="1" i="0" dirty="0">
                        <a:solidFill>
                          <a:schemeClr val="tx1"/>
                        </a:solidFill>
                        <a:latin typeface="-apple-system"/>
                        <a:ea typeface="-apple-system"/>
                        <a:cs typeface="-apple-system"/>
                      </a:endParaRPr>
                    </a:p>
                  </a:txBody>
                  <a:tcPr marL="74921" marR="74921" marT="37461" marB="37461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 i="0" dirty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  <a:cs typeface="-apple-system"/>
                        </a:rPr>
                        <a:t>Evaluation Method</a:t>
                      </a:r>
                    </a:p>
                  </a:txBody>
                  <a:tcPr marL="74921" marR="74921" marT="37461" marB="37461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ja-JP" sz="1000" b="1"/>
                        <a:t>Current Basis and Limitation</a:t>
                      </a:r>
                      <a:endParaRPr sz="1000" b="1" i="0" dirty="0">
                        <a:solidFill>
                          <a:schemeClr val="tx1"/>
                        </a:solidFill>
                        <a:latin typeface="-apple-system"/>
                        <a:ea typeface="-apple-system"/>
                        <a:cs typeface="-apple-system"/>
                      </a:endParaRPr>
                    </a:p>
                  </a:txBody>
                  <a:tcPr marL="74921" marR="74921" marT="37461" marB="37461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3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 dirty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  <a:cs typeface="-apple-system"/>
                        </a:rPr>
                        <a:t>Payload capacity</a:t>
                      </a:r>
                    </a:p>
                  </a:txBody>
                  <a:tcPr marL="74921" marR="74921" marT="37461" marB="37461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  <a:cs typeface="-apple-system"/>
                        </a:rPr>
                        <a:t>0.0%</a:t>
                      </a:r>
                    </a:p>
                  </a:txBody>
                  <a:tcPr marL="74921" marR="74921" marT="37461" marB="37461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  <a:cs typeface="-apple-system"/>
                        </a:rPr>
                        <a:t>Route demand compared with vehicle capacity</a:t>
                      </a:r>
                    </a:p>
                  </a:txBody>
                  <a:tcPr marL="74921" marR="74921" marT="37461" marB="37461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  <a:cs typeface="-apple-system"/>
                        </a:rPr>
                        <a:t>Synthetic data with assumed parameters</a:t>
                      </a:r>
                    </a:p>
                  </a:txBody>
                  <a:tcPr marL="74921" marR="74921" marT="37461" marB="37461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3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 dirty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  <a:cs typeface="-apple-system"/>
                        </a:rPr>
                        <a:t>Operating-time limit</a:t>
                      </a:r>
                    </a:p>
                  </a:txBody>
                  <a:tcPr marL="74921" marR="74921" marT="37461" marB="37461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 i="0" dirty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  <a:cs typeface="-apple-system"/>
                        </a:rPr>
                        <a:t>33.5%</a:t>
                      </a:r>
                    </a:p>
                  </a:txBody>
                  <a:tcPr marL="74921" marR="74921" marT="37461" marB="37461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  <a:cs typeface="-apple-system"/>
                        </a:rPr>
                        <a:t>Estimated travel and service duration compared with the operating-time limit</a:t>
                      </a:r>
                    </a:p>
                  </a:txBody>
                  <a:tcPr marL="74921" marR="74921" marT="37461" marB="37461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  <a:cs typeface="-apple-system"/>
                        </a:rPr>
                        <a:t>Synthetic route proxy with assumed parameters</a:t>
                      </a:r>
                    </a:p>
                  </a:txBody>
                  <a:tcPr marL="74921" marR="74921" marT="37461" marB="37461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74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  <a:cs typeface="-apple-system"/>
                        </a:rPr>
                        <a:t>Range feasibility</a:t>
                      </a:r>
                    </a:p>
                  </a:txBody>
                  <a:tcPr marL="74921" marR="74921" marT="37461" marB="37461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 i="0" dirty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  <a:cs typeface="-apple-system"/>
                        </a:rPr>
                        <a:t>64.4%</a:t>
                      </a:r>
                    </a:p>
                  </a:txBody>
                  <a:tcPr marL="74921" marR="74921" marT="37461" marB="37461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 dirty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  <a:cs typeface="-apple-system"/>
                        </a:rPr>
                        <a:t>Route-proxy distance compared with usable vehicle range</a:t>
                      </a:r>
                    </a:p>
                  </a:txBody>
                  <a:tcPr marL="74921" marR="74921" marT="37461" marB="37461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  <a:cs typeface="-apple-system"/>
                        </a:rPr>
                        <a:t>Manufacturer range with assumed usable ratio and route proxy</a:t>
                      </a:r>
                    </a:p>
                  </a:txBody>
                  <a:tcPr marL="74921" marR="74921" marT="37461" marB="37461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3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  <a:cs typeface="-apple-system"/>
                        </a:rPr>
                        <a:t>SOC feasibility</a:t>
                      </a:r>
                    </a:p>
                  </a:txBody>
                  <a:tcPr marL="74921" marR="74921" marT="37461" marB="37461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  <a:cs typeface="-apple-system"/>
                        </a:rPr>
                        <a:t>Not evaluated</a:t>
                      </a:r>
                    </a:p>
                  </a:txBody>
                  <a:tcPr marL="74921" marR="74921" marT="37461" marB="37461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ja-JP" sz="1000"/>
                        <a:t>Sequential state-of-charge modeling required</a:t>
                      </a:r>
                      <a:endParaRPr sz="1000" b="0" i="0" dirty="0">
                        <a:solidFill>
                          <a:schemeClr val="tx1"/>
                        </a:solidFill>
                        <a:latin typeface="-apple-system"/>
                        <a:ea typeface="-apple-system"/>
                        <a:cs typeface="-apple-system"/>
                      </a:endParaRPr>
                    </a:p>
                  </a:txBody>
                  <a:tcPr marL="74921" marR="74921" marT="37461" marB="37461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  <a:cs typeface="-apple-system"/>
                        </a:rPr>
                        <a:t>Not evaluated</a:t>
                      </a:r>
                    </a:p>
                  </a:txBody>
                  <a:tcPr marL="74921" marR="74921" marT="37461" marB="37461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174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  <a:cs typeface="-apple-system"/>
                        </a:rPr>
                        <a:t>Charging-station access</a:t>
                      </a:r>
                    </a:p>
                  </a:txBody>
                  <a:tcPr marL="74921" marR="74921" marT="37461" marB="37461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  <a:cs typeface="-apple-system"/>
                        </a:rPr>
                        <a:t>10.7%</a:t>
                      </a:r>
                    </a:p>
                  </a:txBody>
                  <a:tcPr marL="74921" marR="74921" marT="37461" marB="37461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 dirty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  <a:cs typeface="-apple-system"/>
                        </a:rPr>
                        <a:t>Distance from route-proxy nodes to retained charger candidates</a:t>
                      </a:r>
                    </a:p>
                  </a:txBody>
                  <a:tcPr marL="74921" marR="74921" marT="37461" marB="37461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  <a:cs typeface="-apple-system"/>
                        </a:rPr>
                        <a:t>Public candidate geography with substantial attribute missingness</a:t>
                      </a:r>
                    </a:p>
                  </a:txBody>
                  <a:tcPr marL="74921" marR="74921" marT="37461" marB="37461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23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  <a:cs typeface="-apple-system"/>
                        </a:rPr>
                        <a:t>Charging-assisted range feasibility</a:t>
                      </a:r>
                    </a:p>
                  </a:txBody>
                  <a:tcPr marL="74921" marR="74921" marT="37461" marB="37461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  <a:cs typeface="-apple-system"/>
                        </a:rPr>
                        <a:t>33.3%</a:t>
                      </a:r>
                    </a:p>
                  </a:txBody>
                  <a:tcPr marL="74921" marR="74921" marT="37461" marB="37461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 dirty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  <a:cs typeface="-apple-system"/>
                        </a:rPr>
                        <a:t>Simplified charging support for range-infeasible routes</a:t>
                      </a:r>
                    </a:p>
                  </a:txBody>
                  <a:tcPr marL="74921" marR="74921" marT="37461" marB="37461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 dirty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  <a:cs typeface="-apple-system"/>
                        </a:rPr>
                        <a:t>Simplified proxy with public candidate geography</a:t>
                      </a:r>
                    </a:p>
                  </a:txBody>
                  <a:tcPr marL="74921" marR="74921" marT="37461" marB="37461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174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 dirty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  <a:cs typeface="-apple-system"/>
                        </a:rPr>
                        <a:t>Charging-duration feasibility</a:t>
                      </a:r>
                    </a:p>
                  </a:txBody>
                  <a:tcPr marL="74921" marR="74921" marT="37461" marB="37461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  <a:cs typeface="-apple-system"/>
                        </a:rPr>
                        <a:t>15.3%</a:t>
                      </a:r>
                    </a:p>
                  </a:txBody>
                  <a:tcPr marL="74921" marR="74921" marT="37461" marB="37461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  <a:cs typeface="-apple-system"/>
                        </a:rPr>
                        <a:t>Simplified duration condition using reported charger power</a:t>
                      </a:r>
                    </a:p>
                  </a:txBody>
                  <a:tcPr marL="74921" marR="74921" marT="37461" marB="37461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 dirty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  <a:cs typeface="-apple-system"/>
                        </a:rPr>
                        <a:t>Simplified duration proxy; actual charging behavior not evaluated</a:t>
                      </a:r>
                    </a:p>
                  </a:txBody>
                  <a:tcPr marL="74921" marR="74921" marT="37461" marB="37461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19089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20">
            <a:extLst>
              <a:ext uri="{FF2B5EF4-FFF2-40B4-BE49-F238E27FC236}">
                <a16:creationId xmlns:a16="http://schemas.microsoft.com/office/drawing/2014/main" id="{69FBBD4F-EDB7-691B-386B-EA8226161CAD}"/>
              </a:ext>
            </a:extLst>
          </p:cNvPr>
          <p:cNvSpPr>
            <a:spLocks noGrp="1"/>
          </p:cNvSpPr>
          <p:nvPr/>
        </p:nvSpPr>
        <p:spPr>
          <a:xfrm>
            <a:off x="276278" y="307526"/>
            <a:ext cx="7819979" cy="2355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>
              <a:lnSpc>
                <a:spcPts val="1854"/>
              </a:lnSpc>
              <a:buNone/>
            </a:pPr>
            <a:r>
              <a:rPr sz="2000" b="1"/>
              <a:t>Variation Across Customer Configurations and Analytical Conditions</a:t>
            </a:r>
          </a:p>
        </p:txBody>
      </p:sp>
      <p:pic>
        <p:nvPicPr>
          <p:cNvPr id="44" name="Image 1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6293" y="592730"/>
            <a:ext cx="7819949" cy="28575"/>
          </a:xfrm>
          <a:prstGeom prst="rect">
            <a:avLst/>
          </a:prstGeom>
        </p:spPr>
      </p:pic>
      <p:pic>
        <p:nvPicPr>
          <p:cNvPr id="45" name="Image 1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70692" y="592730"/>
            <a:ext cx="1125550" cy="28575"/>
          </a:xfrm>
          <a:prstGeom prst="rect">
            <a:avLst/>
          </a:prstGeom>
        </p:spPr>
      </p:pic>
      <p:sp>
        <p:nvSpPr>
          <p:cNvPr id="2" name="Text 12">
            <a:extLst>
              <a:ext uri="{FF2B5EF4-FFF2-40B4-BE49-F238E27FC236}">
                <a16:creationId xmlns:a16="http://schemas.microsoft.com/office/drawing/2014/main" id="{EB9847FD-40EE-82B7-D91D-0F817CDE9C7D}"/>
              </a:ext>
            </a:extLst>
          </p:cNvPr>
          <p:cNvSpPr>
            <a:spLocks noGrp="1"/>
          </p:cNvSpPr>
          <p:nvPr/>
        </p:nvSpPr>
        <p:spPr>
          <a:xfrm>
            <a:off x="276297" y="656157"/>
            <a:ext cx="7819945" cy="44218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ts val="1741"/>
              </a:lnSpc>
              <a:buNone/>
            </a:pPr>
            <a:r>
              <a:rPr lang="ja-JP" altLang="ja-JP" sz="1600"/>
              <a:t>We examined whether the provisional constraint results vary across customer configurations and one-at-a-time parameter changes.</a:t>
            </a:r>
            <a:endParaRPr lang="en-US" sz="1600" dirty="0"/>
          </a:p>
        </p:txBody>
      </p:sp>
      <p:graphicFrame>
        <p:nvGraphicFramePr>
          <p:cNvPr id="47" name="表 3"/>
          <p:cNvGraphicFramePr/>
          <p:nvPr>
            <p:extLst>
              <p:ext uri="{D42A27DB-BD31-4B8C-83A1-F6EECF244321}">
                <p14:modId xmlns:p14="http://schemas.microsoft.com/office/powerpoint/2010/main" val="3420000137"/>
              </p:ext>
            </p:extLst>
          </p:nvPr>
        </p:nvGraphicFramePr>
        <p:xfrm>
          <a:off x="717917" y="1223394"/>
          <a:ext cx="7164060" cy="3080517"/>
        </p:xfrm>
        <a:graphic>
          <a:graphicData uri="http://schemas.openxmlformats.org/drawingml/2006/table">
            <a:tbl>
              <a:tblPr/>
              <a:tblGrid>
                <a:gridCol w="17910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82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0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641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58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 i="0" dirty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  <a:cs typeface="-apple-system"/>
                        </a:rPr>
                        <a:t>Constraint</a:t>
                      </a:r>
                    </a:p>
                  </a:txBody>
                  <a:tcPr marL="61897" marR="61897" marT="30948" marB="3094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 i="0" dirty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  <a:cs typeface="-apple-system"/>
                        </a:rPr>
                        <a:t>Spatial Variability</a:t>
                      </a:r>
                    </a:p>
                  </a:txBody>
                  <a:tcPr marL="61897" marR="61897" marT="30948" marB="3094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 i="0" dirty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  <a:cs typeface="-apple-system"/>
                        </a:rPr>
                        <a:t>Parameter Sensitivity</a:t>
                      </a:r>
                    </a:p>
                  </a:txBody>
                  <a:tcPr marL="61897" marR="61897" marT="30948" marB="3094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 i="0" dirty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  <a:cs typeface="-apple-system"/>
                        </a:rPr>
                        <a:t>Main Related Conditions</a:t>
                      </a:r>
                    </a:p>
                  </a:txBody>
                  <a:tcPr marL="61897" marR="61897" marT="30948" marB="3094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8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 dirty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  <a:cs typeface="-apple-system"/>
                        </a:rPr>
                        <a:t>Payload capacity</a:t>
                      </a:r>
                    </a:p>
                  </a:txBody>
                  <a:tcPr marL="61897" marR="61897" marT="30948" marB="3094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 dirty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  <a:cs typeface="-apple-system"/>
                        </a:rPr>
                        <a:t>Low</a:t>
                      </a:r>
                    </a:p>
                  </a:txBody>
                  <a:tcPr marL="61897" marR="61897" marT="30948" marB="3094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  <a:cs typeface="-apple-system"/>
                        </a:rPr>
                        <a:t>Low</a:t>
                      </a:r>
                    </a:p>
                  </a:txBody>
                  <a:tcPr marL="61897" marR="61897" marT="30948" marB="3094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  <a:cs typeface="-apple-system"/>
                        </a:rPr>
                        <a:t>Synthetic demand and vehicle capacity; no change in the evaluated one-at-a-time range</a:t>
                      </a:r>
                    </a:p>
                  </a:txBody>
                  <a:tcPr marL="61897" marR="61897" marT="30948" marB="3094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8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  <a:cs typeface="-apple-system"/>
                        </a:rPr>
                        <a:t>Operating-time limit</a:t>
                      </a:r>
                    </a:p>
                  </a:txBody>
                  <a:tcPr marL="61897" marR="61897" marT="30948" marB="3094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 dirty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  <a:cs typeface="-apple-system"/>
                        </a:rPr>
                        <a:t>Low</a:t>
                      </a:r>
                    </a:p>
                  </a:txBody>
                  <a:tcPr marL="61897" marR="61897" marT="30948" marB="3094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  <a:cs typeface="-apple-system"/>
                        </a:rPr>
                        <a:t>High</a:t>
                      </a:r>
                    </a:p>
                  </a:txBody>
                  <a:tcPr marL="61897" marR="61897" marT="30948" marB="3094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 dirty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  <a:cs typeface="-apple-system"/>
                        </a:rPr>
                        <a:t>Vehicle count; customer count; time limit; service time; speed</a:t>
                      </a:r>
                    </a:p>
                  </a:txBody>
                  <a:tcPr marL="61897" marR="61897" marT="30948" marB="3094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8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 dirty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  <a:cs typeface="-apple-system"/>
                        </a:rPr>
                        <a:t>Range feasibility</a:t>
                      </a:r>
                    </a:p>
                  </a:txBody>
                  <a:tcPr marL="61897" marR="61897" marT="30948" marB="3094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  <a:cs typeface="-apple-system"/>
                        </a:rPr>
                        <a:t>Medium</a:t>
                      </a:r>
                    </a:p>
                  </a:txBody>
                  <a:tcPr marL="61897" marR="61897" marT="30948" marB="3094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 dirty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  <a:cs typeface="-apple-system"/>
                        </a:rPr>
                        <a:t>High</a:t>
                      </a:r>
                    </a:p>
                  </a:txBody>
                  <a:tcPr marL="61897" marR="61897" marT="30948" marB="3094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  <a:cs typeface="-apple-system"/>
                        </a:rPr>
                        <a:t>Vehicle count; customer count; usable range/SOC reserve; road-distance multiplier</a:t>
                      </a:r>
                    </a:p>
                  </a:txBody>
                  <a:tcPr marL="61897" marR="61897" marT="30948" marB="3094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87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  <a:cs typeface="-apple-system"/>
                        </a:rPr>
                        <a:t>SOC feasibility</a:t>
                      </a:r>
                    </a:p>
                  </a:txBody>
                  <a:tcPr marL="61897" marR="61897" marT="30948" marB="3094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  <a:cs typeface="-apple-system"/>
                        </a:rPr>
                        <a:t>Not assessable</a:t>
                      </a:r>
                    </a:p>
                  </a:txBody>
                  <a:tcPr marL="61897" marR="61897" marT="30948" marB="3094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  <a:cs typeface="-apple-system"/>
                        </a:rPr>
                        <a:t>Not assessable</a:t>
                      </a:r>
                    </a:p>
                  </a:txBody>
                  <a:tcPr marL="61897" marR="61897" marT="30948" marB="3094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 dirty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  <a:cs typeface="-apple-system"/>
                        </a:rPr>
                        <a:t>Sequential SOC model required</a:t>
                      </a:r>
                    </a:p>
                  </a:txBody>
                  <a:tcPr marL="61897" marR="61897" marT="30948" marB="3094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78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  <a:cs typeface="-apple-system"/>
                        </a:rPr>
                        <a:t>Charging-station access</a:t>
                      </a:r>
                    </a:p>
                  </a:txBody>
                  <a:tcPr marL="61897" marR="61897" marT="30948" marB="3094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 dirty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  <a:cs typeface="-apple-system"/>
                        </a:rPr>
                        <a:t>Low</a:t>
                      </a:r>
                    </a:p>
                  </a:txBody>
                  <a:tcPr marL="61897" marR="61897" marT="30948" marB="3094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  <a:cs typeface="-apple-system"/>
                        </a:rPr>
                        <a:t>Low</a:t>
                      </a:r>
                    </a:p>
                  </a:txBody>
                  <a:tcPr marL="61897" marR="61897" marT="30948" marB="3094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 dirty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  <a:cs typeface="-apple-system"/>
                        </a:rPr>
                        <a:t>Charger candidate set and access threshold; no change in the balanced-reference one-at-a-time design</a:t>
                      </a:r>
                    </a:p>
                  </a:txBody>
                  <a:tcPr marL="61897" marR="61897" marT="30948" marB="3094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78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  <a:cs typeface="-apple-system"/>
                        </a:rPr>
                        <a:t>Charging-assisted range feasibility</a:t>
                      </a:r>
                    </a:p>
                  </a:txBody>
                  <a:tcPr marL="61897" marR="61897" marT="30948" marB="3094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  <a:cs typeface="-apple-system"/>
                        </a:rPr>
                        <a:t>Medium</a:t>
                      </a:r>
                    </a:p>
                  </a:txBody>
                  <a:tcPr marL="61897" marR="61897" marT="30948" marB="3094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  <a:cs typeface="-apple-system"/>
                        </a:rPr>
                        <a:t>High</a:t>
                      </a:r>
                    </a:p>
                  </a:txBody>
                  <a:tcPr marL="61897" marR="61897" marT="30948" marB="3094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 dirty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  <a:cs typeface="-apple-system"/>
                        </a:rPr>
                        <a:t>Vehicle count; customer count; usable range/SOC reserve; road-distance multiplier</a:t>
                      </a:r>
                    </a:p>
                  </a:txBody>
                  <a:tcPr marL="61897" marR="61897" marT="30948" marB="3094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987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  <a:cs typeface="-apple-system"/>
                        </a:rPr>
                        <a:t>Charging-duration feasibility</a:t>
                      </a:r>
                    </a:p>
                  </a:txBody>
                  <a:tcPr marL="61897" marR="61897" marT="30948" marB="3094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 dirty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  <a:cs typeface="-apple-system"/>
                        </a:rPr>
                        <a:t>Low</a:t>
                      </a:r>
                    </a:p>
                  </a:txBody>
                  <a:tcPr marL="61897" marR="61897" marT="30948" marB="3094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  <a:cs typeface="-apple-system"/>
                        </a:rPr>
                        <a:t>High</a:t>
                      </a:r>
                    </a:p>
                  </a:txBody>
                  <a:tcPr marL="61897" marR="61897" marT="30948" marB="3094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 dirty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  <a:cs typeface="-apple-system"/>
                        </a:rPr>
                        <a:t>Vehicle count; duration limit; customer count</a:t>
                      </a:r>
                    </a:p>
                  </a:txBody>
                  <a:tcPr marL="61897" marR="61897" marT="30948" marB="3094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11721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20">
            <a:extLst>
              <a:ext uri="{FF2B5EF4-FFF2-40B4-BE49-F238E27FC236}">
                <a16:creationId xmlns:a16="http://schemas.microsoft.com/office/drawing/2014/main" id="{6786938E-C6B2-B573-C3E3-D42B57AC9A3F}"/>
              </a:ext>
            </a:extLst>
          </p:cNvPr>
          <p:cNvSpPr>
            <a:spLocks noGrp="1"/>
          </p:cNvSpPr>
          <p:nvPr/>
        </p:nvSpPr>
        <p:spPr>
          <a:xfrm>
            <a:off x="126378" y="307526"/>
            <a:ext cx="7819979" cy="2355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>
              <a:lnSpc>
                <a:spcPts val="1854"/>
              </a:lnSpc>
              <a:buNone/>
            </a:pPr>
            <a:endParaRPr/>
          </a:p>
        </p:txBody>
      </p:sp>
      <p:pic>
        <p:nvPicPr>
          <p:cNvPr id="48" name="Image 1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6293" y="592730"/>
            <a:ext cx="7819949" cy="28575"/>
          </a:xfrm>
          <a:prstGeom prst="rect">
            <a:avLst/>
          </a:prstGeom>
        </p:spPr>
      </p:pic>
      <p:pic>
        <p:nvPicPr>
          <p:cNvPr id="49" name="Image 1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70692" y="592730"/>
            <a:ext cx="1125550" cy="28575"/>
          </a:xfrm>
          <a:prstGeom prst="rect">
            <a:avLst/>
          </a:prstGeom>
        </p:spPr>
      </p:pic>
      <p:sp>
        <p:nvSpPr>
          <p:cNvPr id="2" name="Text 12">
            <a:extLst>
              <a:ext uri="{FF2B5EF4-FFF2-40B4-BE49-F238E27FC236}">
                <a16:creationId xmlns:a16="http://schemas.microsoft.com/office/drawing/2014/main" id="{1C4EBA66-444B-0E01-94CC-DA946F69BA4C}"/>
              </a:ext>
            </a:extLst>
          </p:cNvPr>
          <p:cNvSpPr>
            <a:spLocks noGrp="1"/>
          </p:cNvSpPr>
          <p:nvPr/>
        </p:nvSpPr>
        <p:spPr>
          <a:xfrm>
            <a:off x="276297" y="681597"/>
            <a:ext cx="7819945" cy="44218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ts val="1741"/>
              </a:lnSpc>
              <a:buNone/>
            </a:pPr>
            <a:r>
              <a:rPr lang="ja-JP" altLang="ja-JP" sz="1600"/>
              <a:t>distinguished whether an application requirement is represented in the reviewed quantum-VRP studies from how that requirement has been evaluated or validated.</a:t>
            </a:r>
            <a:endParaRPr sz="1600" dirty="0"/>
          </a:p>
        </p:txBody>
      </p:sp>
      <p:sp>
        <p:nvSpPr>
          <p:cNvPr id="42" name="slide19-replacement-title">
            <a:extLst>
              <a:ext uri="{FF2B5EF4-FFF2-40B4-BE49-F238E27FC236}">
                <a16:creationId xmlns:a16="http://schemas.microsoft.com/office/drawing/2014/main" id="{C5E7EB05-F624-4E2D-9ABA-25F846DED69B}"/>
              </a:ext>
            </a:extLst>
          </p:cNvPr>
          <p:cNvSpPr>
            <a:spLocks noGrp="1"/>
          </p:cNvSpPr>
          <p:nvPr/>
        </p:nvSpPr>
        <p:spPr>
          <a:xfrm>
            <a:off x="276225" y="266700"/>
            <a:ext cx="78200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613" b="1">
                <a:solidFill>
                  <a:srgbClr val="000000"/>
                </a:solidFill>
              </a:defRPr>
            </a:pPr>
            <a:r>
              <a:rPr sz="1613" b="1">
                <a:solidFill>
                  <a:srgbClr val="000000"/>
                </a:solidFill>
              </a:rPr>
              <a:t>Application Requirements and Their Representation in Quantum-VRP Studies</a:t>
            </a:r>
          </a:p>
        </p:txBody>
      </p:sp>
      <p:graphicFrame>
        <p:nvGraphicFramePr>
          <p:cNvPr id="53" name="表 52"/>
          <p:cNvGraphicFramePr/>
          <p:nvPr>
            <p:extLst>
              <p:ext uri="{D42A27DB-BD31-4B8C-83A1-F6EECF244321}">
                <p14:modId xmlns:p14="http://schemas.microsoft.com/office/powerpoint/2010/main" val="4289356270"/>
              </p:ext>
            </p:extLst>
          </p:nvPr>
        </p:nvGraphicFramePr>
        <p:xfrm>
          <a:off x="381000" y="1257300"/>
          <a:ext cx="7620000" cy="2786274"/>
        </p:xfrm>
        <a:graphic>
          <a:graphicData uri="http://schemas.openxmlformats.org/drawingml/2006/table">
            <a:tbl>
              <a:tblPr/>
              <a:tblGrid>
                <a:gridCol w="1190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7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6849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tx1"/>
                          </a:solidFill>
                        </a:rPr>
                        <a:t>Requirement group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tx1"/>
                          </a:solidFill>
                        </a:rPr>
                        <a:t>Application-side check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Representation in the Reviewed Studies</a:t>
                      </a:r>
                      <a:endParaRPr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tx1"/>
                          </a:solidFill>
                        </a:rPr>
                        <a:t>Next clarification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343">
                <a:tc>
                  <a:txBody>
                    <a:bodyPr/>
                    <a:lstStyle/>
                    <a:p>
                      <a:pPr algn="l"/>
                      <a:r>
                        <a:rPr sz="1000" b="1" dirty="0">
                          <a:solidFill>
                            <a:srgbClr val="2F2F2F"/>
                          </a:solidFill>
                        </a:rPr>
                        <a:t>Scale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2F2F2F"/>
                          </a:solidFill>
                        </a:rPr>
                        <a:t>Customers, vehicles, customers/vehicle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2F2F2F"/>
                          </a:solidFill>
                        </a:rPr>
                        <a:t>Varies across studies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F2F2F"/>
                          </a:solidFill>
                        </a:rPr>
                        <a:t>Comparable scale indicators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8343">
                <a:tc>
                  <a:txBody>
                    <a:bodyPr/>
                    <a:lstStyle/>
                    <a:p>
                      <a:pPr marL="0" marR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2F2F2F"/>
                          </a:solidFill>
                        </a:rPr>
                        <a:t>Core Routing Constraints</a:t>
                      </a:r>
                      <a:endParaRPr sz="1000" b="1" dirty="0">
                        <a:solidFill>
                          <a:srgbClr val="2F2F2F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2F2F2F"/>
                          </a:solidFill>
                        </a:rPr>
                        <a:t>Payload, operating time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2F2F2F"/>
                          </a:solidFill>
                        </a:rPr>
                        <a:t>Partially represented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2F2F2F"/>
                          </a:solidFill>
                        </a:rPr>
                        <a:t>Common evaluation conditions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8343">
                <a:tc>
                  <a:txBody>
                    <a:bodyPr/>
                    <a:lstStyle/>
                    <a:p>
                      <a:pPr marL="0" marR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2F2F2F"/>
                          </a:solidFill>
                        </a:rPr>
                        <a:t>EV-Specific Operational Constraints</a:t>
                      </a:r>
                      <a:endParaRPr sz="1000" b="1" dirty="0">
                        <a:solidFill>
                          <a:srgbClr val="2F2F2F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F2F2F"/>
                          </a:solidFill>
                        </a:rPr>
                        <a:t>Range, SOC, charging access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2F2F2F"/>
                          </a:solidFill>
                        </a:rPr>
                        <a:t>Limited in reviewed set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2F2F2F"/>
                          </a:solidFill>
                        </a:rPr>
                        <a:t>EVRP-specific formulation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4099">
                <a:tc>
                  <a:txBody>
                    <a:bodyPr/>
                    <a:lstStyle/>
                    <a:p>
                      <a:pPr marL="0" marR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2F2F2F"/>
                          </a:solidFill>
                        </a:rPr>
                        <a:t>Evaluation and Validation Modality</a:t>
                      </a:r>
                      <a:endParaRPr sz="1000" b="1" dirty="0">
                        <a:solidFill>
                          <a:srgbClr val="2F2F2F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F2F2F"/>
                          </a:solidFill>
                        </a:rPr>
                        <a:t>Evidence type and comparison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2F2F2F"/>
                          </a:solidFill>
                        </a:rPr>
                        <a:t>Varies across studies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2F2F2F"/>
                          </a:solidFill>
                        </a:rPr>
                        <a:t>Representation vs validation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90315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Image 3">
            <a:extLst>
              <a:ext uri="{FF2B5EF4-FFF2-40B4-BE49-F238E27FC236}">
                <a16:creationId xmlns:a16="http://schemas.microsoft.com/office/drawing/2014/main" id="{7FB90279-F612-7583-42A4-72B5CFA7260C}"/>
              </a:ext>
            </a:extLst>
          </p:cNvPr>
          <p:cNvSpPr/>
          <p:nvPr/>
        </p:nvSpPr>
        <p:spPr>
          <a:xfrm>
            <a:off x="4330651" y="1451854"/>
            <a:ext cx="3609763" cy="2448798"/>
          </a:xfrm>
          <a:prstGeom prst="rect">
            <a:avLst/>
          </a:prstGeom>
          <a:solidFill>
            <a:srgbClr val="E6F2F4"/>
          </a:solidFill>
          <a:ln w="13491" cap="flat">
            <a:noFill/>
            <a:prstDash val="solid"/>
            <a:miter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Image 3">
            <a:extLst>
              <a:ext uri="{FF2B5EF4-FFF2-40B4-BE49-F238E27FC236}">
                <a16:creationId xmlns:a16="http://schemas.microsoft.com/office/drawing/2014/main" id="{FC018025-D23A-ABB2-6E54-60A98EF40959}"/>
              </a:ext>
            </a:extLst>
          </p:cNvPr>
          <p:cNvSpPr/>
          <p:nvPr/>
        </p:nvSpPr>
        <p:spPr>
          <a:xfrm>
            <a:off x="363806" y="1458185"/>
            <a:ext cx="3609763" cy="2448798"/>
          </a:xfrm>
          <a:prstGeom prst="rect">
            <a:avLst/>
          </a:prstGeom>
          <a:solidFill>
            <a:srgbClr val="E6F2F4"/>
          </a:solidFill>
          <a:ln w="13491" cap="flat">
            <a:noFill/>
            <a:prstDash val="solid"/>
            <a:miter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20">
            <a:extLst>
              <a:ext uri="{FF2B5EF4-FFF2-40B4-BE49-F238E27FC236}">
                <a16:creationId xmlns:a16="http://schemas.microsoft.com/office/drawing/2014/main" id="{5B7B8FFA-2B06-21FE-1815-7DF8DE25E5D3}"/>
              </a:ext>
            </a:extLst>
          </p:cNvPr>
          <p:cNvSpPr>
            <a:spLocks noGrp="1"/>
          </p:cNvSpPr>
          <p:nvPr/>
        </p:nvSpPr>
        <p:spPr>
          <a:xfrm>
            <a:off x="276278" y="307526"/>
            <a:ext cx="7819979" cy="2355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>
              <a:lnSpc>
                <a:spcPts val="1854"/>
              </a:lnSpc>
            </a:pPr>
            <a:r>
              <a:rPr lang="en-US" sz="2000" b="1" dirty="0"/>
              <a:t>Discussion: Two Directions for the Next Research Stage</a:t>
            </a:r>
          </a:p>
        </p:txBody>
      </p:sp>
      <p:pic>
        <p:nvPicPr>
          <p:cNvPr id="59" name="Image 1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6293" y="592730"/>
            <a:ext cx="7819949" cy="28575"/>
          </a:xfrm>
          <a:prstGeom prst="rect">
            <a:avLst/>
          </a:prstGeom>
        </p:spPr>
      </p:pic>
      <p:pic>
        <p:nvPicPr>
          <p:cNvPr id="60" name="Image 1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15076" y="592730"/>
            <a:ext cx="1125550" cy="28575"/>
          </a:xfrm>
          <a:prstGeom prst="rect">
            <a:avLst/>
          </a:prstGeom>
        </p:spPr>
      </p:pic>
      <p:sp>
        <p:nvSpPr>
          <p:cNvPr id="2" name="Text 12">
            <a:extLst>
              <a:ext uri="{FF2B5EF4-FFF2-40B4-BE49-F238E27FC236}">
                <a16:creationId xmlns:a16="http://schemas.microsoft.com/office/drawing/2014/main" id="{60C9B496-4F45-A67F-B0B8-F4E3CE788A59}"/>
              </a:ext>
            </a:extLst>
          </p:cNvPr>
          <p:cNvSpPr>
            <a:spLocks noGrp="1"/>
          </p:cNvSpPr>
          <p:nvPr/>
        </p:nvSpPr>
        <p:spPr>
          <a:xfrm>
            <a:off x="276297" y="786527"/>
            <a:ext cx="7819945" cy="44218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ts val="1741"/>
              </a:lnSpc>
              <a:buNone/>
            </a:pPr>
            <a:r>
              <a:rPr lang="ja-JP" altLang="ja-JP" sz="1600"/>
              <a:t>The next research stage can either increase the operational realism of the optimization problem or develop a broader framework linking problem instances, quantum-technology stages, and evolving transportation requirements.</a:t>
            </a:r>
            <a:endParaRPr sz="1600" dirty="0"/>
          </a:p>
        </p:txBody>
      </p:sp>
      <p:sp>
        <p:nvSpPr>
          <p:cNvPr id="6" name="Path A: Toward Real-World Optimization-heading">
            <a:extLst>
              <a:ext uri="{FF2B5EF4-FFF2-40B4-BE49-F238E27FC236}">
                <a16:creationId xmlns:a16="http://schemas.microsoft.com/office/drawing/2014/main" id="{84906036-9782-46D5-D239-81FF29FFD011}"/>
              </a:ext>
            </a:extLst>
          </p:cNvPr>
          <p:cNvSpPr>
            <a:spLocks noGrp="1"/>
          </p:cNvSpPr>
          <p:nvPr/>
        </p:nvSpPr>
        <p:spPr>
          <a:xfrm>
            <a:off x="363806" y="1533525"/>
            <a:ext cx="3609763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650" b="1">
                <a:solidFill>
                  <a:srgbClr val="008FA2"/>
                </a:solidFill>
              </a:defRPr>
            </a:pPr>
            <a:r>
              <a:rPr sz="1650" b="1" dirty="0">
                <a:solidFill>
                  <a:srgbClr val="008FA2"/>
                </a:solidFill>
              </a:rPr>
              <a:t>Toward Real-World</a:t>
            </a:r>
            <a:r>
              <a:rPr lang="en-US" sz="1650" b="1" dirty="0">
                <a:solidFill>
                  <a:srgbClr val="008FA2"/>
                </a:solidFill>
              </a:rPr>
              <a:t> </a:t>
            </a:r>
            <a:r>
              <a:rPr sz="1650" b="1" dirty="0">
                <a:solidFill>
                  <a:srgbClr val="008FA2"/>
                </a:solidFill>
              </a:rPr>
              <a:t>Optimization</a:t>
            </a:r>
          </a:p>
        </p:txBody>
      </p:sp>
      <p:sp>
        <p:nvSpPr>
          <p:cNvPr id="8" name="Path A: Toward Real-World Optimization-bullet-1">
            <a:extLst>
              <a:ext uri="{FF2B5EF4-FFF2-40B4-BE49-F238E27FC236}">
                <a16:creationId xmlns:a16="http://schemas.microsoft.com/office/drawing/2014/main" id="{5B39762B-D1B9-0207-E28C-4BAFC0543D8C}"/>
              </a:ext>
            </a:extLst>
          </p:cNvPr>
          <p:cNvSpPr>
            <a:spLocks noGrp="1"/>
          </p:cNvSpPr>
          <p:nvPr/>
        </p:nvSpPr>
        <p:spPr>
          <a:xfrm>
            <a:off x="537661" y="2133601"/>
            <a:ext cx="71559" cy="82538"/>
          </a:xfrm>
          <a:prstGeom prst="ellipse">
            <a:avLst/>
          </a:prstGeom>
          <a:solidFill>
            <a:srgbClr val="008FA2"/>
          </a:solidFill>
          <a:ln w="0">
            <a:solidFill>
              <a:srgbClr val="008FA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Path A: Toward Real-World Optimization-item-1">
            <a:extLst>
              <a:ext uri="{FF2B5EF4-FFF2-40B4-BE49-F238E27FC236}">
                <a16:creationId xmlns:a16="http://schemas.microsoft.com/office/drawing/2014/main" id="{D03FC2BE-3C92-55CC-7D7E-02D9FD9779DE}"/>
              </a:ext>
            </a:extLst>
          </p:cNvPr>
          <p:cNvSpPr>
            <a:spLocks noGrp="1"/>
          </p:cNvSpPr>
          <p:nvPr/>
        </p:nvSpPr>
        <p:spPr>
          <a:xfrm>
            <a:off x="728161" y="2057400"/>
            <a:ext cx="4419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>
                <a:solidFill>
                  <a:srgbClr val="252525"/>
                </a:solidFill>
              </a:defRPr>
            </a:pPr>
            <a:r>
              <a:rPr sz="1275" dirty="0">
                <a:solidFill>
                  <a:srgbClr val="252525"/>
                </a:solidFill>
              </a:rPr>
              <a:t>Road-network-based distances</a:t>
            </a:r>
          </a:p>
        </p:txBody>
      </p:sp>
      <p:sp>
        <p:nvSpPr>
          <p:cNvPr id="10" name="Path A: Toward Real-World Optimization-bullet-2">
            <a:extLst>
              <a:ext uri="{FF2B5EF4-FFF2-40B4-BE49-F238E27FC236}">
                <a16:creationId xmlns:a16="http://schemas.microsoft.com/office/drawing/2014/main" id="{4A8CD205-2138-57C9-5BD1-7C5328C055BC}"/>
              </a:ext>
            </a:extLst>
          </p:cNvPr>
          <p:cNvSpPr>
            <a:spLocks noGrp="1"/>
          </p:cNvSpPr>
          <p:nvPr/>
        </p:nvSpPr>
        <p:spPr>
          <a:xfrm>
            <a:off x="537661" y="2524126"/>
            <a:ext cx="71559" cy="82538"/>
          </a:xfrm>
          <a:prstGeom prst="ellipse">
            <a:avLst/>
          </a:prstGeom>
          <a:solidFill>
            <a:srgbClr val="008FA2"/>
          </a:solidFill>
          <a:ln w="0">
            <a:solidFill>
              <a:srgbClr val="008FA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Path A: Toward Real-World Optimization-item-2">
            <a:extLst>
              <a:ext uri="{FF2B5EF4-FFF2-40B4-BE49-F238E27FC236}">
                <a16:creationId xmlns:a16="http://schemas.microsoft.com/office/drawing/2014/main" id="{F5338007-20E9-A83A-58B1-5316E6DFC159}"/>
              </a:ext>
            </a:extLst>
          </p:cNvPr>
          <p:cNvSpPr>
            <a:spLocks noGrp="1"/>
          </p:cNvSpPr>
          <p:nvPr/>
        </p:nvSpPr>
        <p:spPr>
          <a:xfrm>
            <a:off x="728161" y="2447925"/>
            <a:ext cx="4419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>
                <a:solidFill>
                  <a:srgbClr val="252525"/>
                </a:solidFill>
              </a:defRPr>
            </a:pPr>
            <a:r>
              <a:rPr sz="1275">
                <a:solidFill>
                  <a:srgbClr val="252525"/>
                </a:solidFill>
              </a:rPr>
              <a:t>Calibrated or observed demand</a:t>
            </a:r>
          </a:p>
        </p:txBody>
      </p:sp>
      <p:sp>
        <p:nvSpPr>
          <p:cNvPr id="12" name="Path A: Toward Real-World Optimization-bullet-3">
            <a:extLst>
              <a:ext uri="{FF2B5EF4-FFF2-40B4-BE49-F238E27FC236}">
                <a16:creationId xmlns:a16="http://schemas.microsoft.com/office/drawing/2014/main" id="{E6C33039-734A-C885-88EC-6ACC668E1B89}"/>
              </a:ext>
            </a:extLst>
          </p:cNvPr>
          <p:cNvSpPr>
            <a:spLocks noGrp="1"/>
          </p:cNvSpPr>
          <p:nvPr/>
        </p:nvSpPr>
        <p:spPr>
          <a:xfrm>
            <a:off x="537661" y="2914651"/>
            <a:ext cx="71559" cy="82538"/>
          </a:xfrm>
          <a:prstGeom prst="ellipse">
            <a:avLst/>
          </a:prstGeom>
          <a:solidFill>
            <a:srgbClr val="008FA2"/>
          </a:solidFill>
          <a:ln w="0">
            <a:solidFill>
              <a:srgbClr val="008FA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Path A: Toward Real-World Optimization-item-3">
            <a:extLst>
              <a:ext uri="{FF2B5EF4-FFF2-40B4-BE49-F238E27FC236}">
                <a16:creationId xmlns:a16="http://schemas.microsoft.com/office/drawing/2014/main" id="{A66A3E09-6C16-1D4B-D57C-57658733E883}"/>
              </a:ext>
            </a:extLst>
          </p:cNvPr>
          <p:cNvSpPr>
            <a:spLocks noGrp="1"/>
          </p:cNvSpPr>
          <p:nvPr/>
        </p:nvSpPr>
        <p:spPr>
          <a:xfrm>
            <a:off x="728161" y="2838450"/>
            <a:ext cx="4419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>
                <a:solidFill>
                  <a:srgbClr val="252525"/>
                </a:solidFill>
              </a:defRPr>
            </a:pPr>
            <a:r>
              <a:rPr sz="1275" dirty="0">
                <a:solidFill>
                  <a:srgbClr val="252525"/>
                </a:solidFill>
              </a:rPr>
              <a:t>Time windows, SOC, and charging dynamics</a:t>
            </a:r>
          </a:p>
        </p:txBody>
      </p:sp>
      <p:sp>
        <p:nvSpPr>
          <p:cNvPr id="14" name="Path A: Toward Real-World Optimization-bullet-4">
            <a:extLst>
              <a:ext uri="{FF2B5EF4-FFF2-40B4-BE49-F238E27FC236}">
                <a16:creationId xmlns:a16="http://schemas.microsoft.com/office/drawing/2014/main" id="{5DCC5F16-F610-6BC2-E327-C845A831D46A}"/>
              </a:ext>
            </a:extLst>
          </p:cNvPr>
          <p:cNvSpPr>
            <a:spLocks noGrp="1"/>
          </p:cNvSpPr>
          <p:nvPr/>
        </p:nvSpPr>
        <p:spPr>
          <a:xfrm>
            <a:off x="537661" y="3305176"/>
            <a:ext cx="71559" cy="82538"/>
          </a:xfrm>
          <a:prstGeom prst="ellipse">
            <a:avLst/>
          </a:prstGeom>
          <a:solidFill>
            <a:srgbClr val="008FA2"/>
          </a:solidFill>
          <a:ln w="0">
            <a:solidFill>
              <a:srgbClr val="008FA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Path A: Toward Real-World Optimization-item-4">
            <a:extLst>
              <a:ext uri="{FF2B5EF4-FFF2-40B4-BE49-F238E27FC236}">
                <a16:creationId xmlns:a16="http://schemas.microsoft.com/office/drawing/2014/main" id="{9120DF69-097C-9104-A4D4-13EA36CF8354}"/>
              </a:ext>
            </a:extLst>
          </p:cNvPr>
          <p:cNvSpPr>
            <a:spLocks noGrp="1"/>
          </p:cNvSpPr>
          <p:nvPr/>
        </p:nvSpPr>
        <p:spPr>
          <a:xfrm>
            <a:off x="728161" y="3228975"/>
            <a:ext cx="4419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>
                <a:solidFill>
                  <a:srgbClr val="252525"/>
                </a:solidFill>
              </a:defRPr>
            </a:pPr>
            <a:r>
              <a:rPr sz="1275">
                <a:solidFill>
                  <a:srgbClr val="252525"/>
                </a:solidFill>
              </a:rPr>
              <a:t>Classical optimization baseline</a:t>
            </a:r>
          </a:p>
        </p:txBody>
      </p:sp>
      <p:sp>
        <p:nvSpPr>
          <p:cNvPr id="16" name="Path A: Toward Real-World Optimization-bullet-5">
            <a:extLst>
              <a:ext uri="{FF2B5EF4-FFF2-40B4-BE49-F238E27FC236}">
                <a16:creationId xmlns:a16="http://schemas.microsoft.com/office/drawing/2014/main" id="{EF657EDB-E4B1-488D-301C-BF113D2B4C59}"/>
              </a:ext>
            </a:extLst>
          </p:cNvPr>
          <p:cNvSpPr>
            <a:spLocks noGrp="1"/>
          </p:cNvSpPr>
          <p:nvPr/>
        </p:nvSpPr>
        <p:spPr>
          <a:xfrm>
            <a:off x="537661" y="3695701"/>
            <a:ext cx="71559" cy="82538"/>
          </a:xfrm>
          <a:prstGeom prst="ellipse">
            <a:avLst/>
          </a:prstGeom>
          <a:solidFill>
            <a:srgbClr val="008FA2"/>
          </a:solidFill>
          <a:ln w="0">
            <a:solidFill>
              <a:srgbClr val="008FA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Path A: Toward Real-World Optimization-item-5">
            <a:extLst>
              <a:ext uri="{FF2B5EF4-FFF2-40B4-BE49-F238E27FC236}">
                <a16:creationId xmlns:a16="http://schemas.microsoft.com/office/drawing/2014/main" id="{29FDA327-578C-50AF-18CE-35E1A3743B8A}"/>
              </a:ext>
            </a:extLst>
          </p:cNvPr>
          <p:cNvSpPr>
            <a:spLocks noGrp="1"/>
          </p:cNvSpPr>
          <p:nvPr/>
        </p:nvSpPr>
        <p:spPr>
          <a:xfrm>
            <a:off x="728161" y="3619500"/>
            <a:ext cx="4419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>
                <a:solidFill>
                  <a:srgbClr val="252525"/>
                </a:solidFill>
              </a:defRPr>
            </a:pPr>
            <a:r>
              <a:rPr sz="1275">
                <a:solidFill>
                  <a:srgbClr val="252525"/>
                </a:solidFill>
              </a:rPr>
              <a:t>Operational validation</a:t>
            </a: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45CB8B42-E5A6-F0DC-75AA-79D657DB01B7}"/>
              </a:ext>
            </a:extLst>
          </p:cNvPr>
          <p:cNvSpPr txBox="1"/>
          <p:nvPr/>
        </p:nvSpPr>
        <p:spPr>
          <a:xfrm>
            <a:off x="527501" y="4207090"/>
            <a:ext cx="36097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2525"/>
                </a:solidFill>
              </a:defRPr>
            </a:pPr>
            <a:r>
              <a:rPr lang="en-US" altLang="ja-JP" sz="1200" b="1" dirty="0">
                <a:solidFill>
                  <a:srgbClr val="252525"/>
                </a:solidFill>
              </a:rPr>
              <a:t>A more realistic and validated transportation-optimization study</a:t>
            </a:r>
          </a:p>
        </p:txBody>
      </p:sp>
      <p:sp>
        <p:nvSpPr>
          <p:cNvPr id="52" name="Image 8">
            <a:extLst>
              <a:ext uri="{FF2B5EF4-FFF2-40B4-BE49-F238E27FC236}">
                <a16:creationId xmlns:a16="http://schemas.microsoft.com/office/drawing/2014/main" id="{CAA9FE47-0F72-C0B0-6242-E4B94E7A5D71}"/>
              </a:ext>
            </a:extLst>
          </p:cNvPr>
          <p:cNvSpPr/>
          <p:nvPr/>
        </p:nvSpPr>
        <p:spPr>
          <a:xfrm rot="5400000">
            <a:off x="1981410" y="3846524"/>
            <a:ext cx="201618" cy="500325"/>
          </a:xfrm>
          <a:custGeom>
            <a:avLst/>
            <a:gdLst>
              <a:gd name="csX0" fmla="*/ 0 w 186530"/>
              <a:gd name="csY0" fmla="*/ 97340 h 324465"/>
              <a:gd name="csX1" fmla="*/ 106589 w 186530"/>
              <a:gd name="csY1" fmla="*/ 97340 h 324465"/>
              <a:gd name="csX2" fmla="*/ 106589 w 186530"/>
              <a:gd name="csY2" fmla="*/ 0 h 324465"/>
              <a:gd name="csX3" fmla="*/ 186530 w 186530"/>
              <a:gd name="csY3" fmla="*/ 162233 h 324465"/>
              <a:gd name="csX4" fmla="*/ 106589 w 186530"/>
              <a:gd name="csY4" fmla="*/ 324466 h 324465"/>
              <a:gd name="csX5" fmla="*/ 106589 w 186530"/>
              <a:gd name="csY5" fmla="*/ 227126 h 324465"/>
              <a:gd name="csX6" fmla="*/ 0 w 186530"/>
              <a:gd name="csY6" fmla="*/ 227126 h 3244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86530" h="324465">
                <a:moveTo>
                  <a:pt x="0" y="97340"/>
                </a:moveTo>
                <a:lnTo>
                  <a:pt x="106589" y="97340"/>
                </a:lnTo>
                <a:lnTo>
                  <a:pt x="106589" y="0"/>
                </a:lnTo>
                <a:lnTo>
                  <a:pt x="186530" y="162233"/>
                </a:lnTo>
                <a:lnTo>
                  <a:pt x="106589" y="324466"/>
                </a:lnTo>
                <a:lnTo>
                  <a:pt x="106589" y="227126"/>
                </a:lnTo>
                <a:lnTo>
                  <a:pt x="0" y="227126"/>
                </a:lnTo>
                <a:close/>
              </a:path>
            </a:pathLst>
          </a:custGeom>
          <a:solidFill>
            <a:srgbClr val="007E8F"/>
          </a:solidFill>
          <a:ln w="2221" cap="flat">
            <a:noFill/>
            <a:prstDash val="solid"/>
            <a:miter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5" name="Path B: Toward an Application-Stage Framework-heading">
            <a:extLst>
              <a:ext uri="{FF2B5EF4-FFF2-40B4-BE49-F238E27FC236}">
                <a16:creationId xmlns:a16="http://schemas.microsoft.com/office/drawing/2014/main" id="{623EFC3D-E659-3B28-D146-A3DFEA6DC776}"/>
              </a:ext>
            </a:extLst>
          </p:cNvPr>
          <p:cNvSpPr>
            <a:spLocks noGrp="1"/>
          </p:cNvSpPr>
          <p:nvPr/>
        </p:nvSpPr>
        <p:spPr>
          <a:xfrm>
            <a:off x="4267200" y="1514726"/>
            <a:ext cx="4686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650" b="1">
                <a:solidFill>
                  <a:srgbClr val="008FA2"/>
                </a:solidFill>
              </a:defRPr>
            </a:pPr>
            <a:r>
              <a:rPr sz="1650" b="1" dirty="0">
                <a:solidFill>
                  <a:srgbClr val="008FA2"/>
                </a:solidFill>
              </a:rPr>
              <a:t>Toward an Application-Stage Framework</a:t>
            </a:r>
          </a:p>
        </p:txBody>
      </p:sp>
      <p:sp>
        <p:nvSpPr>
          <p:cNvPr id="56" name="Path B: Toward an Application-Stage Framework-bullet-1">
            <a:extLst>
              <a:ext uri="{FF2B5EF4-FFF2-40B4-BE49-F238E27FC236}">
                <a16:creationId xmlns:a16="http://schemas.microsoft.com/office/drawing/2014/main" id="{0A1D861F-0CD3-B1BF-61E3-6060713F10BA}"/>
              </a:ext>
            </a:extLst>
          </p:cNvPr>
          <p:cNvSpPr>
            <a:spLocks noGrp="1"/>
          </p:cNvSpPr>
          <p:nvPr/>
        </p:nvSpPr>
        <p:spPr>
          <a:xfrm>
            <a:off x="4447009" y="2024314"/>
            <a:ext cx="85725" cy="85725"/>
          </a:xfrm>
          <a:prstGeom prst="ellipse">
            <a:avLst/>
          </a:prstGeom>
          <a:solidFill>
            <a:srgbClr val="008FA2"/>
          </a:solidFill>
          <a:ln w="0">
            <a:solidFill>
              <a:srgbClr val="008FA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7" name="Path B: Toward an Application-Stage Framework-item-1">
            <a:extLst>
              <a:ext uri="{FF2B5EF4-FFF2-40B4-BE49-F238E27FC236}">
                <a16:creationId xmlns:a16="http://schemas.microsoft.com/office/drawing/2014/main" id="{FE0B1854-712E-FC8F-F06E-4DA18C69EBDD}"/>
              </a:ext>
            </a:extLst>
          </p:cNvPr>
          <p:cNvSpPr>
            <a:spLocks noGrp="1"/>
          </p:cNvSpPr>
          <p:nvPr/>
        </p:nvSpPr>
        <p:spPr>
          <a:xfrm>
            <a:off x="4637509" y="1924050"/>
            <a:ext cx="4419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>
                <a:solidFill>
                  <a:srgbClr val="252525"/>
                </a:solidFill>
              </a:defRPr>
            </a:pPr>
            <a:r>
              <a:rPr sz="1275">
                <a:solidFill>
                  <a:srgbClr val="252525"/>
                </a:solidFill>
              </a:rPr>
              <a:t>Problem instances and required constraints</a:t>
            </a:r>
          </a:p>
        </p:txBody>
      </p:sp>
      <p:sp>
        <p:nvSpPr>
          <p:cNvPr id="58" name="Path B: Toward an Application-Stage Framework-bullet-2">
            <a:extLst>
              <a:ext uri="{FF2B5EF4-FFF2-40B4-BE49-F238E27FC236}">
                <a16:creationId xmlns:a16="http://schemas.microsoft.com/office/drawing/2014/main" id="{44509119-E39F-E457-185C-99FEE9BC0C06}"/>
              </a:ext>
            </a:extLst>
          </p:cNvPr>
          <p:cNvSpPr>
            <a:spLocks noGrp="1"/>
          </p:cNvSpPr>
          <p:nvPr/>
        </p:nvSpPr>
        <p:spPr>
          <a:xfrm>
            <a:off x="4447009" y="2414839"/>
            <a:ext cx="85725" cy="85725"/>
          </a:xfrm>
          <a:prstGeom prst="ellipse">
            <a:avLst/>
          </a:prstGeom>
          <a:solidFill>
            <a:srgbClr val="008FA2"/>
          </a:solidFill>
          <a:ln w="0">
            <a:solidFill>
              <a:srgbClr val="008FA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1" name="Path B: Toward an Application-Stage Framework-item-2">
            <a:extLst>
              <a:ext uri="{FF2B5EF4-FFF2-40B4-BE49-F238E27FC236}">
                <a16:creationId xmlns:a16="http://schemas.microsoft.com/office/drawing/2014/main" id="{165806D7-CE37-9464-FDC6-7E3EC0128ADA}"/>
              </a:ext>
            </a:extLst>
          </p:cNvPr>
          <p:cNvSpPr>
            <a:spLocks noGrp="1"/>
          </p:cNvSpPr>
          <p:nvPr/>
        </p:nvSpPr>
        <p:spPr>
          <a:xfrm>
            <a:off x="4637509" y="2314575"/>
            <a:ext cx="4419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>
                <a:solidFill>
                  <a:srgbClr val="252525"/>
                </a:solidFill>
              </a:defRPr>
            </a:pPr>
            <a:r>
              <a:rPr sz="1275">
                <a:solidFill>
                  <a:srgbClr val="252525"/>
                </a:solidFill>
              </a:rPr>
              <a:t>Expected quantum-technology stages</a:t>
            </a:r>
          </a:p>
        </p:txBody>
      </p:sp>
      <p:sp>
        <p:nvSpPr>
          <p:cNvPr id="62" name="Path B: Toward an Application-Stage Framework-bullet-3">
            <a:extLst>
              <a:ext uri="{FF2B5EF4-FFF2-40B4-BE49-F238E27FC236}">
                <a16:creationId xmlns:a16="http://schemas.microsoft.com/office/drawing/2014/main" id="{075E5531-B137-587A-F100-3E42547FA846}"/>
              </a:ext>
            </a:extLst>
          </p:cNvPr>
          <p:cNvSpPr>
            <a:spLocks noGrp="1"/>
          </p:cNvSpPr>
          <p:nvPr/>
        </p:nvSpPr>
        <p:spPr>
          <a:xfrm>
            <a:off x="4447009" y="2805364"/>
            <a:ext cx="85725" cy="85725"/>
          </a:xfrm>
          <a:prstGeom prst="ellipse">
            <a:avLst/>
          </a:prstGeom>
          <a:solidFill>
            <a:srgbClr val="008FA2"/>
          </a:solidFill>
          <a:ln w="0">
            <a:solidFill>
              <a:srgbClr val="008FA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Path B: Toward an Application-Stage Framework-item-3">
            <a:extLst>
              <a:ext uri="{FF2B5EF4-FFF2-40B4-BE49-F238E27FC236}">
                <a16:creationId xmlns:a16="http://schemas.microsoft.com/office/drawing/2014/main" id="{5DFEFE8F-D969-569C-0807-F4195E5652DF}"/>
              </a:ext>
            </a:extLst>
          </p:cNvPr>
          <p:cNvSpPr>
            <a:spLocks noGrp="1"/>
          </p:cNvSpPr>
          <p:nvPr/>
        </p:nvSpPr>
        <p:spPr>
          <a:xfrm>
            <a:off x="4637509" y="2705100"/>
            <a:ext cx="4419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>
                <a:solidFill>
                  <a:srgbClr val="252525"/>
                </a:solidFill>
              </a:defRPr>
            </a:pPr>
            <a:r>
              <a:rPr sz="1275">
                <a:solidFill>
                  <a:srgbClr val="252525"/>
                </a:solidFill>
              </a:rPr>
              <a:t>Staged quantum utility</a:t>
            </a:r>
          </a:p>
        </p:txBody>
      </p:sp>
      <p:sp>
        <p:nvSpPr>
          <p:cNvPr id="64" name="Path B: Toward an Application-Stage Framework-bullet-4">
            <a:extLst>
              <a:ext uri="{FF2B5EF4-FFF2-40B4-BE49-F238E27FC236}">
                <a16:creationId xmlns:a16="http://schemas.microsoft.com/office/drawing/2014/main" id="{A2FDF5CA-049B-C8B9-AE2C-89C8E3972E72}"/>
              </a:ext>
            </a:extLst>
          </p:cNvPr>
          <p:cNvSpPr>
            <a:spLocks noGrp="1"/>
          </p:cNvSpPr>
          <p:nvPr/>
        </p:nvSpPr>
        <p:spPr>
          <a:xfrm>
            <a:off x="4447009" y="3195889"/>
            <a:ext cx="85725" cy="85725"/>
          </a:xfrm>
          <a:prstGeom prst="ellipse">
            <a:avLst/>
          </a:prstGeom>
          <a:solidFill>
            <a:srgbClr val="008FA2"/>
          </a:solidFill>
          <a:ln w="0">
            <a:solidFill>
              <a:srgbClr val="008FA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5" name="Path B: Toward an Application-Stage Framework-item-4">
            <a:extLst>
              <a:ext uri="{FF2B5EF4-FFF2-40B4-BE49-F238E27FC236}">
                <a16:creationId xmlns:a16="http://schemas.microsoft.com/office/drawing/2014/main" id="{3A9EBBD1-16EF-CA64-B8C1-3F7429104159}"/>
              </a:ext>
            </a:extLst>
          </p:cNvPr>
          <p:cNvSpPr>
            <a:spLocks noGrp="1"/>
          </p:cNvSpPr>
          <p:nvPr/>
        </p:nvSpPr>
        <p:spPr>
          <a:xfrm>
            <a:off x="4637509" y="3095625"/>
            <a:ext cx="4419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>
                <a:solidFill>
                  <a:srgbClr val="252525"/>
                </a:solidFill>
              </a:defRPr>
            </a:pPr>
            <a:r>
              <a:rPr sz="1275" dirty="0">
                <a:solidFill>
                  <a:srgbClr val="252525"/>
                </a:solidFill>
              </a:rPr>
              <a:t>Adjacent technologies: materials, batteries</a:t>
            </a:r>
          </a:p>
        </p:txBody>
      </p:sp>
      <p:sp>
        <p:nvSpPr>
          <p:cNvPr id="66" name="Path B: Toward an Application-Stage Framework-bullet-5">
            <a:extLst>
              <a:ext uri="{FF2B5EF4-FFF2-40B4-BE49-F238E27FC236}">
                <a16:creationId xmlns:a16="http://schemas.microsoft.com/office/drawing/2014/main" id="{12FA34D2-F06B-D090-F60A-C6E698B421D1}"/>
              </a:ext>
            </a:extLst>
          </p:cNvPr>
          <p:cNvSpPr>
            <a:spLocks noGrp="1"/>
          </p:cNvSpPr>
          <p:nvPr/>
        </p:nvSpPr>
        <p:spPr>
          <a:xfrm>
            <a:off x="4447009" y="3586414"/>
            <a:ext cx="85725" cy="85725"/>
          </a:xfrm>
          <a:prstGeom prst="ellipse">
            <a:avLst/>
          </a:prstGeom>
          <a:solidFill>
            <a:srgbClr val="008FA2"/>
          </a:solidFill>
          <a:ln w="0">
            <a:solidFill>
              <a:srgbClr val="008FA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0" name="Path B: Toward an Application-Stage Framework-item-5">
            <a:extLst>
              <a:ext uri="{FF2B5EF4-FFF2-40B4-BE49-F238E27FC236}">
                <a16:creationId xmlns:a16="http://schemas.microsoft.com/office/drawing/2014/main" id="{057631CD-B971-9F85-6818-3DE1613C41AE}"/>
              </a:ext>
            </a:extLst>
          </p:cNvPr>
          <p:cNvSpPr>
            <a:spLocks noGrp="1"/>
          </p:cNvSpPr>
          <p:nvPr/>
        </p:nvSpPr>
        <p:spPr>
          <a:xfrm>
            <a:off x="4637509" y="3486150"/>
            <a:ext cx="4419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>
                <a:solidFill>
                  <a:srgbClr val="252525"/>
                </a:solidFill>
              </a:defRPr>
            </a:pPr>
            <a:r>
              <a:rPr sz="1275" dirty="0">
                <a:solidFill>
                  <a:srgbClr val="252525"/>
                </a:solidFill>
              </a:rPr>
              <a:t>Expert expectations and social requirements</a:t>
            </a:r>
          </a:p>
        </p:txBody>
      </p:sp>
      <p:sp>
        <p:nvSpPr>
          <p:cNvPr id="71" name="Path B: Toward an Application-Stage Framework-outcome-text">
            <a:extLst>
              <a:ext uri="{FF2B5EF4-FFF2-40B4-BE49-F238E27FC236}">
                <a16:creationId xmlns:a16="http://schemas.microsoft.com/office/drawing/2014/main" id="{8038A586-267C-530D-9FEB-249A86877340}"/>
              </a:ext>
            </a:extLst>
          </p:cNvPr>
          <p:cNvSpPr>
            <a:spLocks noGrp="1"/>
          </p:cNvSpPr>
          <p:nvPr/>
        </p:nvSpPr>
        <p:spPr>
          <a:xfrm>
            <a:off x="4144884" y="4220256"/>
            <a:ext cx="3998383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1">
                <a:solidFill>
                  <a:srgbClr val="252525"/>
                </a:solidFill>
              </a:defRPr>
            </a:pPr>
            <a:r>
              <a:rPr sz="1200" b="1" dirty="0">
                <a:solidFill>
                  <a:srgbClr val="252525"/>
                </a:solidFill>
              </a:rPr>
              <a:t>A framework for examining how application requirements evolve with quantum and transportation technologies</a:t>
            </a:r>
          </a:p>
        </p:txBody>
      </p:sp>
      <p:sp>
        <p:nvSpPr>
          <p:cNvPr id="74" name="Image 8">
            <a:extLst>
              <a:ext uri="{FF2B5EF4-FFF2-40B4-BE49-F238E27FC236}">
                <a16:creationId xmlns:a16="http://schemas.microsoft.com/office/drawing/2014/main" id="{2DE36437-3965-82D4-1A52-765B916AAABA}"/>
              </a:ext>
            </a:extLst>
          </p:cNvPr>
          <p:cNvSpPr/>
          <p:nvPr/>
        </p:nvSpPr>
        <p:spPr>
          <a:xfrm rot="5400000">
            <a:off x="6068245" y="3832782"/>
            <a:ext cx="201618" cy="500325"/>
          </a:xfrm>
          <a:custGeom>
            <a:avLst/>
            <a:gdLst>
              <a:gd name="csX0" fmla="*/ 0 w 186530"/>
              <a:gd name="csY0" fmla="*/ 97340 h 324465"/>
              <a:gd name="csX1" fmla="*/ 106589 w 186530"/>
              <a:gd name="csY1" fmla="*/ 97340 h 324465"/>
              <a:gd name="csX2" fmla="*/ 106589 w 186530"/>
              <a:gd name="csY2" fmla="*/ 0 h 324465"/>
              <a:gd name="csX3" fmla="*/ 186530 w 186530"/>
              <a:gd name="csY3" fmla="*/ 162233 h 324465"/>
              <a:gd name="csX4" fmla="*/ 106589 w 186530"/>
              <a:gd name="csY4" fmla="*/ 324466 h 324465"/>
              <a:gd name="csX5" fmla="*/ 106589 w 186530"/>
              <a:gd name="csY5" fmla="*/ 227126 h 324465"/>
              <a:gd name="csX6" fmla="*/ 0 w 186530"/>
              <a:gd name="csY6" fmla="*/ 227126 h 3244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86530" h="324465">
                <a:moveTo>
                  <a:pt x="0" y="97340"/>
                </a:moveTo>
                <a:lnTo>
                  <a:pt x="106589" y="97340"/>
                </a:lnTo>
                <a:lnTo>
                  <a:pt x="106589" y="0"/>
                </a:lnTo>
                <a:lnTo>
                  <a:pt x="186530" y="162233"/>
                </a:lnTo>
                <a:lnTo>
                  <a:pt x="106589" y="324466"/>
                </a:lnTo>
                <a:lnTo>
                  <a:pt x="106589" y="227126"/>
                </a:lnTo>
                <a:lnTo>
                  <a:pt x="0" y="227126"/>
                </a:lnTo>
                <a:close/>
              </a:path>
            </a:pathLst>
          </a:custGeom>
          <a:solidFill>
            <a:srgbClr val="007E8F"/>
          </a:solidFill>
          <a:ln w="2221" cap="flat">
            <a:noFill/>
            <a:prstDash val="solid"/>
            <a:miter/>
          </a:ln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004044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62186" y="724426"/>
            <a:ext cx="3580176" cy="294051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3485850" y="787542"/>
            <a:ext cx="895350" cy="18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81"/>
              </a:lnSpc>
              <a:buNone/>
            </a:pPr>
            <a:r>
              <a:rPr lang="en-US" sz="1050" b="1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Application Study</a:t>
            </a:r>
            <a:endParaRPr lang="en-US" sz="1050" dirty="0"/>
          </a:p>
        </p:txBody>
      </p:sp>
      <p:sp>
        <p:nvSpPr>
          <p:cNvPr id="11" name="Text 4"/>
          <p:cNvSpPr/>
          <p:nvPr/>
        </p:nvSpPr>
        <p:spPr>
          <a:xfrm>
            <a:off x="4457700" y="1481209"/>
            <a:ext cx="895350" cy="18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81"/>
              </a:lnSpc>
              <a:buNone/>
            </a:pPr>
            <a:r>
              <a:rPr lang="en-US" sz="1050" b="1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Reference [7]</a:t>
            </a:r>
            <a:endParaRPr lang="en-US" sz="1050" dirty="0"/>
          </a:p>
        </p:txBody>
      </p:sp>
      <p:sp>
        <p:nvSpPr>
          <p:cNvPr id="16" name="Text 9"/>
          <p:cNvSpPr/>
          <p:nvPr/>
        </p:nvSpPr>
        <p:spPr>
          <a:xfrm>
            <a:off x="276278" y="307111"/>
            <a:ext cx="7819979" cy="232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30"/>
              </a:lnSpc>
              <a:buNone/>
            </a:pPr>
            <a:r>
              <a:rPr lang="en-US" sz="1275" b="1" u="none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1. literatures</a:t>
            </a:r>
            <a:r>
              <a:rPr lang="en-US" sz="1275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and Open Data</a:t>
            </a:r>
            <a:endParaRPr lang="en-US" sz="1275" dirty="0"/>
          </a:p>
        </p:txBody>
      </p:sp>
      <p:sp>
        <p:nvSpPr>
          <p:cNvPr id="17" name="Text 10"/>
          <p:cNvSpPr/>
          <p:nvPr/>
        </p:nvSpPr>
        <p:spPr>
          <a:xfrm>
            <a:off x="276297" y="647694"/>
            <a:ext cx="781994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6293" y="592730"/>
            <a:ext cx="7819949" cy="28575"/>
          </a:xfrm>
          <a:prstGeom prst="rect">
            <a:avLst/>
          </a:prstGeom>
        </p:spPr>
      </p:pic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70692" y="592730"/>
            <a:ext cx="1125550" cy="28575"/>
          </a:xfrm>
          <a:prstGeom prst="rect">
            <a:avLst/>
          </a:prstGeom>
        </p:spPr>
      </p:pic>
      <p:sp>
        <p:nvSpPr>
          <p:cNvPr id="2" name="Text 1">
            <a:extLst>
              <a:ext uri="{FF2B5EF4-FFF2-40B4-BE49-F238E27FC236}">
                <a16:creationId xmlns:a16="http://schemas.microsoft.com/office/drawing/2014/main" id="{E6712A6E-CBFB-3BA5-A943-84A28C8B9896}"/>
              </a:ext>
            </a:extLst>
          </p:cNvPr>
          <p:cNvSpPr/>
          <p:nvPr/>
        </p:nvSpPr>
        <p:spPr>
          <a:xfrm>
            <a:off x="276278" y="1200676"/>
            <a:ext cx="7314495" cy="32162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713"/>
              </a:lnSpc>
            </a:pPr>
            <a:endParaRPr lang="en-US" sz="1050" dirty="0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5FE6DD8D-6CE4-978E-E096-D9CD8F46677C}"/>
              </a:ext>
            </a:extLst>
          </p:cNvPr>
          <p:cNvSpPr/>
          <p:nvPr/>
        </p:nvSpPr>
        <p:spPr>
          <a:xfrm>
            <a:off x="438411" y="1256313"/>
            <a:ext cx="7478038" cy="30982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kumimoji="1" lang="en-US" altLang="ja-JP" sz="1000" b="1" dirty="0">
                <a:solidFill>
                  <a:schemeClr val="tx1"/>
                </a:solidFill>
              </a:rPr>
              <a:t>Quantum Routing Studies Reviewed for Circuit-Width Extraction</a:t>
            </a:r>
          </a:p>
          <a:p>
            <a:pPr>
              <a:lnSpc>
                <a:spcPts val="1800"/>
              </a:lnSpc>
            </a:pPr>
            <a:r>
              <a:rPr kumimoji="1" lang="en-US" altLang="ja-JP" sz="1000" dirty="0">
                <a:solidFill>
                  <a:schemeClr val="tx1"/>
                </a:solidFill>
              </a:rPr>
              <a:t>Azad et al. (2020) Solving Vehicle Routing Problem Using Quantum Approximate Optimization Algorithm. arXiv:2002.01351</a:t>
            </a:r>
            <a:br>
              <a:rPr kumimoji="1" lang="en-US" altLang="ja-JP" sz="1000" dirty="0">
                <a:solidFill>
                  <a:schemeClr val="tx1"/>
                </a:solidFill>
              </a:rPr>
            </a:br>
            <a:r>
              <a:rPr kumimoji="1" lang="en-US" altLang="ja-JP" sz="1000" dirty="0">
                <a:solidFill>
                  <a:schemeClr val="tx1"/>
                </a:solidFill>
              </a:rPr>
              <a:t>https://</a:t>
            </a:r>
            <a:r>
              <a:rPr kumimoji="1" lang="en-US" altLang="ja-JP" sz="1000" dirty="0" err="1">
                <a:solidFill>
                  <a:schemeClr val="tx1"/>
                </a:solidFill>
              </a:rPr>
              <a:t>arxiv.org</a:t>
            </a:r>
            <a:r>
              <a:rPr kumimoji="1" lang="en-US" altLang="ja-JP" sz="1000" dirty="0">
                <a:solidFill>
                  <a:schemeClr val="tx1"/>
                </a:solidFill>
              </a:rPr>
              <a:t>/abs/2002.01351</a:t>
            </a:r>
          </a:p>
          <a:p>
            <a:pPr>
              <a:lnSpc>
                <a:spcPts val="1800"/>
              </a:lnSpc>
            </a:pPr>
            <a:r>
              <a:rPr kumimoji="1" lang="en-US" altLang="ja-JP" sz="1000" dirty="0" err="1">
                <a:solidFill>
                  <a:schemeClr val="tx1"/>
                </a:solidFill>
              </a:rPr>
              <a:t>Palackal</a:t>
            </a:r>
            <a:r>
              <a:rPr kumimoji="1" lang="en-US" altLang="ja-JP" sz="1000" dirty="0">
                <a:solidFill>
                  <a:schemeClr val="tx1"/>
                </a:solidFill>
              </a:rPr>
              <a:t> et al. (2023) Quantum-Assisted Solution Paths for the Capacitated Vehicle Routing Problem. arXiv:2304.09629</a:t>
            </a:r>
            <a:br>
              <a:rPr kumimoji="1" lang="en-US" altLang="ja-JP" sz="1000" dirty="0">
                <a:solidFill>
                  <a:schemeClr val="tx1"/>
                </a:solidFill>
              </a:rPr>
            </a:br>
            <a:r>
              <a:rPr kumimoji="1" lang="en-US" altLang="ja-JP" sz="1000" dirty="0">
                <a:solidFill>
                  <a:schemeClr val="tx1"/>
                </a:solidFill>
              </a:rPr>
              <a:t>https://</a:t>
            </a:r>
            <a:r>
              <a:rPr kumimoji="1" lang="en-US" altLang="ja-JP" sz="1000" dirty="0" err="1">
                <a:solidFill>
                  <a:schemeClr val="tx1"/>
                </a:solidFill>
              </a:rPr>
              <a:t>arxiv.org</a:t>
            </a:r>
            <a:r>
              <a:rPr kumimoji="1" lang="en-US" altLang="ja-JP" sz="1000" dirty="0">
                <a:solidFill>
                  <a:schemeClr val="tx1"/>
                </a:solidFill>
              </a:rPr>
              <a:t>/abs/2304.09629</a:t>
            </a:r>
          </a:p>
          <a:p>
            <a:pPr>
              <a:lnSpc>
                <a:spcPts val="1800"/>
              </a:lnSpc>
            </a:pPr>
            <a:r>
              <a:rPr kumimoji="1" lang="en-US" altLang="ja-JP" sz="1000" dirty="0">
                <a:solidFill>
                  <a:schemeClr val="tx1"/>
                </a:solidFill>
              </a:rPr>
              <a:t>Xie et al. (2023) A Feasibility-Preserved Quantum Approximate Solver for the Capacitated Vehicle Routing Problem. arXiv:2308.08785</a:t>
            </a:r>
            <a:br>
              <a:rPr kumimoji="1" lang="en-US" altLang="ja-JP" sz="1000" dirty="0">
                <a:solidFill>
                  <a:schemeClr val="tx1"/>
                </a:solidFill>
              </a:rPr>
            </a:br>
            <a:r>
              <a:rPr kumimoji="1" lang="en-US" altLang="ja-JP" sz="1000" dirty="0">
                <a:solidFill>
                  <a:schemeClr val="tx1"/>
                </a:solidFill>
              </a:rPr>
              <a:t>https://</a:t>
            </a:r>
            <a:r>
              <a:rPr kumimoji="1" lang="en-US" altLang="ja-JP" sz="1000" dirty="0" err="1">
                <a:solidFill>
                  <a:schemeClr val="tx1"/>
                </a:solidFill>
              </a:rPr>
              <a:t>arxiv.org</a:t>
            </a:r>
            <a:r>
              <a:rPr kumimoji="1" lang="en-US" altLang="ja-JP" sz="1000" dirty="0">
                <a:solidFill>
                  <a:schemeClr val="tx1"/>
                </a:solidFill>
              </a:rPr>
              <a:t>/abs/2308.08785</a:t>
            </a:r>
          </a:p>
          <a:p>
            <a:pPr>
              <a:lnSpc>
                <a:spcPts val="1800"/>
              </a:lnSpc>
            </a:pPr>
            <a:r>
              <a:rPr kumimoji="1" lang="en-US" altLang="ja-JP" sz="1000" dirty="0">
                <a:solidFill>
                  <a:schemeClr val="tx1"/>
                </a:solidFill>
              </a:rPr>
              <a:t>Leonidas et al. (2023) Qubit-Efficient Quantum Algorithms for the Vehicle Routing Problem on NISQ Processors. arXiv:2306.08507</a:t>
            </a:r>
            <a:br>
              <a:rPr kumimoji="1" lang="en-US" altLang="ja-JP" sz="1000" dirty="0">
                <a:solidFill>
                  <a:schemeClr val="tx1"/>
                </a:solidFill>
              </a:rPr>
            </a:br>
            <a:r>
              <a:rPr kumimoji="1" lang="en-US" altLang="ja-JP" sz="1000" dirty="0">
                <a:solidFill>
                  <a:schemeClr val="tx1"/>
                </a:solidFill>
              </a:rPr>
              <a:t>https://</a:t>
            </a:r>
            <a:r>
              <a:rPr kumimoji="1" lang="en-US" altLang="ja-JP" sz="1000" dirty="0" err="1">
                <a:solidFill>
                  <a:schemeClr val="tx1"/>
                </a:solidFill>
              </a:rPr>
              <a:t>arxiv.org</a:t>
            </a:r>
            <a:r>
              <a:rPr kumimoji="1" lang="en-US" altLang="ja-JP" sz="1000" dirty="0">
                <a:solidFill>
                  <a:schemeClr val="tx1"/>
                </a:solidFill>
              </a:rPr>
              <a:t>/abs/2306.08507</a:t>
            </a:r>
          </a:p>
          <a:p>
            <a:pPr>
              <a:lnSpc>
                <a:spcPts val="1800"/>
              </a:lnSpc>
            </a:pPr>
            <a:r>
              <a:rPr kumimoji="1" lang="en-US" altLang="ja-JP" sz="1000" dirty="0">
                <a:solidFill>
                  <a:schemeClr val="tx1"/>
                </a:solidFill>
              </a:rPr>
              <a:t>Fitzek et al. (2024) Applying Quantum Approximate Optimization to the Heterogeneous Vehicle Routing Problem. Scientific Reports, 14, 25415 https://</a:t>
            </a:r>
            <a:r>
              <a:rPr kumimoji="1" lang="en-US" altLang="ja-JP" sz="1000" dirty="0" err="1">
                <a:solidFill>
                  <a:schemeClr val="tx1"/>
                </a:solidFill>
              </a:rPr>
              <a:t>doi.org</a:t>
            </a:r>
            <a:r>
              <a:rPr kumimoji="1" lang="en-US" altLang="ja-JP" sz="1000" dirty="0">
                <a:solidFill>
                  <a:schemeClr val="tx1"/>
                </a:solidFill>
              </a:rPr>
              <a:t>/10.1038/s41598-024-76967-w </a:t>
            </a:r>
          </a:p>
          <a:p>
            <a:pPr>
              <a:lnSpc>
                <a:spcPts val="1800"/>
              </a:lnSpc>
            </a:pPr>
            <a:r>
              <a:rPr kumimoji="1" lang="en-US" altLang="ja-JP" sz="1000" dirty="0">
                <a:solidFill>
                  <a:schemeClr val="tx1"/>
                </a:solidFill>
              </a:rPr>
              <a:t>Azfar et al. (2025) Quantum-Assisted Vehicle Routing: Realizing a QAOA-Based Approach on a Gate-Based Quantum Computer. arXiv:2505.01614 https://</a:t>
            </a:r>
            <a:r>
              <a:rPr kumimoji="1" lang="en-US" altLang="ja-JP" sz="1000" dirty="0" err="1">
                <a:solidFill>
                  <a:schemeClr val="tx1"/>
                </a:solidFill>
              </a:rPr>
              <a:t>arxiv.org</a:t>
            </a:r>
            <a:r>
              <a:rPr kumimoji="1" lang="en-US" altLang="ja-JP" sz="1000" dirty="0">
                <a:solidFill>
                  <a:schemeClr val="tx1"/>
                </a:solidFill>
              </a:rPr>
              <a:t>/abs/2505.01614</a:t>
            </a:r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69E43D57-2737-1FA3-76BC-DA3C3FBFBD3E}"/>
              </a:ext>
            </a:extLst>
          </p:cNvPr>
          <p:cNvSpPr/>
          <p:nvPr/>
        </p:nvSpPr>
        <p:spPr>
          <a:xfrm>
            <a:off x="-2545529" y="2999844"/>
            <a:ext cx="7314495" cy="32162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713"/>
              </a:lnSpc>
            </a:pP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A2567-66F3-1F63-347D-D35951724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9A99FC51-DFBD-6ACD-1206-400FA84532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75224" y="748261"/>
            <a:ext cx="3532551" cy="294051"/>
          </a:xfrm>
          <a:prstGeom prst="rect">
            <a:avLst/>
          </a:prstGeom>
        </p:spPr>
      </p:pic>
      <p:sp>
        <p:nvSpPr>
          <p:cNvPr id="16" name="Text 7">
            <a:extLst>
              <a:ext uri="{FF2B5EF4-FFF2-40B4-BE49-F238E27FC236}">
                <a16:creationId xmlns:a16="http://schemas.microsoft.com/office/drawing/2014/main" id="{3CC1F169-DE2B-C7BE-F1A8-5387632BDFC4}"/>
              </a:ext>
            </a:extLst>
          </p:cNvPr>
          <p:cNvSpPr/>
          <p:nvPr/>
        </p:nvSpPr>
        <p:spPr>
          <a:xfrm>
            <a:off x="276278" y="307111"/>
            <a:ext cx="7819979" cy="232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830"/>
              </a:lnSpc>
            </a:pPr>
            <a:r>
              <a:rPr lang="en-US" altLang="ja-JP" sz="1275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2. Literatures and Open Data</a:t>
            </a:r>
            <a:endParaRPr lang="en-US" altLang="ja-JP" sz="1275" dirty="0"/>
          </a:p>
        </p:txBody>
      </p:sp>
      <p:pic>
        <p:nvPicPr>
          <p:cNvPr id="18" name="Image 6" descr="preencoded.png">
            <a:extLst>
              <a:ext uri="{FF2B5EF4-FFF2-40B4-BE49-F238E27FC236}">
                <a16:creationId xmlns:a16="http://schemas.microsoft.com/office/drawing/2014/main" id="{014E31EF-C71B-C7F1-5993-2AD461A1B5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6293" y="592730"/>
            <a:ext cx="7819949" cy="28575"/>
          </a:xfrm>
          <a:prstGeom prst="rect">
            <a:avLst/>
          </a:prstGeom>
        </p:spPr>
      </p:pic>
      <p:pic>
        <p:nvPicPr>
          <p:cNvPr id="19" name="Image 7" descr="preencoded.png">
            <a:extLst>
              <a:ext uri="{FF2B5EF4-FFF2-40B4-BE49-F238E27FC236}">
                <a16:creationId xmlns:a16="http://schemas.microsoft.com/office/drawing/2014/main" id="{F1A2C8A4-DF73-213E-213C-AE64778600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70692" y="592730"/>
            <a:ext cx="1125550" cy="28575"/>
          </a:xfrm>
          <a:prstGeom prst="rect">
            <a:avLst/>
          </a:prstGeom>
        </p:spPr>
      </p:pic>
      <p:sp>
        <p:nvSpPr>
          <p:cNvPr id="21" name="Text 0">
            <a:extLst>
              <a:ext uri="{FF2B5EF4-FFF2-40B4-BE49-F238E27FC236}">
                <a16:creationId xmlns:a16="http://schemas.microsoft.com/office/drawing/2014/main" id="{219AB76B-0177-B2A7-F7C7-EE32778FED31}"/>
              </a:ext>
            </a:extLst>
          </p:cNvPr>
          <p:cNvSpPr/>
          <p:nvPr/>
        </p:nvSpPr>
        <p:spPr>
          <a:xfrm>
            <a:off x="3559792" y="806854"/>
            <a:ext cx="895350" cy="18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81"/>
              </a:lnSpc>
              <a:buNone/>
            </a:pPr>
            <a:r>
              <a:rPr lang="en-US" sz="1050" b="1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Methodology</a:t>
            </a:r>
            <a:endParaRPr lang="en-US" sz="1050" dirty="0"/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FAA910E0-E636-03FC-D883-9FB7CE01C5E1}"/>
              </a:ext>
            </a:extLst>
          </p:cNvPr>
          <p:cNvSpPr/>
          <p:nvPr/>
        </p:nvSpPr>
        <p:spPr>
          <a:xfrm>
            <a:off x="462014" y="1380550"/>
            <a:ext cx="7733116" cy="29566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>
              <a:lnSpc>
                <a:spcPct val="200000"/>
              </a:lnSpc>
            </a:pPr>
            <a:r>
              <a:rPr lang="ja-JP" altLang="ja-JP" sz="1000" b="1"/>
              <a:t>QED-C–Related Benchmarking Methodology</a:t>
            </a:r>
            <a:endParaRPr lang="en-US" sz="1000" dirty="0"/>
          </a:p>
          <a:p>
            <a:pPr>
              <a:lnSpc>
                <a:spcPts val="1800"/>
              </a:lnSpc>
            </a:pPr>
            <a:r>
              <a:rPr lang="en-US" sz="1000" dirty="0"/>
              <a:t>Lubinski et al. (2021) Application-Oriented Performance Benchmarks for Quantum Computing. https://</a:t>
            </a:r>
            <a:r>
              <a:rPr lang="en-US" sz="1000" dirty="0" err="1"/>
              <a:t>arxiv.org</a:t>
            </a:r>
            <a:r>
              <a:rPr lang="en-US" sz="1000" dirty="0"/>
              <a:t>/abs/2110.03137 </a:t>
            </a:r>
          </a:p>
          <a:p>
            <a:pPr>
              <a:lnSpc>
                <a:spcPts val="1800"/>
              </a:lnSpc>
            </a:pPr>
            <a:r>
              <a:rPr lang="en-US" sz="1000" dirty="0"/>
              <a:t>Lubinski et al. (2023) Optimization Applications as Quantum Performance Benchmarks. https://</a:t>
            </a:r>
            <a:r>
              <a:rPr lang="en-US" sz="1000" dirty="0" err="1"/>
              <a:t>arxiv.org</a:t>
            </a:r>
            <a:r>
              <a:rPr lang="en-US" sz="1000" dirty="0"/>
              <a:t>/abs/2302.02278 </a:t>
            </a:r>
          </a:p>
          <a:p>
            <a:pPr>
              <a:lnSpc>
                <a:spcPts val="1800"/>
              </a:lnSpc>
            </a:pPr>
            <a:r>
              <a:rPr lang="en-US" sz="1000" dirty="0"/>
              <a:t>Lubinski et al. (2024) Quantum Algorithm Exploration Using Application-Oriented Performance Benchmarks. https://</a:t>
            </a:r>
            <a:r>
              <a:rPr lang="en-US" sz="1000" dirty="0" err="1"/>
              <a:t>arxiv.org</a:t>
            </a:r>
            <a:r>
              <a:rPr lang="en-US" sz="1000" dirty="0"/>
              <a:t>/abs/2402.08985 </a:t>
            </a:r>
          </a:p>
          <a:p>
            <a:pPr>
              <a:lnSpc>
                <a:spcPts val="1800"/>
              </a:lnSpc>
            </a:pPr>
            <a:r>
              <a:rPr lang="en-US" sz="1000" dirty="0"/>
              <a:t>Quantum Utility and Practical Quantum Advantage </a:t>
            </a:r>
          </a:p>
          <a:p>
            <a:pPr>
              <a:lnSpc>
                <a:spcPts val="1800"/>
              </a:lnSpc>
            </a:pPr>
            <a:r>
              <a:rPr lang="en-US" sz="1000" dirty="0"/>
              <a:t>Herrmann et al. (2023) Quantum Utility—Definition and Assessment of a Practical Quantum Advantage. https://</a:t>
            </a:r>
            <a:r>
              <a:rPr lang="en-US" sz="1000" dirty="0" err="1"/>
              <a:t>arxiv.org</a:t>
            </a:r>
            <a:r>
              <a:rPr lang="en-US" sz="1000" dirty="0"/>
              <a:t>/abs/2303.02138 </a:t>
            </a:r>
          </a:p>
          <a:p>
            <a:pPr>
              <a:lnSpc>
                <a:spcPts val="1800"/>
              </a:lnSpc>
            </a:pPr>
            <a:r>
              <a:rPr lang="en-US" sz="1000" dirty="0" err="1"/>
              <a:t>Beverland</a:t>
            </a:r>
            <a:r>
              <a:rPr lang="en-US" sz="1000" dirty="0"/>
              <a:t> et al. (2022) Assessing Requirements to Scale to Practical Quantum Advantage. https://</a:t>
            </a:r>
            <a:r>
              <a:rPr lang="en-US" sz="1000" dirty="0" err="1"/>
              <a:t>arxiv.org</a:t>
            </a:r>
            <a:r>
              <a:rPr lang="en-US" sz="1000" dirty="0"/>
              <a:t>/abs/2211.07629 </a:t>
            </a:r>
          </a:p>
          <a:p>
            <a:pPr>
              <a:lnSpc>
                <a:spcPct val="200000"/>
              </a:lnSpc>
            </a:pPr>
            <a:r>
              <a:rPr lang="en-US" sz="1000" b="1" dirty="0"/>
              <a:t>Application-Specific Quantum-Resource Study</a:t>
            </a:r>
          </a:p>
          <a:p>
            <a:pPr>
              <a:lnSpc>
                <a:spcPts val="1800"/>
              </a:lnSpc>
            </a:pPr>
            <a:r>
              <a:rPr lang="en-US" sz="1000" dirty="0"/>
              <a:t>Onah and Michielsen (2025) Requirements for Early Quantum Advantage and Quantum Utility in the Capacitated Vehicle Routing Problem. </a:t>
            </a:r>
          </a:p>
          <a:p>
            <a:pPr>
              <a:lnSpc>
                <a:spcPts val="1800"/>
              </a:lnSpc>
            </a:pPr>
            <a:r>
              <a:rPr lang="en-US" sz="1000" dirty="0"/>
              <a:t>https://</a:t>
            </a:r>
            <a:r>
              <a:rPr lang="en-US" sz="1000" dirty="0" err="1"/>
              <a:t>arxiv.org</a:t>
            </a:r>
            <a:r>
              <a:rPr lang="en-US" sz="1000" dirty="0"/>
              <a:t>/abs/2509.11469 </a:t>
            </a:r>
          </a:p>
        </p:txBody>
      </p:sp>
    </p:spTree>
    <p:extLst>
      <p:ext uri="{BB962C8B-B14F-4D97-AF65-F5344CB8AC3E}">
        <p14:creationId xmlns:p14="http://schemas.microsoft.com/office/powerpoint/2010/main" val="37715774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75224" y="748261"/>
            <a:ext cx="3532551" cy="294051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276278" y="307111"/>
            <a:ext cx="7819979" cy="232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830"/>
              </a:lnSpc>
            </a:pPr>
            <a:r>
              <a:rPr lang="en-US" altLang="ja-JP" sz="1275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3. Literatures and Open Data</a:t>
            </a:r>
            <a:endParaRPr lang="en-US" altLang="ja-JP" sz="1275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6293" y="592730"/>
            <a:ext cx="7819949" cy="28575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70692" y="592730"/>
            <a:ext cx="1125550" cy="28575"/>
          </a:xfrm>
          <a:prstGeom prst="rect">
            <a:avLst/>
          </a:prstGeom>
        </p:spPr>
      </p:pic>
      <p:sp>
        <p:nvSpPr>
          <p:cNvPr id="21" name="Text 0">
            <a:extLst>
              <a:ext uri="{FF2B5EF4-FFF2-40B4-BE49-F238E27FC236}">
                <a16:creationId xmlns:a16="http://schemas.microsoft.com/office/drawing/2014/main" id="{7B0A14F6-DBBA-12DA-BF65-9B4D1FA5A420}"/>
              </a:ext>
            </a:extLst>
          </p:cNvPr>
          <p:cNvSpPr/>
          <p:nvPr/>
        </p:nvSpPr>
        <p:spPr>
          <a:xfrm>
            <a:off x="3872224" y="784959"/>
            <a:ext cx="895350" cy="18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81"/>
              </a:lnSpc>
              <a:buNone/>
            </a:pPr>
            <a:r>
              <a:rPr lang="en-US" sz="1050" b="1" u="none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Data</a:t>
            </a:r>
            <a:endParaRPr lang="en-US" sz="1050" dirty="0"/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CE99C29F-985B-A929-1A7F-329603318D5B}"/>
              </a:ext>
            </a:extLst>
          </p:cNvPr>
          <p:cNvSpPr/>
          <p:nvPr/>
        </p:nvSpPr>
        <p:spPr>
          <a:xfrm>
            <a:off x="529019" y="1451131"/>
            <a:ext cx="7314495" cy="29566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>
              <a:lnSpc>
                <a:spcPts val="1800"/>
              </a:lnSpc>
            </a:pPr>
            <a:r>
              <a:rPr lang="ja-JP" altLang="ja-JP" sz="1000" b="1"/>
              <a:t>Used in the Current Analysis</a:t>
            </a:r>
          </a:p>
          <a:p>
            <a:pPr>
              <a:lnSpc>
                <a:spcPts val="1800"/>
              </a:lnSpc>
            </a:pPr>
            <a:r>
              <a:rPr lang="ja-JP" altLang="ja-JP" sz="1000" b="1"/>
              <a:t>e-Stat</a:t>
            </a:r>
            <a:r>
              <a:rPr lang="ja-JP" altLang="ja-JP" sz="1000"/>
              <a:t> — </a:t>
            </a:r>
            <a:r>
              <a:rPr lang="ja-JP" altLang="ja-JP" sz="1000" i="1"/>
              <a:t>2020 Population Census: Grid Square Statistics</a:t>
            </a:r>
            <a:endParaRPr lang="ja-JP" altLang="ja-JP" sz="1000"/>
          </a:p>
          <a:p>
            <a:pPr>
              <a:lnSpc>
                <a:spcPts val="1800"/>
              </a:lnSpc>
            </a:pPr>
            <a:r>
              <a:rPr lang="ja-JP" altLang="ja-JP" sz="1000" b="1"/>
              <a:t>Open Charge Map</a:t>
            </a:r>
            <a:r>
              <a:rPr lang="ja-JP" altLang="ja-JP" sz="1000"/>
              <a:t> — </a:t>
            </a:r>
            <a:r>
              <a:rPr lang="ja-JP" altLang="ja-JP" sz="1000" i="1"/>
              <a:t>Open Charge Map API</a:t>
            </a:r>
            <a:endParaRPr lang="ja-JP" altLang="ja-JP" sz="1000"/>
          </a:p>
          <a:p>
            <a:pPr>
              <a:lnSpc>
                <a:spcPct val="200000"/>
              </a:lnSpc>
            </a:pPr>
            <a:r>
              <a:rPr lang="ja-JP" altLang="ja-JP" sz="1000" b="1"/>
              <a:t>Reviewed but Not Used in the Current Analysis</a:t>
            </a:r>
          </a:p>
          <a:p>
            <a:pPr>
              <a:lnSpc>
                <a:spcPts val="1800"/>
              </a:lnSpc>
            </a:pPr>
            <a:r>
              <a:rPr lang="ja-JP" altLang="ja-JP" sz="1000" b="1"/>
              <a:t>International Energy Agency</a:t>
            </a:r>
            <a:r>
              <a:rPr lang="ja-JP" altLang="ja-JP" sz="1000"/>
              <a:t> — </a:t>
            </a:r>
            <a:r>
              <a:rPr lang="ja-JP" altLang="ja-JP" sz="1000" i="1"/>
              <a:t>Global EV Data Explorer</a:t>
            </a:r>
            <a:endParaRPr lang="ja-JP" altLang="ja-JP" sz="1000"/>
          </a:p>
          <a:p>
            <a:pPr>
              <a:lnSpc>
                <a:spcPts val="1800"/>
              </a:lnSpc>
            </a:pPr>
            <a:r>
              <a:rPr lang="ja-JP" altLang="ja-JP" sz="1000" b="1"/>
              <a:t>World Bank</a:t>
            </a:r>
            <a:r>
              <a:rPr lang="ja-JP" altLang="ja-JP" sz="1000"/>
              <a:t> — </a:t>
            </a:r>
            <a:r>
              <a:rPr lang="ja-JP" altLang="ja-JP" sz="1000" i="1"/>
              <a:t>Logistics Performance Index</a:t>
            </a:r>
            <a:endParaRPr lang="ja-JP" altLang="ja-JP" sz="1000"/>
          </a:p>
          <a:p>
            <a:pPr>
              <a:lnSpc>
                <a:spcPts val="1800"/>
              </a:lnSpc>
            </a:pPr>
            <a:r>
              <a:rPr lang="ja-JP" altLang="ja-JP" sz="1000" b="1"/>
              <a:t>OpenStreetMap / Geofabrik</a:t>
            </a:r>
            <a:r>
              <a:rPr lang="ja-JP" altLang="ja-JP" sz="1000"/>
              <a:t> — </a:t>
            </a:r>
            <a:r>
              <a:rPr lang="ja-JP" altLang="ja-JP" sz="1000" i="1"/>
              <a:t>Kanto Road-Network Data</a:t>
            </a:r>
            <a:endParaRPr lang="ja-JP" altLang="ja-JP" sz="1000"/>
          </a:p>
          <a:p>
            <a:pPr>
              <a:lnSpc>
                <a:spcPts val="1800"/>
              </a:lnSpc>
            </a:pPr>
            <a:r>
              <a:rPr lang="ja-JP" altLang="ja-JP" sz="1000" b="1"/>
              <a:t>Tokyo Metropolitan Bureau of Transportation / ODPT</a:t>
            </a:r>
            <a:r>
              <a:rPr lang="ja-JP" altLang="ja-JP" sz="1000"/>
              <a:t> — </a:t>
            </a:r>
            <a:r>
              <a:rPr lang="ja-JP" altLang="ja-JP" sz="1000" i="1"/>
              <a:t>GTFS and Public Transportation Open Data</a:t>
            </a:r>
            <a:endParaRPr lang="ja-JP" altLang="ja-JP" sz="1000"/>
          </a:p>
          <a:p>
            <a:pPr>
              <a:lnSpc>
                <a:spcPts val="1800"/>
              </a:lnSpc>
            </a:pPr>
            <a:r>
              <a:rPr lang="ja-JP" altLang="ja-JP" sz="1000" b="1"/>
              <a:t>Japan Road Traffic Information Center</a:t>
            </a:r>
            <a:r>
              <a:rPr lang="ja-JP" altLang="ja-JP" sz="1000"/>
              <a:t> — </a:t>
            </a:r>
            <a:r>
              <a:rPr lang="ja-JP" altLang="ja-JP" sz="1000" i="1"/>
              <a:t>Open Traffic Information API</a:t>
            </a:r>
            <a:endParaRPr lang="ja-JP" altLang="ja-JP" sz="1000"/>
          </a:p>
          <a:p>
            <a:pPr>
              <a:lnSpc>
                <a:spcPts val="1800"/>
              </a:lnSpc>
            </a:pPr>
            <a:r>
              <a:rPr lang="ja-JP" altLang="ja-JP" sz="1000" b="1"/>
              <a:t>Tokyo Metropolitan Police Department / Tokyo Open Data Catalog</a:t>
            </a:r>
            <a:r>
              <a:rPr lang="ja-JP" altLang="ja-JP" sz="1000"/>
              <a:t> — </a:t>
            </a:r>
            <a:r>
              <a:rPr lang="ja-JP" altLang="ja-JP" sz="1000" i="1"/>
              <a:t>Traffic Volume Statistics</a:t>
            </a:r>
            <a:endParaRPr lang="ja-JP" altLang="ja-JP" sz="1000"/>
          </a:p>
          <a:p>
            <a:pPr>
              <a:lnSpc>
                <a:spcPts val="1800"/>
              </a:lnSpc>
            </a:pPr>
            <a:r>
              <a:rPr lang="ja-JP" altLang="ja-JP" sz="1000" b="1"/>
              <a:t>Schneider / Goeke</a:t>
            </a:r>
            <a:r>
              <a:rPr lang="ja-JP" altLang="ja-JP" sz="1000"/>
              <a:t> — </a:t>
            </a:r>
            <a:r>
              <a:rPr lang="ja-JP" altLang="ja-JP" sz="1000" i="1"/>
              <a:t>Public E-VRPTW Benchmark Instances</a:t>
            </a:r>
            <a:endParaRPr lang="ja-JP" altLang="ja-JP" sz="1000"/>
          </a:p>
          <a:p>
            <a:pPr>
              <a:lnSpc>
                <a:spcPts val="1800"/>
              </a:lnSpc>
            </a:pPr>
            <a:r>
              <a:rPr lang="ja-JP" altLang="ja-JP" sz="1000" b="1"/>
              <a:t>Mavrovouniotis et al.</a:t>
            </a:r>
            <a:r>
              <a:rPr lang="ja-JP" altLang="ja-JP" sz="1000"/>
              <a:t> — </a:t>
            </a:r>
            <a:r>
              <a:rPr lang="ja-JP" altLang="ja-JP" sz="1000" i="1"/>
              <a:t>Public E-CVRP Benchmark Instances</a:t>
            </a:r>
            <a:endParaRPr lang="ja-JP" altLang="ja-JP" sz="1000"/>
          </a:p>
          <a:p>
            <a:pPr>
              <a:lnSpc>
                <a:spcPts val="1800"/>
              </a:lnSpc>
            </a:pPr>
            <a:r>
              <a:rPr lang="ja-JP" altLang="ja-JP" sz="1000" b="1"/>
              <a:t>CVRPLIB</a:t>
            </a:r>
            <a:r>
              <a:rPr lang="ja-JP" altLang="ja-JP" sz="1000"/>
              <a:t> — </a:t>
            </a:r>
            <a:r>
              <a:rPr lang="ja-JP" altLang="ja-JP" sz="1000" i="1"/>
              <a:t>Public CVRP Benchmark Library</a:t>
            </a:r>
            <a:endParaRPr lang="ja-JP" altLang="ja-JP" sz="1000"/>
          </a:p>
          <a:p>
            <a:pPr>
              <a:lnSpc>
                <a:spcPts val="1800"/>
              </a:lnSpc>
            </a:pP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367</TotalTime>
  <Words>2649</Words>
  <Application>Microsoft Macintosh PowerPoint</Application>
  <DocSecurity>0</DocSecurity>
  <PresentationFormat>ユーザー設定</PresentationFormat>
  <Paragraphs>391</Paragraphs>
  <Slides>22</Slides>
  <Notes>22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22</vt:i4>
      </vt:variant>
    </vt:vector>
  </HeadingPairs>
  <TitlesOfParts>
    <vt:vector size="26" baseType="lpstr">
      <vt:lpstr>-apple-system</vt:lpstr>
      <vt:lpstr>Noto Sans JP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takuma.sano@keio.jp</cp:lastModifiedBy>
  <cp:revision>15</cp:revision>
  <dcterms:created xsi:type="dcterms:W3CDTF">2026-07-11T12:43:26Z</dcterms:created>
  <dcterms:modified xsi:type="dcterms:W3CDTF">2026-07-11T19:08:53Z</dcterms:modified>
</cp:coreProperties>
</file>